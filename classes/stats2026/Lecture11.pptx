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3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1E7EBE-27FE-4691-98FB-1550DDB0EBAA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82DF87-73EF-4395-9AD5-357CF439B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710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C54096-787C-4C58-AC60-A5208B240C5D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C54096-787C-4C58-AC60-A5208B240C5D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C54096-787C-4C58-AC60-A5208B240C5D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C54096-787C-4C58-AC60-A5208B240C5D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C54096-787C-4C58-AC60-A5208B240C5D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7F8F32-20E4-4E9C-B12E-CC6AA546BF25}" type="slidenum">
              <a:rPr lang="en-US"/>
              <a:pPr/>
              <a:t>19</a:t>
            </a:fld>
            <a:endParaRPr 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C54096-787C-4C58-AC60-A5208B240C5D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C54096-787C-4C58-AC60-A5208B240C5D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755706-7F76-4300-B3F6-E8F420EA8EA7}" type="slidenum">
              <a:rPr lang="en-US"/>
              <a:pPr/>
              <a:t>31</a:t>
            </a:fld>
            <a:endParaRPr lang="en-US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B32D06-50B8-4512-B573-20403FD2C1EF}" type="slidenum">
              <a:rPr lang="en-US"/>
              <a:pPr/>
              <a:t>32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8F4505-A681-4647-B0BD-5AC8489D480A}" type="slidenum">
              <a:rPr lang="en-US"/>
              <a:pPr/>
              <a:t>33</a:t>
            </a:fld>
            <a:endParaRPr lang="en-US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1FB978-8F29-4450-AFF2-D7156396B908}" type="slidenum">
              <a:rPr lang="en-US"/>
              <a:pPr/>
              <a:t>34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FB81-D6FC-42E1-ACBB-755D13EBD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0A00DE-25FA-4D27-BA3C-C001B380B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5E109-8CC8-4643-9BAD-ABCB11BA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0C15-6DDF-40AA-B965-9B78E466413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CC2E0-DECB-46BC-9854-51BBAFE7F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09AF8-BAB5-4CAA-B95D-D241A7278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E5A5-A755-48D8-91AA-B0883F179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452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D18A-A2D5-4973-A7E5-3A26B94DD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5E35E-38C6-4BEA-8F63-055684751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D7B8B-84DF-48E6-B137-44FFF808D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0C15-6DDF-40AA-B965-9B78E466413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33342-044E-40FA-92E5-B072AEB00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F42DD-FA18-42B3-B047-8BB168BF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E5A5-A755-48D8-91AA-B0883F179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10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8AC73-389E-4227-B4FA-63AA37DAE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B05AF-AB5A-47CC-B258-376B97ECD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E1489-8D35-45E5-BDBB-84926340D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0C15-6DDF-40AA-B965-9B78E466413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539F4-4129-4A3A-82D3-D996119FE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EF4EC-E948-4A6C-86E8-BECF05617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E5A5-A755-48D8-91AA-B0883F179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5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01335-2FBE-4749-9956-CFE238FB0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5175A-CE78-4A76-9B26-DBD5E4C098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64168-9BEA-4E32-A5AA-D798CF1A7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96E60-BCA8-4BFA-AD7A-37E04BF34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0C15-6DDF-40AA-B965-9B78E466413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1246D-0074-4FA5-B5C2-7BC788588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AD298-319E-4646-B6E4-85014F16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E5A5-A755-48D8-91AA-B0883F179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99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E876E-1F3D-4AF7-B312-265AFB422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90B7D-532C-45DF-BAAB-18D96F928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AFC74-5FE6-4A29-A2E3-391DD62D4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AB4A42-2016-4FE3-AC8F-D1EBB6328A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1E6E1D-C05C-4306-8753-B75F89E34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D80705-0EB5-4C26-98EA-C2204F0EF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0C15-6DDF-40AA-B965-9B78E466413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3DB645-CB34-4F61-AB5E-8C4B3D30F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0F7633-B00F-4E28-A1CB-1F88337AD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E5A5-A755-48D8-91AA-B0883F179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70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93F4E-6415-4244-AEDC-0CC58B765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5DF22D-4B14-4A31-AB93-B778A625E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0C15-6DDF-40AA-B965-9B78E466413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F1C49D-3304-466D-B7E0-78C6CB69E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C66EC-AB73-49F6-8F05-7EBD756A8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E5A5-A755-48D8-91AA-B0883F179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38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94F77D-D483-4D35-8C14-F5FEF19E0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0C15-6DDF-40AA-B965-9B78E466413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0A71A8-EE4C-44CE-96FD-2F8AC49B6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36D1F-8BF5-4FA4-8B1E-E3E3D9BA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E5A5-A755-48D8-91AA-B0883F179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87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7EFAA-92C9-4745-9FA7-3AEAD87FE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63D70-AEF8-4873-9209-3F16FB933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0E4951-660E-44A4-A936-3CF9473B2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72A5B-7DDD-4EAF-94A7-86894BA88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0C15-6DDF-40AA-B965-9B78E466413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9A786-66DD-4B31-9DB5-3399FD400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CA304-8ECC-4FA1-B10E-AEB55ED0D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E5A5-A755-48D8-91AA-B0883F179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945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24109-211F-4ECA-9387-3967AF1A5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B2E788-5F8C-4CF1-8650-9A9CE7FBB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597F4-AA37-41F8-A42B-6DCEE23DF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9EDAA-10AA-417E-B5D4-F85771300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0C15-6DDF-40AA-B965-9B78E466413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A2DD2-D5F8-40A7-B86B-39E415B91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6DAFB-950C-4887-9FED-17C60F8B3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E5A5-A755-48D8-91AA-B0883F179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08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089FD-4B3F-4C4B-8D90-3817C9DF6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CF1C1-BF77-46AC-A6DC-9C0CA8776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96DAE-C985-4471-96E9-78EE5EBFC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0C15-6DDF-40AA-B965-9B78E466413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66E54-0592-48EA-BD94-C4EF4E4EC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74728-56AA-4DAA-90E4-86ECD24E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E5A5-A755-48D8-91AA-B0883F179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58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1B63A0-9967-4429-B01E-FC7BD2A33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F138D-7913-44CD-8881-A3F3B1478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1922B-BF75-4848-B907-858039CEF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0C15-6DDF-40AA-B965-9B78E466413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1D9F7-9811-432D-8486-3F17748C4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4205D-233A-457D-BBE2-BC72445EF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3E5A5-A755-48D8-91AA-B0883F179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67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DA5A3A-D638-4EE3-9D02-8FD33AD6B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979B4-44E7-4390-99AB-D153F6A32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DB87E-84A2-4102-B5A2-5513D4C33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10C15-6DDF-40AA-B965-9B78E466413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FAFBC-5D87-41C9-AA81-F0B71727B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4251A-4479-413E-8186-23270964E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3E5A5-A755-48D8-91AA-B0883F179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71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oleObject" Target="../embeddings/oleObject3.bin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oleObject" Target="../embeddings/oleObject5.bin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oleObject" Target="../embeddings/oleObject8.bin"/><Relationship Id="rId4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B6E376-311E-4E57-A85F-672022128024}"/>
              </a:ext>
            </a:extLst>
          </p:cNvPr>
          <p:cNvSpPr txBox="1"/>
          <p:nvPr/>
        </p:nvSpPr>
        <p:spPr>
          <a:xfrm>
            <a:off x="676894" y="130629"/>
            <a:ext cx="414728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Summary of inference models so far…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From the binomial to the normal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qqnorm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Central Limit Theorem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Standard Normal Distribution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Preview: Chi-square and t-distributions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3AB2932-7069-4AD4-BED0-A030B0A7CEF8}"/>
              </a:ext>
            </a:extLst>
          </p:cNvPr>
          <p:cNvCxnSpPr>
            <a:cxnSpLocks/>
          </p:cNvCxnSpPr>
          <p:nvPr/>
        </p:nvCxnSpPr>
        <p:spPr>
          <a:xfrm flipH="1">
            <a:off x="4643252" y="296882"/>
            <a:ext cx="4987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308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3623B2-12AE-4AEE-9726-4C1DCDC272EC}"/>
              </a:ext>
            </a:extLst>
          </p:cNvPr>
          <p:cNvSpPr/>
          <p:nvPr/>
        </p:nvSpPr>
        <p:spPr>
          <a:xfrm>
            <a:off x="1979220" y="6401674"/>
            <a:ext cx="105967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https://github.com/afodor/metagenomicsTools/blob/master/src/classExamples/modelsOnSimData.txt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909B34-CD33-466C-AAFA-E52E996C1E95}"/>
              </a:ext>
            </a:extLst>
          </p:cNvPr>
          <p:cNvSpPr txBox="1"/>
          <p:nvPr/>
        </p:nvSpPr>
        <p:spPr>
          <a:xfrm>
            <a:off x="795648" y="213757"/>
            <a:ext cx="900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Consider code that generates a simulated dataset with 3,000 genes and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20 samples…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949CDB-6162-47DE-9138-532D2E1CE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782" y="669409"/>
            <a:ext cx="7180841" cy="560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96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5EEB11-1464-4D06-AF80-9197FD824641}"/>
              </a:ext>
            </a:extLst>
          </p:cNvPr>
          <p:cNvSpPr txBox="1"/>
          <p:nvPr/>
        </p:nvSpPr>
        <p:spPr>
          <a:xfrm>
            <a:off x="914400" y="296883"/>
            <a:ext cx="4207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end up with a simulated count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BD820B-FC3F-477B-B79F-C637B3C39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41" y="1457325"/>
            <a:ext cx="9782175" cy="394335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7FBB65-07C3-46A8-9712-D3930D55D6E2}"/>
              </a:ext>
            </a:extLst>
          </p:cNvPr>
          <p:cNvCxnSpPr/>
          <p:nvPr/>
        </p:nvCxnSpPr>
        <p:spPr>
          <a:xfrm>
            <a:off x="8090115" y="1084881"/>
            <a:ext cx="15808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91A0C58-D31D-41AB-88E1-0EF277FB20E6}"/>
              </a:ext>
            </a:extLst>
          </p:cNvPr>
          <p:cNvSpPr txBox="1"/>
          <p:nvPr/>
        </p:nvSpPr>
        <p:spPr>
          <a:xfrm>
            <a:off x="8372104" y="666215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 samples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8B97A7-7218-4284-B4E3-DB95970B82F7}"/>
              </a:ext>
            </a:extLst>
          </p:cNvPr>
          <p:cNvCxnSpPr/>
          <p:nvPr/>
        </p:nvCxnSpPr>
        <p:spPr>
          <a:xfrm>
            <a:off x="10509662" y="2196935"/>
            <a:ext cx="0" cy="2850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AC00DB1-FE1D-4368-80A4-51AE3C1412E9}"/>
              </a:ext>
            </a:extLst>
          </p:cNvPr>
          <p:cNvSpPr txBox="1"/>
          <p:nvPr/>
        </p:nvSpPr>
        <p:spPr>
          <a:xfrm>
            <a:off x="10711543" y="3158836"/>
            <a:ext cx="1312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3,000 genes</a:t>
            </a:r>
          </a:p>
        </p:txBody>
      </p:sp>
    </p:spTree>
    <p:extLst>
      <p:ext uri="{BB962C8B-B14F-4D97-AF65-F5344CB8AC3E}">
        <p14:creationId xmlns:p14="http://schemas.microsoft.com/office/powerpoint/2010/main" val="2742832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73790E-11BF-47C9-93EB-8DF86B257C7C}"/>
              </a:ext>
            </a:extLst>
          </p:cNvPr>
          <p:cNvSpPr txBox="1"/>
          <p:nvPr/>
        </p:nvSpPr>
        <p:spPr>
          <a:xfrm>
            <a:off x="605642" y="320634"/>
            <a:ext cx="5186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By design, the mean does not equal the variance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F7BC0D-27E6-460F-8083-E9D10393F629}"/>
              </a:ext>
            </a:extLst>
          </p:cNvPr>
          <p:cNvSpPr/>
          <p:nvPr/>
        </p:nvSpPr>
        <p:spPr>
          <a:xfrm>
            <a:off x="2743677" y="50530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</a:t>
            </a:r>
          </a:p>
          <a:p>
            <a:r>
              <a:rPr lang="en-US" dirty="0"/>
              <a:t>&gt; plot( apply(myFrame,1,mean), apply(myFrame,1,var))</a:t>
            </a:r>
          </a:p>
          <a:p>
            <a:r>
              <a:rPr lang="en-US" dirty="0"/>
              <a:t>&gt; lines( c(0:1000000), c(0:1000000), col="red")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E12689-307B-43D0-845F-3743F11A2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831" y="1428630"/>
            <a:ext cx="5186035" cy="517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828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E1FE9B-2D45-4411-8DB6-5EE3E3E38E84}"/>
              </a:ext>
            </a:extLst>
          </p:cNvPr>
          <p:cNvSpPr txBox="1"/>
          <p:nvPr/>
        </p:nvSpPr>
        <p:spPr>
          <a:xfrm>
            <a:off x="356260" y="11875"/>
            <a:ext cx="877259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say that the first 10 sample represent one condition (e.g. “cancer samples”) and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last 10 columns represent another condition (e.g. “control samples”).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think of many statistical tests that will generate a frequentist p-value.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example (coming up in the next few lectures), a t-test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06F6E1-B16E-4921-9AD1-034C266E0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44" y="1988783"/>
            <a:ext cx="5891553" cy="22355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E78447-DE93-4C5C-9018-7708068FC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80" y="2245721"/>
            <a:ext cx="3947494" cy="25998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E07A34-0981-48EB-8808-A48822FB53D9}"/>
              </a:ext>
            </a:extLst>
          </p:cNvPr>
          <p:cNvSpPr txBox="1"/>
          <p:nvPr/>
        </p:nvSpPr>
        <p:spPr>
          <a:xfrm>
            <a:off x="764844" y="5486400"/>
            <a:ext cx="10086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t-test has an estimate for the variance and therefore produces an approximately uniform distribution </a:t>
            </a:r>
          </a:p>
          <a:p>
            <a:r>
              <a:rPr lang="en-US" dirty="0"/>
              <a:t>(for this case where the null hypothesis is always true)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F81F13-3EC2-4780-874F-FF16CF60E4A3}"/>
              </a:ext>
            </a:extLst>
          </p:cNvPr>
          <p:cNvSpPr/>
          <p:nvPr/>
        </p:nvSpPr>
        <p:spPr>
          <a:xfrm>
            <a:off x="6989680" y="1760690"/>
            <a:ext cx="48718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>
                <a:solidFill>
                  <a:srgbClr val="000000"/>
                </a:solidFill>
                <a:latin typeface="Courier New" panose="02070309020205020404" pitchFamily="49" charset="0"/>
              </a:rPr>
              <a:t>hist(</a:t>
            </a:r>
            <a:r>
              <a:rPr lang="en-US" u="sng" dirty="0" err="1">
                <a:solidFill>
                  <a:srgbClr val="000000"/>
                </a:solidFill>
                <a:latin typeface="Courier New" panose="02070309020205020404" pitchFamily="49" charset="0"/>
              </a:rPr>
              <a:t>allPValsTTest</a:t>
            </a:r>
            <a:r>
              <a:rPr lang="en-US" u="sng" dirty="0">
                <a:solidFill>
                  <a:srgbClr val="000000"/>
                </a:solidFill>
                <a:latin typeface="Courier New" panose="02070309020205020404" pitchFamily="49" charset="0"/>
              </a:rPr>
              <a:t>, main="t test")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C2019A-FC47-4758-992D-E715D0AB3B25}"/>
              </a:ext>
            </a:extLst>
          </p:cNvPr>
          <p:cNvSpPr/>
          <p:nvPr/>
        </p:nvSpPr>
        <p:spPr>
          <a:xfrm>
            <a:off x="1979220" y="6401674"/>
            <a:ext cx="105967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https://github.com/afodor/metagenomicsTools/blob/master/src/classExamples/modelsOnSimData.txt</a:t>
            </a:r>
          </a:p>
        </p:txBody>
      </p:sp>
    </p:spTree>
    <p:extLst>
      <p:ext uri="{BB962C8B-B14F-4D97-AF65-F5344CB8AC3E}">
        <p14:creationId xmlns:p14="http://schemas.microsoft.com/office/powerpoint/2010/main" val="489787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C2A6DE-0A3C-4C28-BEA2-B13E5A3EA663}"/>
              </a:ext>
            </a:extLst>
          </p:cNvPr>
          <p:cNvSpPr txBox="1"/>
          <p:nvPr/>
        </p:nvSpPr>
        <p:spPr>
          <a:xfrm>
            <a:off x="1009402" y="190006"/>
            <a:ext cx="97385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we use a test on the Poisson distribution, the assumption that the mean equals the variance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causes the p-values to be too small…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302E0C-C46F-46D0-BA40-2D88D1A56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26" y="1489735"/>
            <a:ext cx="6275180" cy="33441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371E17-47E3-41BC-BAE3-0F7F56C99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006" y="1756929"/>
            <a:ext cx="4234413" cy="280975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9EA28B8-6A55-49AC-8B36-3C1D791D0D76}"/>
              </a:ext>
            </a:extLst>
          </p:cNvPr>
          <p:cNvSpPr/>
          <p:nvPr/>
        </p:nvSpPr>
        <p:spPr>
          <a:xfrm>
            <a:off x="1979220" y="6401674"/>
            <a:ext cx="105967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https://github.com/afodor/metagenomicsTools/blob/master/src/classExamples/modelsOnSimData.txt</a:t>
            </a:r>
          </a:p>
        </p:txBody>
      </p:sp>
    </p:spTree>
    <p:extLst>
      <p:ext uri="{BB962C8B-B14F-4D97-AF65-F5344CB8AC3E}">
        <p14:creationId xmlns:p14="http://schemas.microsoft.com/office/powerpoint/2010/main" val="496870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4E7445-C023-4A29-9C10-B2CB2C70AB09}"/>
              </a:ext>
            </a:extLst>
          </p:cNvPr>
          <p:cNvSpPr txBox="1"/>
          <p:nvPr/>
        </p:nvSpPr>
        <p:spPr>
          <a:xfrm>
            <a:off x="665018" y="356261"/>
            <a:ext cx="100848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the Poisson test and the t-test generally agree on which are the most significant genes,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they just disagree on the magnitude of that significance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649799-E739-4814-90E4-FB63942D060B}"/>
              </a:ext>
            </a:extLst>
          </p:cNvPr>
          <p:cNvSpPr/>
          <p:nvPr/>
        </p:nvSpPr>
        <p:spPr>
          <a:xfrm>
            <a:off x="2875531" y="1474911"/>
            <a:ext cx="50396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plot( log10(</a:t>
            </a:r>
            <a:r>
              <a:rPr lang="en-US" dirty="0" err="1"/>
              <a:t>allPValsNegBinom</a:t>
            </a:r>
            <a:r>
              <a:rPr lang="en-US" dirty="0"/>
              <a:t>), log10(</a:t>
            </a:r>
            <a:r>
              <a:rPr lang="en-US" dirty="0" err="1"/>
              <a:t>allPValsPoiss</a:t>
            </a:r>
            <a:r>
              <a:rPr lang="en-US" dirty="0"/>
              <a:t>))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B218AC-7D51-4EAB-9710-BED2CEB12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531" y="1868021"/>
            <a:ext cx="4914592" cy="28389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09187E-D485-4154-9402-73DB3403FCA2}"/>
              </a:ext>
            </a:extLst>
          </p:cNvPr>
          <p:cNvSpPr txBox="1"/>
          <p:nvPr/>
        </p:nvSpPr>
        <p:spPr>
          <a:xfrm flipH="1">
            <a:off x="320633" y="4858790"/>
            <a:ext cx="11709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results of different statistical models are often disagreements about how to interpret the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threshold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significance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843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A6EF7C-A6E9-4E8E-B453-A131A44810DF}"/>
              </a:ext>
            </a:extLst>
          </p:cNvPr>
          <p:cNvSpPr txBox="1"/>
          <p:nvPr/>
        </p:nvSpPr>
        <p:spPr>
          <a:xfrm>
            <a:off x="1282536" y="249382"/>
            <a:ext cx="6900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imagine a test based on the negative binomial distribution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(this is a drastic simplification of the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DeSeq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algorithm….)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1CFF4D-4FBD-46DC-9967-C5A502076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16" y="1084118"/>
            <a:ext cx="5419725" cy="5524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924027-4DE5-40D6-9FFE-73F56DC94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583" y="2172619"/>
            <a:ext cx="3850203" cy="24490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85A975-709B-4CD8-8B76-D5D1D1CDBF10}"/>
              </a:ext>
            </a:extLst>
          </p:cNvPr>
          <p:cNvSpPr txBox="1"/>
          <p:nvPr/>
        </p:nvSpPr>
        <p:spPr>
          <a:xfrm>
            <a:off x="6495803" y="4833258"/>
            <a:ext cx="4955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Our approximate tests yields p-values that are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too conservative…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BFBCED-2E62-4055-94E2-C7BD95D057DF}"/>
              </a:ext>
            </a:extLst>
          </p:cNvPr>
          <p:cNvSpPr/>
          <p:nvPr/>
        </p:nvSpPr>
        <p:spPr>
          <a:xfrm>
            <a:off x="6254338" y="1710495"/>
            <a:ext cx="771104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u="sng" dirty="0">
                <a:solidFill>
                  <a:srgbClr val="000000"/>
                </a:solidFill>
                <a:latin typeface="Courier New" panose="02070309020205020404" pitchFamily="49" charset="0"/>
              </a:rPr>
              <a:t>hist(</a:t>
            </a:r>
            <a:r>
              <a:rPr lang="en-US" sz="1200" u="sng" dirty="0" err="1">
                <a:solidFill>
                  <a:srgbClr val="000000"/>
                </a:solidFill>
                <a:latin typeface="Courier New" panose="02070309020205020404" pitchFamily="49" charset="0"/>
              </a:rPr>
              <a:t>allPValsNegBinom,main</a:t>
            </a:r>
            <a:r>
              <a:rPr lang="en-US" sz="1200" u="sng" dirty="0">
                <a:solidFill>
                  <a:srgbClr val="000000"/>
                </a:solidFill>
                <a:latin typeface="Courier New" panose="02070309020205020404" pitchFamily="49" charset="0"/>
              </a:rPr>
              <a:t>="Negative binomial test")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89136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A94346-60BA-4A16-BE88-ECA97A9379CE}"/>
              </a:ext>
            </a:extLst>
          </p:cNvPr>
          <p:cNvSpPr txBox="1"/>
          <p:nvPr/>
        </p:nvSpPr>
        <p:spPr>
          <a:xfrm>
            <a:off x="1223158" y="296883"/>
            <a:ext cx="9324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also run our data through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DeSeq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 (with the default “curve-fitting” for the variance)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474AB5-BA6C-4C8D-8B61-B4507C611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20" y="1062100"/>
            <a:ext cx="4352925" cy="2857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AA08C1-D93B-44F7-B574-E3B974F7D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415" y="780555"/>
            <a:ext cx="6001677" cy="58766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4674BD-BF60-41BC-96E9-187FAC8C2CD1}"/>
              </a:ext>
            </a:extLst>
          </p:cNvPr>
          <p:cNvSpPr txBox="1"/>
          <p:nvPr/>
        </p:nvSpPr>
        <p:spPr>
          <a:xfrm>
            <a:off x="178130" y="4132613"/>
            <a:ext cx="532709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comes close to uniform (but not as close as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t-test!)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 again, these different algorithms generally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agree on which genes are the most significant, but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disagree on how significant those genes are)</a:t>
            </a:r>
          </a:p>
        </p:txBody>
      </p:sp>
    </p:spTree>
    <p:extLst>
      <p:ext uri="{BB962C8B-B14F-4D97-AF65-F5344CB8AC3E}">
        <p14:creationId xmlns:p14="http://schemas.microsoft.com/office/powerpoint/2010/main" val="2016641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E3823A-6FC8-426D-89AE-630F21167B9E}"/>
              </a:ext>
            </a:extLst>
          </p:cNvPr>
          <p:cNvSpPr txBox="1"/>
          <p:nvPr/>
        </p:nvSpPr>
        <p:spPr>
          <a:xfrm>
            <a:off x="783771" y="308759"/>
            <a:ext cx="767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to set threshold of significance in genomics is not a solved problem..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B09569-05D8-4AB5-A45E-5F37258BF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312" y="856755"/>
            <a:ext cx="8229600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21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B9CE94-1C92-497E-B43D-272C2305D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14300"/>
            <a:ext cx="5810250" cy="662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C383EA-0072-4705-944B-C3D8A171A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926341"/>
            <a:ext cx="6028394" cy="1055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85A2DE-A597-4D4F-B1B0-1F4614B7281C}"/>
              </a:ext>
            </a:extLst>
          </p:cNvPr>
          <p:cNvSpPr txBox="1"/>
          <p:nvPr/>
        </p:nvSpPr>
        <p:spPr>
          <a:xfrm>
            <a:off x="6341423" y="344384"/>
            <a:ext cx="56307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not difficult to find simulated datasets that “break”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FDR thresholds produced by popular software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packages (such as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DeSeq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FDR).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99DA5D-8914-4B2A-83D3-04CE73020F2C}"/>
              </a:ext>
            </a:extLst>
          </p:cNvPr>
          <p:cNvSpPr txBox="1"/>
          <p:nvPr/>
        </p:nvSpPr>
        <p:spPr>
          <a:xfrm>
            <a:off x="6483927" y="1971304"/>
            <a:ext cx="50023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Often simpler models (such as the t-test and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Wilcoxon, that we will cover shortly) offer better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performance…</a:t>
            </a:r>
          </a:p>
        </p:txBody>
      </p:sp>
    </p:spTree>
    <p:extLst>
      <p:ext uri="{BB962C8B-B14F-4D97-AF65-F5344CB8AC3E}">
        <p14:creationId xmlns:p14="http://schemas.microsoft.com/office/powerpoint/2010/main" val="410128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8ED6EA-5943-4BB3-B4B4-643DE38A2FF1}"/>
              </a:ext>
            </a:extLst>
          </p:cNvPr>
          <p:cNvSpPr txBox="1"/>
          <p:nvPr/>
        </p:nvSpPr>
        <p:spPr>
          <a:xfrm>
            <a:off x="1128157" y="261258"/>
            <a:ext cx="92256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Methods are still being tweaked to find the appropriate balances between sensitivity and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reporting false positives…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BA8FDF-E98B-44ED-ACDD-4B239C70E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157" y="1356446"/>
            <a:ext cx="5962650" cy="1152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2A04E9-D519-46E1-A654-B2952E08CB48}"/>
              </a:ext>
            </a:extLst>
          </p:cNvPr>
          <p:cNvSpPr txBox="1"/>
          <p:nvPr/>
        </p:nvSpPr>
        <p:spPr>
          <a:xfrm>
            <a:off x="1401288" y="2980707"/>
            <a:ext cx="87103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DESeq2 continues to explore the correct ways to model variance</a:t>
            </a:r>
          </a:p>
          <a:p>
            <a:r>
              <a:rPr lang="en-US" dirty="0"/>
              <a:t>Introduces models of fold-change thresholds to help remove false positives</a:t>
            </a:r>
          </a:p>
          <a:p>
            <a:r>
              <a:rPr lang="en-US" dirty="0"/>
              <a:t>Replaces </a:t>
            </a:r>
            <a:r>
              <a:rPr lang="en-US" dirty="0" err="1"/>
              <a:t>DESeq’s</a:t>
            </a:r>
            <a:r>
              <a:rPr lang="en-US" dirty="0"/>
              <a:t> model of multiplying two negative binomial distributions together with a </a:t>
            </a:r>
          </a:p>
          <a:p>
            <a:r>
              <a:rPr lang="en-US" dirty="0"/>
              <a:t>more straight-forward generalized linear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CA7672-EACF-40AF-8CEE-B267440D8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716" y="4539529"/>
            <a:ext cx="3286125" cy="962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A09F17-7AAC-4B92-AD62-A0F6464F4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841" y="4512747"/>
            <a:ext cx="3190875" cy="504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E3A3CD-5BED-46CB-814F-3F4BB6C55F88}"/>
              </a:ext>
            </a:extLst>
          </p:cNvPr>
          <p:cNvSpPr txBox="1"/>
          <p:nvPr/>
        </p:nvSpPr>
        <p:spPr>
          <a:xfrm>
            <a:off x="1128157" y="5795159"/>
            <a:ext cx="76226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(We will cover generalized linear models later in the semester….)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 despite these tweaks, simpler models (like the t-test) remain viable…</a:t>
            </a:r>
          </a:p>
        </p:txBody>
      </p:sp>
    </p:spTree>
    <p:extLst>
      <p:ext uri="{BB962C8B-B14F-4D97-AF65-F5344CB8AC3E}">
        <p14:creationId xmlns:p14="http://schemas.microsoft.com/office/powerpoint/2010/main" val="944698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0E402E5-D980-4768-AECD-7638F9C3F93F}"/>
              </a:ext>
            </a:extLst>
          </p:cNvPr>
          <p:cNvSpPr txBox="1"/>
          <p:nvPr/>
        </p:nvSpPr>
        <p:spPr>
          <a:xfrm>
            <a:off x="676894" y="130629"/>
            <a:ext cx="414728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Summary of inference models so far…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From the binomial to the normal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qqnorm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Central Limit Theorem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Standard Normal Distribution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Preview: Chi-square and t-distributions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71BDF8-011E-43F4-8D10-811109EF2427}"/>
              </a:ext>
            </a:extLst>
          </p:cNvPr>
          <p:cNvCxnSpPr>
            <a:cxnSpLocks/>
          </p:cNvCxnSpPr>
          <p:nvPr/>
        </p:nvCxnSpPr>
        <p:spPr>
          <a:xfrm flipH="1">
            <a:off x="4061361" y="890649"/>
            <a:ext cx="4987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3601" y="304800"/>
            <a:ext cx="811465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We’ve seen the Poisson distribution is an approximation to the binomial with large N</a:t>
            </a:r>
          </a:p>
          <a:p>
            <a:r>
              <a:rPr lang="en-US" dirty="0"/>
              <a:t>and small p.</a:t>
            </a:r>
          </a:p>
          <a:p>
            <a:endParaRPr lang="en-US" dirty="0"/>
          </a:p>
          <a:p>
            <a:r>
              <a:rPr lang="en-US" dirty="0"/>
              <a:t>Likewise, the normal distribution is an approximation to the binomial with a large N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76400" y="344270"/>
            <a:ext cx="8863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Proving that the Gaussian distributions is the approximate limit of a binomial when N is large</a:t>
            </a:r>
          </a:p>
          <a:p>
            <a:r>
              <a:rPr lang="en-US" dirty="0"/>
              <a:t>is pretty involved…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667000"/>
            <a:ext cx="861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http://mathforum.org/library/drmath/view/56600.html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810000"/>
            <a:ext cx="3741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are not responsible for this proof!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05000" y="76200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as usual demonstrate this effortlessly in R…  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533401"/>
            <a:ext cx="8382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probSuccess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0.5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for(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numTrials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in 2:500) 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/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titleStr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&lt;- paste("Number of trials = ",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numTrials,sep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="")</a:t>
            </a:r>
          </a:p>
          <a:p>
            <a:pPr lvl="1"/>
            <a:r>
              <a:rPr lang="en-US" sz="1400" dirty="0">
                <a:latin typeface="Courier New" pitchFamily="49" charset="0"/>
                <a:cs typeface="Courier New" pitchFamily="49" charset="0"/>
              </a:rPr>
              <a:t>plot( 0:numTrials,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dbinom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(0:numTrials,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numTrials,probSuccess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),main=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titleStr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1"/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400" dirty="0">
                <a:latin typeface="Courier New" pitchFamily="49" charset="0"/>
                <a:cs typeface="Courier New" pitchFamily="49" charset="0"/>
              </a:rPr>
              <a:t>lines( 0: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numTrials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dnorm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( 0:numTrials, mean=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numTrials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probSuccess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</a:t>
            </a:r>
          </a:p>
          <a:p>
            <a:pPr lvl="1"/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numTrials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probSuccess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 (1-probSuccess))),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col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="RED");</a:t>
            </a:r>
          </a:p>
          <a:p>
            <a:pPr lvl="1"/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Sys.sleep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(1);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pic>
        <p:nvPicPr>
          <p:cNvPr id="1013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72400" y="4038601"/>
            <a:ext cx="1752600" cy="1301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37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0" y="3886200"/>
            <a:ext cx="2362200" cy="1762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38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00600" y="3810000"/>
            <a:ext cx="2286000" cy="186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2133600" y="5791200"/>
            <a:ext cx="8343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that N doesn’t have to get very large for the approximation to become quite good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28800" y="533401"/>
            <a:ext cx="8382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probSuccess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0.2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for(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numTrials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in 2:500) 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/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titleStr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&lt;- paste("Number of trials = ",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numTrials,sep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="")</a:t>
            </a:r>
          </a:p>
          <a:p>
            <a:pPr lvl="1"/>
            <a:r>
              <a:rPr lang="en-US" sz="1400" dirty="0">
                <a:latin typeface="Courier New" pitchFamily="49" charset="0"/>
                <a:cs typeface="Courier New" pitchFamily="49" charset="0"/>
              </a:rPr>
              <a:t>plot( 0:numTrials,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dbinom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(0:numTrials,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numTrials,probSuccess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),main=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titleStr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1"/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1400" dirty="0">
                <a:latin typeface="Courier New" pitchFamily="49" charset="0"/>
                <a:cs typeface="Courier New" pitchFamily="49" charset="0"/>
              </a:rPr>
              <a:t>lines( 0: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numTrials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dnorm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( 0:numTrials, mean=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numTrials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probSuccess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</a:t>
            </a:r>
          </a:p>
          <a:p>
            <a:pPr lvl="1"/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numTrials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probSuccess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 (1-probSuccess))),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col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="RED");</a:t>
            </a:r>
          </a:p>
          <a:p>
            <a:pPr lvl="1"/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Sys.sleep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(1);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4800"/>
            <a:ext cx="418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works for </a:t>
            </a:r>
            <a:r>
              <a:rPr lang="en-US"/>
              <a:t>probabilities other </a:t>
            </a:r>
            <a:r>
              <a:rPr lang="en-US" dirty="0"/>
              <a:t>than 0.5!</a:t>
            </a:r>
          </a:p>
        </p:txBody>
      </p:sp>
      <p:pic>
        <p:nvPicPr>
          <p:cNvPr id="10240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3581400"/>
            <a:ext cx="2590800" cy="215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0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19600" y="3733800"/>
            <a:ext cx="2133600" cy="1814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0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57400" y="3810001"/>
            <a:ext cx="1981200" cy="1600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Straight Arrow Connector 11"/>
          <p:cNvCxnSpPr/>
          <p:nvPr/>
        </p:nvCxnSpPr>
        <p:spPr>
          <a:xfrm flipH="1">
            <a:off x="3810000" y="914400"/>
            <a:ext cx="685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05000" y="228601"/>
            <a:ext cx="8139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Of course, because the normal value is continuous, we can graph results intermediate</a:t>
            </a:r>
          </a:p>
          <a:p>
            <a:r>
              <a:rPr lang="en-US" dirty="0"/>
              <a:t>to the integer number of successes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2600" y="1028343"/>
            <a:ext cx="861060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probSuccess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= 0.2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for(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numTrials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in 2:500) 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titleStr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&lt;- paste("Number of trials = ",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numTrials,sep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="")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	plot( 0:numTrials,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dbinom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(0:numTrials, 			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numTrials,probSuccess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),main=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titleStr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xVals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&lt;-seq( 0,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numTrials,by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=1/(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numTrials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*20)) 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	lines(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xVals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dnorm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xVals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mean=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numTrials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probSuccess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numTrials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probSuccess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 (1-probSuccess))),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col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="RED");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Sys.sleep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(1);</a:t>
            </a:r>
          </a:p>
          <a:p>
            <a:r>
              <a:rPr lang="en-US" sz="1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3962401"/>
            <a:ext cx="2514600" cy="1943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447800" y="6172201"/>
            <a:ext cx="92733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continuous nature of the normal distribution makes it appropriate for non-count experiments</a:t>
            </a:r>
          </a:p>
          <a:p>
            <a:r>
              <a:rPr lang="en-US" dirty="0"/>
              <a:t>(such as microarrays)</a:t>
            </a:r>
          </a:p>
        </p:txBody>
      </p:sp>
      <p:pic>
        <p:nvPicPr>
          <p:cNvPr id="1034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1" y="4038600"/>
            <a:ext cx="2353393" cy="196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62800" y="3962400"/>
            <a:ext cx="2286000" cy="1930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4"/>
          <p:cNvGraphicFramePr>
            <a:graphicFrameLocks noChangeAspect="1"/>
          </p:cNvGraphicFramePr>
          <p:nvPr/>
        </p:nvGraphicFramePr>
        <p:xfrm>
          <a:off x="2209800" y="1524001"/>
          <a:ext cx="7772400" cy="343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5885714" imgH="2600000" progId="PBrush">
                  <p:embed/>
                </p:oleObj>
              </mc:Choice>
              <mc:Fallback>
                <p:oleObj name="Bitmap Image" r:id="rId3" imgW="5885714" imgH="2600000" progId="PBrush">
                  <p:embed/>
                  <p:pic>
                    <p:nvPicPr>
                      <p:cNvPr id="3072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524001"/>
                        <a:ext cx="7772400" cy="343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3" name="Text Box 5"/>
          <p:cNvSpPr txBox="1">
            <a:spLocks noChangeArrowheads="1"/>
          </p:cNvSpPr>
          <p:nvPr/>
        </p:nvSpPr>
        <p:spPr bwMode="auto">
          <a:xfrm>
            <a:off x="2270125" y="269875"/>
            <a:ext cx="480279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We have (as usual) </a:t>
            </a:r>
            <a:r>
              <a:rPr lang="en-US" dirty="0" err="1"/>
              <a:t>dnorm</a:t>
            </a:r>
            <a:r>
              <a:rPr lang="en-US" dirty="0"/>
              <a:t>, </a:t>
            </a:r>
            <a:r>
              <a:rPr lang="en-US" dirty="0" err="1"/>
              <a:t>pnorm</a:t>
            </a:r>
            <a:r>
              <a:rPr lang="en-US" dirty="0"/>
              <a:t>, </a:t>
            </a:r>
            <a:r>
              <a:rPr lang="en-US" dirty="0" err="1"/>
              <a:t>qnorm</a:t>
            </a:r>
            <a:r>
              <a:rPr lang="en-US" dirty="0"/>
              <a:t>, </a:t>
            </a:r>
            <a:r>
              <a:rPr lang="en-US" dirty="0" err="1"/>
              <a:t>rnorm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09801" y="5257801"/>
            <a:ext cx="39837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dnorm</a:t>
            </a:r>
            <a:r>
              <a:rPr lang="en-US" dirty="0"/>
              <a:t> – probability density function</a:t>
            </a:r>
          </a:p>
          <a:p>
            <a:r>
              <a:rPr lang="en-US" dirty="0" err="1"/>
              <a:t>pnorm</a:t>
            </a:r>
            <a:r>
              <a:rPr lang="en-US" dirty="0"/>
              <a:t> -  cumulative probability function</a:t>
            </a:r>
          </a:p>
          <a:p>
            <a:r>
              <a:rPr lang="en-US" dirty="0" err="1"/>
              <a:t>qnorm</a:t>
            </a:r>
            <a:r>
              <a:rPr lang="en-US" dirty="0"/>
              <a:t> – inverse of </a:t>
            </a:r>
            <a:r>
              <a:rPr lang="en-US" dirty="0" err="1"/>
              <a:t>pnorm</a:t>
            </a:r>
            <a:endParaRPr lang="en-US" dirty="0"/>
          </a:p>
          <a:p>
            <a:r>
              <a:rPr lang="en-US" dirty="0" err="1"/>
              <a:t>rnorm</a:t>
            </a:r>
            <a:r>
              <a:rPr lang="en-US" dirty="0"/>
              <a:t> – generates random Gaussians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05000" y="-64532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PDF is defined in terms of the normal distribution’s mean and variance</a:t>
            </a:r>
          </a:p>
        </p:txBody>
      </p:sp>
      <p:pic>
        <p:nvPicPr>
          <p:cNvPr id="1054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91400" y="304800"/>
            <a:ext cx="2842667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54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52800" y="762000"/>
            <a:ext cx="21336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524000" y="6248400"/>
            <a:ext cx="701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http://en.wikipedia.org/wiki/Normal_distribution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347CE34-35DF-43FD-97BD-44609A30B486}"/>
              </a:ext>
            </a:extLst>
          </p:cNvPr>
          <p:cNvSpPr txBox="1"/>
          <p:nvPr/>
        </p:nvSpPr>
        <p:spPr>
          <a:xfrm>
            <a:off x="676894" y="130629"/>
            <a:ext cx="414728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Summary of inference models so far…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From the binomial to the normal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qqnorm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Central Limit Theorem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Standard Normal Distribution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Preview: Chi-square and t-distributions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6F0C3C7-F0CA-4895-9D17-FBBCA0C040ED}"/>
              </a:ext>
            </a:extLst>
          </p:cNvPr>
          <p:cNvCxnSpPr>
            <a:cxnSpLocks/>
          </p:cNvCxnSpPr>
          <p:nvPr/>
        </p:nvCxnSpPr>
        <p:spPr>
          <a:xfrm flipH="1">
            <a:off x="1591294" y="1151905"/>
            <a:ext cx="4987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3600" y="304800"/>
            <a:ext cx="8062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qqnorm</a:t>
            </a:r>
            <a:r>
              <a:rPr lang="en-US" dirty="0"/>
              <a:t> and </a:t>
            </a:r>
            <a:r>
              <a:rPr lang="en-US" dirty="0" err="1"/>
              <a:t>qqline</a:t>
            </a:r>
            <a:r>
              <a:rPr lang="en-US" dirty="0"/>
              <a:t> can be used very quickly to visually tell if a distribution is normal</a:t>
            </a:r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143000"/>
            <a:ext cx="2468526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2209800"/>
            <a:ext cx="4535702" cy="417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6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43800" y="1066800"/>
            <a:ext cx="2371224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6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48401" y="2209801"/>
            <a:ext cx="4167187" cy="403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914401"/>
            <a:ext cx="7658100" cy="454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133600" y="304800"/>
            <a:ext cx="563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 non-normal distribution….)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1" y="1371600"/>
            <a:ext cx="7724775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697445C-FA01-4FF4-BA83-CC6CD5CE60DA}"/>
              </a:ext>
            </a:extLst>
          </p:cNvPr>
          <p:cNvSpPr txBox="1"/>
          <p:nvPr/>
        </p:nvSpPr>
        <p:spPr>
          <a:xfrm>
            <a:off x="676894" y="130629"/>
            <a:ext cx="414728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Summary of inference models so far…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From the binomial to the normal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qqnorm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Central Limit Theorem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Standard Normal Distribution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Preview: Chi-square and t-distributions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7E83711-FB0B-444A-9BBA-85447CC925DE}"/>
              </a:ext>
            </a:extLst>
          </p:cNvPr>
          <p:cNvCxnSpPr>
            <a:cxnSpLocks/>
          </p:cNvCxnSpPr>
          <p:nvPr/>
        </p:nvCxnSpPr>
        <p:spPr>
          <a:xfrm flipH="1">
            <a:off x="3503221" y="1401288"/>
            <a:ext cx="4987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81200" y="457200"/>
            <a:ext cx="7816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central limit theorem gives us a surprising fact about the normal distribution!</a:t>
            </a:r>
          </a:p>
        </p:txBody>
      </p:sp>
      <p:pic>
        <p:nvPicPr>
          <p:cNvPr id="1064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1600201"/>
            <a:ext cx="74676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752601" y="3505200"/>
            <a:ext cx="89489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central limit theorem applies when you are taking the mean of a </a:t>
            </a:r>
          </a:p>
          <a:p>
            <a:r>
              <a:rPr lang="en-US" dirty="0"/>
              <a:t>distribution where each sample comes from a distribution with a constant mean and variance</a:t>
            </a:r>
          </a:p>
          <a:p>
            <a:r>
              <a:rPr lang="en-US" dirty="0"/>
              <a:t>and the samples are identically and independently distributed.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733800" y="2514600"/>
            <a:ext cx="6477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http://en.wikipedia.org/wiki/Central_limit_theorem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1950719" y="0"/>
            <a:ext cx="7955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here is an example of a random variable that is not normally distributed	 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2600" y="76200"/>
            <a:ext cx="861060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dirty="0">
              <a:latin typeface="Courier" pitchFamily="49" charset="0"/>
            </a:endParaRPr>
          </a:p>
          <a:p>
            <a:r>
              <a:rPr lang="en-US" sz="1400" dirty="0" err="1">
                <a:latin typeface="Courier" pitchFamily="49" charset="0"/>
              </a:rPr>
              <a:t>someDist</a:t>
            </a:r>
            <a:r>
              <a:rPr lang="en-US" sz="1400" dirty="0">
                <a:latin typeface="Courier" pitchFamily="49" charset="0"/>
              </a:rPr>
              <a:t> &lt;- function() { x &lt;- </a:t>
            </a:r>
            <a:r>
              <a:rPr lang="en-US" sz="1400" dirty="0" err="1">
                <a:latin typeface="Courier" pitchFamily="49" charset="0"/>
              </a:rPr>
              <a:t>rexp</a:t>
            </a:r>
            <a:r>
              <a:rPr lang="en-US" sz="1400" dirty="0">
                <a:latin typeface="Courier" pitchFamily="49" charset="0"/>
              </a:rPr>
              <a:t>(1)}</a:t>
            </a:r>
          </a:p>
          <a:p>
            <a:endParaRPr lang="en-US" sz="1400" dirty="0">
              <a:latin typeface="Courier" pitchFamily="49" charset="0"/>
            </a:endParaRPr>
          </a:p>
          <a:p>
            <a:r>
              <a:rPr lang="en-US" sz="1400" dirty="0" err="1">
                <a:latin typeface="Courier" pitchFamily="49" charset="0"/>
              </a:rPr>
              <a:t>sampleSize</a:t>
            </a:r>
            <a:r>
              <a:rPr lang="en-US" sz="1400" dirty="0">
                <a:latin typeface="Courier" pitchFamily="49" charset="0"/>
              </a:rPr>
              <a:t> &lt;- 10000</a:t>
            </a:r>
          </a:p>
          <a:p>
            <a:r>
              <a:rPr lang="en-US" sz="1400" dirty="0">
                <a:latin typeface="Courier" pitchFamily="49" charset="0"/>
              </a:rPr>
              <a:t>results &lt;- vector(length=</a:t>
            </a:r>
            <a:r>
              <a:rPr lang="en-US" sz="1400" dirty="0" err="1">
                <a:latin typeface="Courier" pitchFamily="49" charset="0"/>
              </a:rPr>
              <a:t>sampleSize</a:t>
            </a:r>
            <a:r>
              <a:rPr lang="en-US" sz="1400" dirty="0">
                <a:latin typeface="Courier" pitchFamily="49" charset="0"/>
              </a:rPr>
              <a:t>)</a:t>
            </a:r>
          </a:p>
          <a:p>
            <a:endParaRPr lang="en-US" sz="1400" dirty="0">
              <a:latin typeface="Courier" pitchFamily="49" charset="0"/>
            </a:endParaRPr>
          </a:p>
          <a:p>
            <a:r>
              <a:rPr lang="en-US" sz="1400" dirty="0">
                <a:latin typeface="Courier" pitchFamily="49" charset="0"/>
              </a:rPr>
              <a:t>for( </a:t>
            </a:r>
            <a:r>
              <a:rPr lang="en-US" sz="1400" dirty="0" err="1">
                <a:latin typeface="Courier" pitchFamily="49" charset="0"/>
              </a:rPr>
              <a:t>i</a:t>
            </a:r>
            <a:r>
              <a:rPr lang="en-US" sz="1400" dirty="0">
                <a:latin typeface="Courier" pitchFamily="49" charset="0"/>
              </a:rPr>
              <a:t> in 1:sampleSize)</a:t>
            </a:r>
          </a:p>
          <a:p>
            <a:r>
              <a:rPr lang="en-US" sz="1400" dirty="0">
                <a:latin typeface="Courier" pitchFamily="49" charset="0"/>
              </a:rPr>
              <a:t>results[</a:t>
            </a:r>
            <a:r>
              <a:rPr lang="en-US" sz="1400" dirty="0" err="1">
                <a:latin typeface="Courier" pitchFamily="49" charset="0"/>
              </a:rPr>
              <a:t>i</a:t>
            </a:r>
            <a:r>
              <a:rPr lang="en-US" sz="1400" dirty="0">
                <a:latin typeface="Courier" pitchFamily="49" charset="0"/>
              </a:rPr>
              <a:t>] &lt;- </a:t>
            </a:r>
            <a:r>
              <a:rPr lang="en-US" sz="1400" dirty="0" err="1">
                <a:latin typeface="Courier" pitchFamily="49" charset="0"/>
              </a:rPr>
              <a:t>someDist</a:t>
            </a:r>
            <a:r>
              <a:rPr lang="en-US" sz="1400" dirty="0">
                <a:latin typeface="Courier" pitchFamily="49" charset="0"/>
              </a:rPr>
              <a:t>()</a:t>
            </a:r>
          </a:p>
          <a:p>
            <a:endParaRPr lang="en-US" sz="1400" dirty="0">
              <a:latin typeface="Courier" pitchFamily="49" charset="0"/>
            </a:endParaRPr>
          </a:p>
          <a:p>
            <a:endParaRPr lang="en-US" sz="1400" dirty="0">
              <a:latin typeface="Courier" pitchFamily="49" charset="0"/>
            </a:endParaRPr>
          </a:p>
          <a:p>
            <a:r>
              <a:rPr lang="en-US" sz="1400" dirty="0" err="1">
                <a:latin typeface="Courier" pitchFamily="49" charset="0"/>
              </a:rPr>
              <a:t>myHist</a:t>
            </a:r>
            <a:r>
              <a:rPr lang="en-US" sz="1400" dirty="0">
                <a:latin typeface="Courier" pitchFamily="49" charset="0"/>
              </a:rPr>
              <a:t> &lt;- </a:t>
            </a:r>
            <a:r>
              <a:rPr lang="en-US" sz="1400" dirty="0" err="1">
                <a:latin typeface="Courier" pitchFamily="49" charset="0"/>
              </a:rPr>
              <a:t>hist</a:t>
            </a:r>
            <a:r>
              <a:rPr lang="en-US" sz="1400" dirty="0">
                <a:latin typeface="Courier" pitchFamily="49" charset="0"/>
              </a:rPr>
              <a:t>(</a:t>
            </a:r>
            <a:r>
              <a:rPr lang="en-US" sz="1400" dirty="0" err="1">
                <a:latin typeface="Courier" pitchFamily="49" charset="0"/>
              </a:rPr>
              <a:t>results,breaks</a:t>
            </a:r>
            <a:r>
              <a:rPr lang="en-US" sz="1400" dirty="0">
                <a:latin typeface="Courier" pitchFamily="49" charset="0"/>
              </a:rPr>
              <a:t>=50)</a:t>
            </a:r>
          </a:p>
          <a:p>
            <a:r>
              <a:rPr lang="en-US" sz="1400" dirty="0">
                <a:latin typeface="Courier" pitchFamily="49" charset="0"/>
              </a:rPr>
              <a:t>plot(</a:t>
            </a:r>
            <a:r>
              <a:rPr lang="en-US" sz="1400" dirty="0" err="1">
                <a:latin typeface="Courier" pitchFamily="49" charset="0"/>
              </a:rPr>
              <a:t>myHist$breaks</a:t>
            </a:r>
            <a:r>
              <a:rPr lang="en-US" sz="1400" dirty="0">
                <a:latin typeface="Courier" pitchFamily="49" charset="0"/>
              </a:rPr>
              <a:t>, </a:t>
            </a:r>
            <a:r>
              <a:rPr lang="en-US" sz="1400" dirty="0" err="1">
                <a:latin typeface="Courier" pitchFamily="49" charset="0"/>
              </a:rPr>
              <a:t>myHist$density</a:t>
            </a:r>
            <a:r>
              <a:rPr lang="en-US" sz="1400" dirty="0">
                <a:latin typeface="Courier" pitchFamily="49" charset="0"/>
              </a:rPr>
              <a:t>[1:length(</a:t>
            </a:r>
            <a:r>
              <a:rPr lang="en-US" sz="1400" dirty="0" err="1">
                <a:latin typeface="Courier" pitchFamily="49" charset="0"/>
              </a:rPr>
              <a:t>myHist$breaks</a:t>
            </a:r>
            <a:r>
              <a:rPr lang="en-US" sz="1400" dirty="0">
                <a:latin typeface="Courier" pitchFamily="49" charset="0"/>
              </a:rPr>
              <a:t>)])</a:t>
            </a:r>
          </a:p>
          <a:p>
            <a:r>
              <a:rPr lang="en-US" sz="1400" dirty="0">
                <a:latin typeface="Courier" pitchFamily="49" charset="0"/>
              </a:rPr>
              <a:t>lines( </a:t>
            </a:r>
            <a:r>
              <a:rPr lang="en-US" sz="1400" dirty="0" err="1">
                <a:latin typeface="Courier" pitchFamily="49" charset="0"/>
              </a:rPr>
              <a:t>myHist$breaks</a:t>
            </a:r>
            <a:r>
              <a:rPr lang="en-US" sz="1400" dirty="0">
                <a:latin typeface="Courier" pitchFamily="49" charset="0"/>
              </a:rPr>
              <a:t>, </a:t>
            </a:r>
            <a:r>
              <a:rPr lang="en-US" sz="1400" dirty="0" err="1">
                <a:latin typeface="Courier" pitchFamily="49" charset="0"/>
              </a:rPr>
              <a:t>dnorm</a:t>
            </a:r>
            <a:r>
              <a:rPr lang="en-US" sz="1400" dirty="0">
                <a:latin typeface="Courier" pitchFamily="49" charset="0"/>
              </a:rPr>
              <a:t>(</a:t>
            </a:r>
            <a:r>
              <a:rPr lang="en-US" sz="1400" dirty="0" err="1">
                <a:latin typeface="Courier" pitchFamily="49" charset="0"/>
              </a:rPr>
              <a:t>myHist$breaks,mean</a:t>
            </a:r>
            <a:r>
              <a:rPr lang="en-US" sz="1400" dirty="0">
                <a:latin typeface="Courier" pitchFamily="49" charset="0"/>
              </a:rPr>
              <a:t>=mean(results),</a:t>
            </a:r>
            <a:r>
              <a:rPr lang="en-US" sz="1400" dirty="0" err="1">
                <a:latin typeface="Courier" pitchFamily="49" charset="0"/>
              </a:rPr>
              <a:t>sd</a:t>
            </a:r>
            <a:r>
              <a:rPr lang="en-US" sz="1400" dirty="0">
                <a:latin typeface="Courier" pitchFamily="49" charset="0"/>
              </a:rPr>
              <a:t>=</a:t>
            </a:r>
            <a:r>
              <a:rPr lang="en-US" sz="1400" dirty="0" err="1">
                <a:latin typeface="Courier" pitchFamily="49" charset="0"/>
              </a:rPr>
              <a:t>sd</a:t>
            </a:r>
            <a:r>
              <a:rPr lang="en-US" sz="1400" dirty="0">
                <a:latin typeface="Courier" pitchFamily="49" charset="0"/>
              </a:rPr>
              <a:t>(results)),</a:t>
            </a:r>
            <a:r>
              <a:rPr lang="en-US" sz="1400" dirty="0" err="1">
                <a:latin typeface="Courier" pitchFamily="49" charset="0"/>
              </a:rPr>
              <a:t>col</a:t>
            </a:r>
            <a:r>
              <a:rPr lang="en-US" sz="1400" dirty="0">
                <a:latin typeface="Courier" pitchFamily="49" charset="0"/>
              </a:rPr>
              <a:t>="RED") </a:t>
            </a:r>
          </a:p>
          <a:p>
            <a:r>
              <a:rPr lang="en-US" sz="1400" dirty="0">
                <a:latin typeface="Courier" pitchFamily="49" charset="0"/>
              </a:rPr>
              <a:t>windows()</a:t>
            </a:r>
          </a:p>
          <a:p>
            <a:endParaRPr lang="en-US" sz="1400" dirty="0">
              <a:latin typeface="Courier" pitchFamily="49" charset="0"/>
            </a:endParaRPr>
          </a:p>
          <a:p>
            <a:r>
              <a:rPr lang="en-US" sz="1400" dirty="0" err="1">
                <a:latin typeface="Courier" pitchFamily="49" charset="0"/>
              </a:rPr>
              <a:t>qqnorm</a:t>
            </a:r>
            <a:r>
              <a:rPr lang="en-US" sz="1400" dirty="0">
                <a:latin typeface="Courier" pitchFamily="49" charset="0"/>
              </a:rPr>
              <a:t>(results)  ; </a:t>
            </a:r>
            <a:r>
              <a:rPr lang="en-US" sz="1400" dirty="0" err="1">
                <a:latin typeface="Courier" pitchFamily="49" charset="0"/>
              </a:rPr>
              <a:t>qqline</a:t>
            </a:r>
            <a:r>
              <a:rPr lang="en-US" sz="1400" dirty="0">
                <a:latin typeface="Courier" pitchFamily="49" charset="0"/>
              </a:rPr>
              <a:t>(results)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0249" y="3810000"/>
            <a:ext cx="7459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sample the exponential distribution (at n=1) and it absolutely not normal!</a:t>
            </a:r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3810000"/>
            <a:ext cx="3052584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758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4114800"/>
            <a:ext cx="2667000" cy="2662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4343400"/>
            <a:ext cx="2438400" cy="2434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1981200" y="369332"/>
            <a:ext cx="800100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latin typeface="Courier" pitchFamily="49" charset="0"/>
              </a:rPr>
              <a:t>someDist</a:t>
            </a:r>
            <a:r>
              <a:rPr lang="en-US" sz="1400" dirty="0">
                <a:latin typeface="Courier" pitchFamily="49" charset="0"/>
              </a:rPr>
              <a:t> &lt;- function() { x &lt;- </a:t>
            </a:r>
            <a:r>
              <a:rPr lang="en-US" sz="1400" dirty="0" err="1">
                <a:latin typeface="Courier" pitchFamily="49" charset="0"/>
              </a:rPr>
              <a:t>rexp</a:t>
            </a:r>
            <a:r>
              <a:rPr lang="en-US" sz="1400" dirty="0">
                <a:latin typeface="Courier" pitchFamily="49" charset="0"/>
              </a:rPr>
              <a:t>(1000) }</a:t>
            </a:r>
          </a:p>
          <a:p>
            <a:endParaRPr lang="en-US" sz="1400" dirty="0">
              <a:latin typeface="Courier" pitchFamily="49" charset="0"/>
            </a:endParaRPr>
          </a:p>
          <a:p>
            <a:endParaRPr lang="en-US" sz="1400" dirty="0">
              <a:latin typeface="Courier" pitchFamily="49" charset="0"/>
            </a:endParaRPr>
          </a:p>
          <a:p>
            <a:r>
              <a:rPr lang="en-US" sz="1400" dirty="0" err="1">
                <a:latin typeface="Courier" pitchFamily="49" charset="0"/>
              </a:rPr>
              <a:t>sampleSize</a:t>
            </a:r>
            <a:r>
              <a:rPr lang="en-US" sz="1400" dirty="0">
                <a:latin typeface="Courier" pitchFamily="49" charset="0"/>
              </a:rPr>
              <a:t> &lt;- 10000</a:t>
            </a:r>
          </a:p>
          <a:p>
            <a:r>
              <a:rPr lang="en-US" sz="1400" dirty="0">
                <a:latin typeface="Courier" pitchFamily="49" charset="0"/>
              </a:rPr>
              <a:t>results &lt;- vector(length=</a:t>
            </a:r>
            <a:r>
              <a:rPr lang="en-US" sz="1400" dirty="0" err="1">
                <a:latin typeface="Courier" pitchFamily="49" charset="0"/>
              </a:rPr>
              <a:t>sampleSize</a:t>
            </a:r>
            <a:r>
              <a:rPr lang="en-US" sz="1400" dirty="0">
                <a:latin typeface="Courier" pitchFamily="49" charset="0"/>
              </a:rPr>
              <a:t>)</a:t>
            </a:r>
          </a:p>
          <a:p>
            <a:endParaRPr lang="en-US" sz="1400" dirty="0">
              <a:latin typeface="Courier" pitchFamily="49" charset="0"/>
            </a:endParaRPr>
          </a:p>
          <a:p>
            <a:r>
              <a:rPr lang="en-US" sz="1400" dirty="0">
                <a:latin typeface="Courier" pitchFamily="49" charset="0"/>
              </a:rPr>
              <a:t>for( </a:t>
            </a:r>
            <a:r>
              <a:rPr lang="en-US" sz="1400" dirty="0" err="1">
                <a:latin typeface="Courier" pitchFamily="49" charset="0"/>
              </a:rPr>
              <a:t>i</a:t>
            </a:r>
            <a:r>
              <a:rPr lang="en-US" sz="1400" dirty="0">
                <a:latin typeface="Courier" pitchFamily="49" charset="0"/>
              </a:rPr>
              <a:t> in 1:sampleSize)</a:t>
            </a:r>
          </a:p>
          <a:p>
            <a:r>
              <a:rPr lang="en-US" sz="1400" dirty="0">
                <a:latin typeface="Courier" pitchFamily="49" charset="0"/>
              </a:rPr>
              <a:t>results[</a:t>
            </a:r>
            <a:r>
              <a:rPr lang="en-US" sz="1400" dirty="0" err="1">
                <a:latin typeface="Courier" pitchFamily="49" charset="0"/>
              </a:rPr>
              <a:t>i</a:t>
            </a:r>
            <a:r>
              <a:rPr lang="en-US" sz="1400" dirty="0">
                <a:latin typeface="Courier" pitchFamily="49" charset="0"/>
              </a:rPr>
              <a:t>] &lt;- mean( </a:t>
            </a:r>
            <a:r>
              <a:rPr lang="en-US" sz="1400" dirty="0" err="1">
                <a:latin typeface="Courier" pitchFamily="49" charset="0"/>
              </a:rPr>
              <a:t>someDist</a:t>
            </a:r>
            <a:r>
              <a:rPr lang="en-US" sz="1400" dirty="0">
                <a:latin typeface="Courier" pitchFamily="49" charset="0"/>
              </a:rPr>
              <a:t>())</a:t>
            </a:r>
          </a:p>
          <a:p>
            <a:endParaRPr lang="en-US" sz="1400" dirty="0">
              <a:latin typeface="Courier" pitchFamily="49" charset="0"/>
            </a:endParaRPr>
          </a:p>
          <a:p>
            <a:endParaRPr lang="en-US" sz="1400" dirty="0">
              <a:latin typeface="Courier" pitchFamily="49" charset="0"/>
            </a:endParaRPr>
          </a:p>
          <a:p>
            <a:r>
              <a:rPr lang="en-US" sz="1400" dirty="0" err="1">
                <a:latin typeface="Courier" pitchFamily="49" charset="0"/>
              </a:rPr>
              <a:t>myHist</a:t>
            </a:r>
            <a:r>
              <a:rPr lang="en-US" sz="1400" dirty="0">
                <a:latin typeface="Courier" pitchFamily="49" charset="0"/>
              </a:rPr>
              <a:t> &lt;- </a:t>
            </a:r>
            <a:r>
              <a:rPr lang="en-US" sz="1400" dirty="0" err="1">
                <a:latin typeface="Courier" pitchFamily="49" charset="0"/>
              </a:rPr>
              <a:t>hist</a:t>
            </a:r>
            <a:r>
              <a:rPr lang="en-US" sz="1400" dirty="0">
                <a:latin typeface="Courier" pitchFamily="49" charset="0"/>
              </a:rPr>
              <a:t>(</a:t>
            </a:r>
            <a:r>
              <a:rPr lang="en-US" sz="1400" dirty="0" err="1">
                <a:latin typeface="Courier" pitchFamily="49" charset="0"/>
              </a:rPr>
              <a:t>results,breaks</a:t>
            </a:r>
            <a:r>
              <a:rPr lang="en-US" sz="1400" dirty="0">
                <a:latin typeface="Courier" pitchFamily="49" charset="0"/>
              </a:rPr>
              <a:t>=50)</a:t>
            </a:r>
          </a:p>
          <a:p>
            <a:r>
              <a:rPr lang="en-US" sz="1400" dirty="0">
                <a:latin typeface="Courier" pitchFamily="49" charset="0"/>
              </a:rPr>
              <a:t>plot(</a:t>
            </a:r>
            <a:r>
              <a:rPr lang="en-US" sz="1400" dirty="0" err="1">
                <a:latin typeface="Courier" pitchFamily="49" charset="0"/>
              </a:rPr>
              <a:t>myHist$breaks</a:t>
            </a:r>
            <a:r>
              <a:rPr lang="en-US" sz="1400" dirty="0">
                <a:latin typeface="Courier" pitchFamily="49" charset="0"/>
              </a:rPr>
              <a:t>, </a:t>
            </a:r>
            <a:r>
              <a:rPr lang="en-US" sz="1400" dirty="0" err="1">
                <a:latin typeface="Courier" pitchFamily="49" charset="0"/>
              </a:rPr>
              <a:t>myHist$density</a:t>
            </a:r>
            <a:r>
              <a:rPr lang="en-US" sz="1400" dirty="0">
                <a:latin typeface="Courier" pitchFamily="49" charset="0"/>
              </a:rPr>
              <a:t>[1:length(</a:t>
            </a:r>
            <a:r>
              <a:rPr lang="en-US" sz="1400" dirty="0" err="1">
                <a:latin typeface="Courier" pitchFamily="49" charset="0"/>
              </a:rPr>
              <a:t>myHist$breaks</a:t>
            </a:r>
            <a:r>
              <a:rPr lang="en-US" sz="1400" dirty="0">
                <a:latin typeface="Courier" pitchFamily="49" charset="0"/>
              </a:rPr>
              <a:t>)])</a:t>
            </a:r>
          </a:p>
          <a:p>
            <a:r>
              <a:rPr lang="en-US" sz="1400" dirty="0">
                <a:latin typeface="Courier" pitchFamily="49" charset="0"/>
              </a:rPr>
              <a:t>lines( </a:t>
            </a:r>
            <a:r>
              <a:rPr lang="en-US" sz="1400" dirty="0" err="1">
                <a:latin typeface="Courier" pitchFamily="49" charset="0"/>
              </a:rPr>
              <a:t>myHist$breaks</a:t>
            </a:r>
            <a:r>
              <a:rPr lang="en-US" sz="1400" dirty="0">
                <a:latin typeface="Courier" pitchFamily="49" charset="0"/>
              </a:rPr>
              <a:t>, </a:t>
            </a:r>
            <a:r>
              <a:rPr lang="en-US" sz="1400" dirty="0" err="1">
                <a:latin typeface="Courier" pitchFamily="49" charset="0"/>
              </a:rPr>
              <a:t>dnorm</a:t>
            </a:r>
            <a:r>
              <a:rPr lang="en-US" sz="1400" dirty="0">
                <a:latin typeface="Courier" pitchFamily="49" charset="0"/>
              </a:rPr>
              <a:t>(</a:t>
            </a:r>
            <a:r>
              <a:rPr lang="en-US" sz="1400" dirty="0" err="1">
                <a:latin typeface="Courier" pitchFamily="49" charset="0"/>
              </a:rPr>
              <a:t>myHist$breaks,mean</a:t>
            </a:r>
            <a:r>
              <a:rPr lang="en-US" sz="1400" dirty="0">
                <a:latin typeface="Courier" pitchFamily="49" charset="0"/>
              </a:rPr>
              <a:t>=mean(results),</a:t>
            </a:r>
            <a:r>
              <a:rPr lang="en-US" sz="1400" dirty="0" err="1">
                <a:latin typeface="Courier" pitchFamily="49" charset="0"/>
              </a:rPr>
              <a:t>sd</a:t>
            </a:r>
            <a:r>
              <a:rPr lang="en-US" sz="1400" dirty="0">
                <a:latin typeface="Courier" pitchFamily="49" charset="0"/>
              </a:rPr>
              <a:t>=</a:t>
            </a:r>
            <a:r>
              <a:rPr lang="en-US" sz="1400" dirty="0" err="1">
                <a:latin typeface="Courier" pitchFamily="49" charset="0"/>
              </a:rPr>
              <a:t>sd</a:t>
            </a:r>
            <a:r>
              <a:rPr lang="en-US" sz="1400" dirty="0">
                <a:latin typeface="Courier" pitchFamily="49" charset="0"/>
              </a:rPr>
              <a:t>(results)),</a:t>
            </a:r>
            <a:r>
              <a:rPr lang="en-US" sz="1400" dirty="0" err="1">
                <a:latin typeface="Courier" pitchFamily="49" charset="0"/>
              </a:rPr>
              <a:t>col</a:t>
            </a:r>
            <a:r>
              <a:rPr lang="en-US" sz="1400" dirty="0">
                <a:latin typeface="Courier" pitchFamily="49" charset="0"/>
              </a:rPr>
              <a:t>="RED") </a:t>
            </a:r>
          </a:p>
          <a:p>
            <a:r>
              <a:rPr lang="en-US" sz="1400" dirty="0">
                <a:latin typeface="Courier" pitchFamily="49" charset="0"/>
              </a:rPr>
              <a:t>windows()</a:t>
            </a:r>
          </a:p>
          <a:p>
            <a:endParaRPr lang="en-US" sz="1400" dirty="0">
              <a:latin typeface="Courier" pitchFamily="49" charset="0"/>
            </a:endParaRPr>
          </a:p>
          <a:p>
            <a:r>
              <a:rPr lang="en-US" sz="1400" dirty="0" err="1">
                <a:latin typeface="Courier" pitchFamily="49" charset="0"/>
              </a:rPr>
              <a:t>qqnorm</a:t>
            </a:r>
            <a:r>
              <a:rPr lang="en-US" sz="1400" dirty="0">
                <a:latin typeface="Courier" pitchFamily="49" charset="0"/>
              </a:rPr>
              <a:t>(results)  ; </a:t>
            </a:r>
            <a:r>
              <a:rPr lang="en-US" sz="1400" dirty="0" err="1">
                <a:latin typeface="Courier" pitchFamily="49" charset="0"/>
              </a:rPr>
              <a:t>qqline</a:t>
            </a:r>
            <a:r>
              <a:rPr lang="en-US" sz="1400" dirty="0">
                <a:latin typeface="Courier" pitchFamily="49" charset="0"/>
              </a:rPr>
              <a:t>(results)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2600" y="0"/>
            <a:ext cx="8612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we take the average of the distribution (instead of a single read from the distribution)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rot="10800000">
            <a:off x="6553200" y="521732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005272" y="304800"/>
            <a:ext cx="2519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Generate 1,000 numbers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rot="10800000">
            <a:off x="5486400" y="2044143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19801" y="1817132"/>
            <a:ext cx="4171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Store  the average of those 1,000 numbers</a:t>
            </a:r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4195004"/>
            <a:ext cx="2667000" cy="2662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1981201" y="4114800"/>
            <a:ext cx="6409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 advertised, the results are nearly perfectly normally distributed!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57400" y="381001"/>
            <a:ext cx="8068234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the central limit theorem does say:</a:t>
            </a:r>
          </a:p>
          <a:p>
            <a:endParaRPr lang="en-US" dirty="0"/>
          </a:p>
          <a:p>
            <a:r>
              <a:rPr lang="en-US" dirty="0"/>
              <a:t>	Taking the mean from an </a:t>
            </a:r>
            <a:r>
              <a:rPr lang="en-US" dirty="0" err="1"/>
              <a:t>iid</a:t>
            </a:r>
            <a:r>
              <a:rPr lang="en-US" dirty="0"/>
              <a:t> distribution will (eventually) lead to a normal</a:t>
            </a:r>
          </a:p>
          <a:p>
            <a:r>
              <a:rPr lang="en-US" dirty="0"/>
              <a:t>	distribution</a:t>
            </a:r>
          </a:p>
          <a:p>
            <a:endParaRPr lang="en-US" dirty="0"/>
          </a:p>
          <a:p>
            <a:r>
              <a:rPr lang="en-US" dirty="0"/>
              <a:t>What the central limit theorem does not say:</a:t>
            </a:r>
          </a:p>
          <a:p>
            <a:endParaRPr lang="en-US" dirty="0"/>
          </a:p>
          <a:p>
            <a:r>
              <a:rPr lang="en-US" dirty="0"/>
              <a:t>	Your particular dataset is normal</a:t>
            </a:r>
          </a:p>
          <a:p>
            <a:endParaRPr lang="en-US" dirty="0"/>
          </a:p>
          <a:p>
            <a:r>
              <a:rPr lang="en-US" dirty="0"/>
              <a:t>In biology, unfortunately, datasets are often not normally distributed.</a:t>
            </a:r>
          </a:p>
          <a:p>
            <a:endParaRPr lang="en-US" dirty="0"/>
          </a:p>
          <a:p>
            <a:r>
              <a:rPr lang="en-US" dirty="0"/>
              <a:t>	Sample size may be insufficient for central limit theorem to kick in.</a:t>
            </a:r>
          </a:p>
          <a:p>
            <a:endParaRPr lang="en-US" dirty="0"/>
          </a:p>
          <a:p>
            <a:r>
              <a:rPr lang="en-US" dirty="0"/>
              <a:t>	Sampling may not be from the same distribution across subjects.</a:t>
            </a:r>
          </a:p>
          <a:p>
            <a:endParaRPr lang="en-US" dirty="0"/>
          </a:p>
          <a:p>
            <a:r>
              <a:rPr lang="en-US" dirty="0"/>
              <a:t>	(What </a:t>
            </a:r>
            <a:r>
              <a:rPr lang="en-US" dirty="0" err="1"/>
              <a:t>actin</a:t>
            </a:r>
            <a:r>
              <a:rPr lang="en-US" dirty="0"/>
              <a:t> does in patient X is different from patient Y)</a:t>
            </a:r>
          </a:p>
          <a:p>
            <a:endParaRPr lang="en-US" dirty="0"/>
          </a:p>
          <a:p>
            <a:r>
              <a:rPr lang="en-US" dirty="0"/>
              <a:t>	We will still have to test for normality before applying parametric statistics!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91AA05-7AFC-4136-BE0E-D41E50987BF2}"/>
              </a:ext>
            </a:extLst>
          </p:cNvPr>
          <p:cNvSpPr txBox="1"/>
          <p:nvPr/>
        </p:nvSpPr>
        <p:spPr>
          <a:xfrm>
            <a:off x="676894" y="130629"/>
            <a:ext cx="414728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Summary of inference models so far…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From the binomial to the normal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qqnorm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Central Limit Theorem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Standard Normal Distribution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Preview: Chi-square and t-distributions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E3C69ED-BAF9-417E-91D6-F3FA7AE64D98}"/>
              </a:ext>
            </a:extLst>
          </p:cNvPr>
          <p:cNvCxnSpPr>
            <a:cxnSpLocks/>
          </p:cNvCxnSpPr>
          <p:nvPr/>
        </p:nvCxnSpPr>
        <p:spPr>
          <a:xfrm flipH="1">
            <a:off x="3705101" y="1674420"/>
            <a:ext cx="4987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2422525" y="346076"/>
            <a:ext cx="555677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If you add a subtract a constant to a normally distributed </a:t>
            </a:r>
          </a:p>
          <a:p>
            <a:r>
              <a:rPr lang="en-US"/>
              <a:t>set of values, they are still normally distributed…</a:t>
            </a:r>
          </a:p>
        </p:txBody>
      </p:sp>
      <p:graphicFrame>
        <p:nvGraphicFramePr>
          <p:cNvPr id="31746" name="Object 5"/>
          <p:cNvGraphicFramePr>
            <a:graphicFrameLocks noChangeAspect="1"/>
          </p:cNvGraphicFramePr>
          <p:nvPr/>
        </p:nvGraphicFramePr>
        <p:xfrm>
          <a:off x="5410200" y="1676400"/>
          <a:ext cx="4267200" cy="416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5296639" imgH="5172797" progId="PBrush">
                  <p:embed/>
                </p:oleObj>
              </mc:Choice>
              <mc:Fallback>
                <p:oleObj name="Bitmap Image" r:id="rId3" imgW="5296639" imgH="5172797" progId="PBrush">
                  <p:embed/>
                  <p:pic>
                    <p:nvPicPr>
                      <p:cNvPr id="3174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676400"/>
                        <a:ext cx="4267200" cy="416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" name="Object 6"/>
          <p:cNvGraphicFramePr>
            <a:graphicFrameLocks noChangeAspect="1"/>
          </p:cNvGraphicFramePr>
          <p:nvPr/>
        </p:nvGraphicFramePr>
        <p:xfrm>
          <a:off x="1600200" y="1524000"/>
          <a:ext cx="371475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3715269" imgH="857143" progId="PBrush">
                  <p:embed/>
                </p:oleObj>
              </mc:Choice>
              <mc:Fallback>
                <p:oleObj name="Bitmap Image" r:id="rId5" imgW="3715269" imgH="857143" progId="PBrush">
                  <p:embed/>
                  <p:pic>
                    <p:nvPicPr>
                      <p:cNvPr id="3174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524000"/>
                        <a:ext cx="371475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Text Box 7"/>
          <p:cNvSpPr txBox="1">
            <a:spLocks noChangeArrowheads="1"/>
          </p:cNvSpPr>
          <p:nvPr/>
        </p:nvSpPr>
        <p:spPr bwMode="auto">
          <a:xfrm>
            <a:off x="1812926" y="2860675"/>
            <a:ext cx="99546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“Before”</a:t>
            </a:r>
          </a:p>
        </p:txBody>
      </p:sp>
      <p:sp>
        <p:nvSpPr>
          <p:cNvPr id="31750" name="Line 8"/>
          <p:cNvSpPr>
            <a:spLocks noChangeShapeType="1"/>
          </p:cNvSpPr>
          <p:nvPr/>
        </p:nvSpPr>
        <p:spPr bwMode="auto">
          <a:xfrm flipV="1">
            <a:off x="7086600" y="5410200"/>
            <a:ext cx="381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751" name="Text Box 9"/>
          <p:cNvSpPr txBox="1">
            <a:spLocks noChangeArrowheads="1"/>
          </p:cNvSpPr>
          <p:nvPr/>
        </p:nvSpPr>
        <p:spPr bwMode="auto">
          <a:xfrm>
            <a:off x="6705600" y="5943600"/>
            <a:ext cx="15727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Centered at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1752600" y="2860675"/>
            <a:ext cx="8415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“After”</a:t>
            </a:r>
          </a:p>
        </p:txBody>
      </p:sp>
      <p:graphicFrame>
        <p:nvGraphicFramePr>
          <p:cNvPr id="32770" name="Object 6"/>
          <p:cNvGraphicFramePr>
            <a:graphicFrameLocks noChangeAspect="1"/>
          </p:cNvGraphicFramePr>
          <p:nvPr/>
        </p:nvGraphicFramePr>
        <p:xfrm>
          <a:off x="1768475" y="3429001"/>
          <a:ext cx="449580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3219899" imgH="685714" progId="PBrush">
                  <p:embed/>
                </p:oleObj>
              </mc:Choice>
              <mc:Fallback>
                <p:oleObj name="Bitmap Image" r:id="rId3" imgW="3219899" imgH="685714" progId="PBrush">
                  <p:embed/>
                  <p:pic>
                    <p:nvPicPr>
                      <p:cNvPr id="327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8475" y="3429001"/>
                        <a:ext cx="4495800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" name="Object 7"/>
          <p:cNvGraphicFramePr>
            <a:graphicFrameLocks noChangeAspect="1"/>
          </p:cNvGraphicFramePr>
          <p:nvPr/>
        </p:nvGraphicFramePr>
        <p:xfrm>
          <a:off x="1920875" y="1400176"/>
          <a:ext cx="449580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3715269" imgH="857143" progId="PBrush">
                  <p:embed/>
                </p:oleObj>
              </mc:Choice>
              <mc:Fallback>
                <p:oleObj name="Bitmap Image" r:id="rId5" imgW="3715269" imgH="857143" progId="PBrush">
                  <p:embed/>
                  <p:pic>
                    <p:nvPicPr>
                      <p:cNvPr id="327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75" y="1400176"/>
                        <a:ext cx="4495800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8"/>
          <p:cNvGraphicFramePr>
            <a:graphicFrameLocks noChangeAspect="1"/>
          </p:cNvGraphicFramePr>
          <p:nvPr/>
        </p:nvGraphicFramePr>
        <p:xfrm>
          <a:off x="6248400" y="1981200"/>
          <a:ext cx="3886200" cy="372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7" imgW="5372850" imgH="5152381" progId="PBrush">
                  <p:embed/>
                </p:oleObj>
              </mc:Choice>
              <mc:Fallback>
                <p:oleObj name="Bitmap Image" r:id="rId7" imgW="5372850" imgH="5152381" progId="PBrush">
                  <p:embed/>
                  <p:pic>
                    <p:nvPicPr>
                      <p:cNvPr id="3277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981200"/>
                        <a:ext cx="3886200" cy="372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Line 9"/>
          <p:cNvSpPr>
            <a:spLocks noChangeShapeType="1"/>
          </p:cNvSpPr>
          <p:nvPr/>
        </p:nvSpPr>
        <p:spPr bwMode="auto">
          <a:xfrm flipV="1">
            <a:off x="7772400" y="54864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775" name="Text Box 10"/>
          <p:cNvSpPr txBox="1">
            <a:spLocks noChangeArrowheads="1"/>
          </p:cNvSpPr>
          <p:nvPr/>
        </p:nvSpPr>
        <p:spPr bwMode="auto">
          <a:xfrm>
            <a:off x="7146926" y="5908675"/>
            <a:ext cx="191808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Now centered at 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4"/>
          <p:cNvGraphicFramePr>
            <a:graphicFrameLocks noChangeAspect="1"/>
          </p:cNvGraphicFramePr>
          <p:nvPr/>
        </p:nvGraphicFramePr>
        <p:xfrm>
          <a:off x="1828800" y="914400"/>
          <a:ext cx="4648200" cy="218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4029637" imgH="1895238" progId="PBrush">
                  <p:embed/>
                </p:oleObj>
              </mc:Choice>
              <mc:Fallback>
                <p:oleObj name="Bitmap Image" r:id="rId3" imgW="4029637" imgH="1895238" progId="PBrush">
                  <p:embed/>
                  <p:pic>
                    <p:nvPicPr>
                      <p:cNvPr id="3379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914400"/>
                        <a:ext cx="4648200" cy="218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5" name="Object 5"/>
          <p:cNvGraphicFramePr>
            <a:graphicFrameLocks noChangeAspect="1"/>
          </p:cNvGraphicFramePr>
          <p:nvPr/>
        </p:nvGraphicFramePr>
        <p:xfrm>
          <a:off x="5029200" y="2057401"/>
          <a:ext cx="4953000" cy="464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6354062" imgH="5952381" progId="PBrush">
                  <p:embed/>
                </p:oleObj>
              </mc:Choice>
              <mc:Fallback>
                <p:oleObj name="Bitmap Image" r:id="rId5" imgW="6354062" imgH="5952381" progId="PBrush">
                  <p:embed/>
                  <p:pic>
                    <p:nvPicPr>
                      <p:cNvPr id="3379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057401"/>
                        <a:ext cx="4953000" cy="464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Text Box 6"/>
          <p:cNvSpPr txBox="1">
            <a:spLocks noChangeArrowheads="1"/>
          </p:cNvSpPr>
          <p:nvPr/>
        </p:nvSpPr>
        <p:spPr bwMode="auto">
          <a:xfrm>
            <a:off x="2727326" y="117476"/>
            <a:ext cx="551452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Likewise if you divide a normally distributed set of values</a:t>
            </a:r>
          </a:p>
          <a:p>
            <a:r>
              <a:rPr lang="en-US"/>
              <a:t>by a constant, it is still normally distributed… </a:t>
            </a:r>
          </a:p>
        </p:txBody>
      </p:sp>
      <p:sp>
        <p:nvSpPr>
          <p:cNvPr id="33797" name="Line 7"/>
          <p:cNvSpPr>
            <a:spLocks noChangeShapeType="1"/>
          </p:cNvSpPr>
          <p:nvPr/>
        </p:nvSpPr>
        <p:spPr bwMode="auto">
          <a:xfrm flipV="1">
            <a:off x="5257800" y="6324600"/>
            <a:ext cx="685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3798" name="Text Box 8"/>
          <p:cNvSpPr txBox="1">
            <a:spLocks noChangeArrowheads="1"/>
          </p:cNvSpPr>
          <p:nvPr/>
        </p:nvSpPr>
        <p:spPr bwMode="auto">
          <a:xfrm>
            <a:off x="2286000" y="5807076"/>
            <a:ext cx="233544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All we’ve done is</a:t>
            </a:r>
          </a:p>
          <a:p>
            <a:r>
              <a:rPr lang="en-US"/>
              <a:t>re-scale the x-axis here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Box 3"/>
          <p:cNvSpPr txBox="1">
            <a:spLocks noChangeArrowheads="1"/>
          </p:cNvSpPr>
          <p:nvPr/>
        </p:nvSpPr>
        <p:spPr bwMode="auto">
          <a:xfrm>
            <a:off x="2286001" y="381001"/>
            <a:ext cx="524778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We define a standard normal distribution as a normal </a:t>
            </a:r>
          </a:p>
          <a:p>
            <a:r>
              <a:rPr lang="en-US"/>
              <a:t>distribution with mean=0 and SD = 1</a:t>
            </a:r>
          </a:p>
        </p:txBody>
      </p:sp>
      <p:pic>
        <p:nvPicPr>
          <p:cNvPr id="4915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1" y="1447800"/>
            <a:ext cx="6837363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6" name="Rectangle 5"/>
          <p:cNvSpPr>
            <a:spLocks noChangeArrowheads="1"/>
          </p:cNvSpPr>
          <p:nvPr/>
        </p:nvSpPr>
        <p:spPr bwMode="auto">
          <a:xfrm>
            <a:off x="7391400" y="6459538"/>
            <a:ext cx="70104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000"/>
              <a:t>http://en.wikipedia.org/wiki/Normal_distribution</a:t>
            </a:r>
          </a:p>
        </p:txBody>
      </p:sp>
      <p:sp>
        <p:nvSpPr>
          <p:cNvPr id="49157" name="TextBox 6"/>
          <p:cNvSpPr txBox="1">
            <a:spLocks noChangeArrowheads="1"/>
          </p:cNvSpPr>
          <p:nvPr/>
        </p:nvSpPr>
        <p:spPr bwMode="auto">
          <a:xfrm>
            <a:off x="2209801" y="4267201"/>
            <a:ext cx="552125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Given any normal distribution, we can transform it to the</a:t>
            </a:r>
          </a:p>
          <a:p>
            <a:r>
              <a:rPr lang="en-US"/>
              <a:t>standard distribution via</a:t>
            </a:r>
          </a:p>
        </p:txBody>
      </p:sp>
      <p:sp>
        <p:nvSpPr>
          <p:cNvPr id="49158" name="TextBox 7"/>
          <p:cNvSpPr txBox="1">
            <a:spLocks noChangeArrowheads="1"/>
          </p:cNvSpPr>
          <p:nvPr/>
        </p:nvSpPr>
        <p:spPr bwMode="auto">
          <a:xfrm>
            <a:off x="2819401" y="5410201"/>
            <a:ext cx="102143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Z = Y – u </a:t>
            </a:r>
          </a:p>
          <a:p>
            <a:endParaRPr lang="en-US"/>
          </a:p>
        </p:txBody>
      </p:sp>
      <p:sp>
        <p:nvSpPr>
          <p:cNvPr id="49159" name="Line 7"/>
          <p:cNvSpPr>
            <a:spLocks noChangeShapeType="1"/>
          </p:cNvSpPr>
          <p:nvPr/>
        </p:nvSpPr>
        <p:spPr bwMode="auto">
          <a:xfrm>
            <a:off x="3276600" y="5826125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160" name="Text Box 8"/>
          <p:cNvSpPr txBox="1">
            <a:spLocks noChangeArrowheads="1"/>
          </p:cNvSpPr>
          <p:nvPr/>
        </p:nvSpPr>
        <p:spPr bwMode="auto">
          <a:xfrm>
            <a:off x="3565525" y="5791200"/>
            <a:ext cx="2744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</a:t>
            </a:r>
          </a:p>
        </p:txBody>
      </p:sp>
      <p:sp>
        <p:nvSpPr>
          <p:cNvPr id="49161" name="Text Box 9"/>
          <p:cNvSpPr txBox="1">
            <a:spLocks noChangeArrowheads="1"/>
          </p:cNvSpPr>
          <p:nvPr/>
        </p:nvSpPr>
        <p:spPr bwMode="auto">
          <a:xfrm>
            <a:off x="4556125" y="5222875"/>
            <a:ext cx="293471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Y is some random variable</a:t>
            </a:r>
          </a:p>
          <a:p>
            <a:r>
              <a:rPr lang="en-US"/>
              <a:t>u is the mean of that variable</a:t>
            </a:r>
          </a:p>
          <a:p>
            <a:r>
              <a:rPr lang="en-US"/>
              <a:t>s is the sd of that variable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09800" y="533400"/>
            <a:ext cx="383823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 Discovery Rate</a:t>
            </a:r>
          </a:p>
          <a:p>
            <a:r>
              <a:rPr lang="en-US" dirty="0"/>
              <a:t>From the binomial to the normal</a:t>
            </a:r>
          </a:p>
          <a:p>
            <a:r>
              <a:rPr lang="en-US" dirty="0" err="1"/>
              <a:t>qqnorm</a:t>
            </a:r>
            <a:r>
              <a:rPr lang="en-US" dirty="0"/>
              <a:t> </a:t>
            </a:r>
          </a:p>
          <a:p>
            <a:r>
              <a:rPr lang="en-US" dirty="0"/>
              <a:t>The Central Limit Theorem</a:t>
            </a:r>
          </a:p>
          <a:p>
            <a:r>
              <a:rPr lang="en-US" dirty="0"/>
              <a:t>Standard Normal Distribution</a:t>
            </a:r>
          </a:p>
          <a:p>
            <a:r>
              <a:rPr lang="en-US" dirty="0"/>
              <a:t>Preview: Chi-square and t-distributions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5943600" y="2133600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ChangeArrowheads="1"/>
          </p:cNvSpPr>
          <p:nvPr/>
        </p:nvSpPr>
        <p:spPr bwMode="auto">
          <a:xfrm>
            <a:off x="4800600" y="6596064"/>
            <a:ext cx="61722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/>
              <a:t>http://en.wikipedia.org/wiki/Chi-square_distribution</a:t>
            </a:r>
          </a:p>
        </p:txBody>
      </p:sp>
      <p:pic>
        <p:nvPicPr>
          <p:cNvPr id="5017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1" y="1752600"/>
            <a:ext cx="7142163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80" name="TextBox 5"/>
          <p:cNvSpPr txBox="1">
            <a:spLocks noChangeArrowheads="1"/>
          </p:cNvSpPr>
          <p:nvPr/>
        </p:nvSpPr>
        <p:spPr bwMode="auto">
          <a:xfrm>
            <a:off x="2057400" y="762000"/>
            <a:ext cx="7848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From the uniform normal distributions, we define the chi-square distribution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1" y="1828801"/>
            <a:ext cx="5794375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3" name="TextBox 5"/>
          <p:cNvSpPr txBox="1">
            <a:spLocks noChangeArrowheads="1"/>
          </p:cNvSpPr>
          <p:nvPr/>
        </p:nvSpPr>
        <p:spPr bwMode="auto">
          <a:xfrm>
            <a:off x="2057400" y="762000"/>
            <a:ext cx="7848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And we build on both to make the t-distribution…</a:t>
            </a:r>
          </a:p>
        </p:txBody>
      </p:sp>
      <p:sp>
        <p:nvSpPr>
          <p:cNvPr id="51204" name="TextBox 6"/>
          <p:cNvSpPr txBox="1">
            <a:spLocks noChangeArrowheads="1"/>
          </p:cNvSpPr>
          <p:nvPr/>
        </p:nvSpPr>
        <p:spPr bwMode="auto">
          <a:xfrm>
            <a:off x="2286000" y="4572000"/>
            <a:ext cx="62814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With the z distribution, chi-square distribution and t-distribution,</a:t>
            </a:r>
          </a:p>
          <a:p>
            <a:r>
              <a:rPr lang="en-US"/>
              <a:t>we will have the z-test, chi-square test and t-test.</a:t>
            </a:r>
          </a:p>
          <a:p>
            <a:r>
              <a:rPr lang="en-US"/>
              <a:t>And we will talk about those next time…</a:t>
            </a:r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2422526" y="5638801"/>
            <a:ext cx="644907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br>
              <a:rPr lang="en-US" dirty="0"/>
            </a:br>
            <a:r>
              <a:rPr lang="en-US" dirty="0"/>
              <a:t>Review t-test and chi-square test from your 1</a:t>
            </a:r>
            <a:r>
              <a:rPr lang="en-US" baseline="30000" dirty="0"/>
              <a:t>st</a:t>
            </a:r>
            <a:r>
              <a:rPr lang="en-US" dirty="0"/>
              <a:t> semester stats book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62201" y="609601"/>
            <a:ext cx="6991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Reading:</a:t>
            </a:r>
          </a:p>
          <a:p>
            <a:r>
              <a:rPr lang="en-US" dirty="0"/>
              <a:t>	Canonical statistics text book through t-test and t-distribution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1894</Words>
  <Application>Microsoft Office PowerPoint</Application>
  <PresentationFormat>Widescreen</PresentationFormat>
  <Paragraphs>258</Paragraphs>
  <Slides>38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Calibri Light</vt:lpstr>
      <vt:lpstr>Courier</vt:lpstr>
      <vt:lpstr>Courier New</vt:lpstr>
      <vt:lpstr>Office Theme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Anthony Fodor</dc:creator>
  <cp:lastModifiedBy>Anthony Fodor</cp:lastModifiedBy>
  <cp:revision>35</cp:revision>
  <dcterms:created xsi:type="dcterms:W3CDTF">2019-02-16T16:13:19Z</dcterms:created>
  <dcterms:modified xsi:type="dcterms:W3CDTF">2026-03-03T04:04:08Z</dcterms:modified>
</cp:coreProperties>
</file>