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92" r:id="rId2"/>
    <p:sldId id="257" r:id="rId3"/>
    <p:sldId id="298" r:id="rId4"/>
    <p:sldId id="299" r:id="rId5"/>
    <p:sldId id="300" r:id="rId6"/>
    <p:sldId id="301" r:id="rId7"/>
    <p:sldId id="302" r:id="rId8"/>
    <p:sldId id="303" r:id="rId9"/>
    <p:sldId id="308" r:id="rId10"/>
    <p:sldId id="309" r:id="rId11"/>
    <p:sldId id="310" r:id="rId12"/>
    <p:sldId id="304" r:id="rId13"/>
    <p:sldId id="305" r:id="rId14"/>
    <p:sldId id="307" r:id="rId15"/>
    <p:sldId id="311" r:id="rId16"/>
    <p:sldId id="258" r:id="rId17"/>
    <p:sldId id="297" r:id="rId18"/>
    <p:sldId id="259" r:id="rId19"/>
    <p:sldId id="312" r:id="rId20"/>
    <p:sldId id="260" r:id="rId21"/>
    <p:sldId id="270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93" r:id="rId30"/>
    <p:sldId id="294" r:id="rId31"/>
    <p:sldId id="313" r:id="rId32"/>
    <p:sldId id="315" r:id="rId33"/>
    <p:sldId id="296" r:id="rId34"/>
    <p:sldId id="295" r:id="rId35"/>
    <p:sldId id="316" r:id="rId36"/>
    <p:sldId id="317" r:id="rId37"/>
    <p:sldId id="318" r:id="rId38"/>
    <p:sldId id="319" r:id="rId39"/>
    <p:sldId id="320" r:id="rId40"/>
    <p:sldId id="322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0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16F29-BB7A-49FE-BE2E-9DBA2ECB74D5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1916E-4120-4E43-A1E8-BAB1051500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34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41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4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02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62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07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57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58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94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35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65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8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04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151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620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27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651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682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289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590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692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402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102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3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474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22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788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136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953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627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254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805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171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122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005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17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783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663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351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780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1916E-4120-4E43-A1E8-BAB10515004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94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Beta_distributio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wmf"/><Relationship Id="rId9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40.wmf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4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41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49.wmf"/><Relationship Id="rId3" Type="http://schemas.openxmlformats.org/officeDocument/2006/relationships/oleObject" Target="../embeddings/oleObject11.bin"/><Relationship Id="rId21" Type="http://schemas.openxmlformats.org/officeDocument/2006/relationships/oleObject" Target="../embeddings/oleObject20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18.bin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41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0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1000"/>
            <a:ext cx="708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Bayesian approach to the binomial distribution with a discrete prior</a:t>
            </a:r>
          </a:p>
          <a:p>
            <a:r>
              <a:rPr lang="en-US" dirty="0"/>
              <a:t>The beta distribution</a:t>
            </a:r>
          </a:p>
          <a:p>
            <a:r>
              <a:rPr lang="en-US" dirty="0"/>
              <a:t>Bayesian approach to the binomial distribution with a continuous prior</a:t>
            </a:r>
          </a:p>
          <a:p>
            <a:r>
              <a:rPr lang="en-US" dirty="0"/>
              <a:t>Implementation of the beta distribution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rot="10800000">
            <a:off x="7162800" y="5334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74474"/>
            <a:ext cx="693112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the binomial distribution, we assume that p (hereafter ∏) is constant </a:t>
            </a:r>
          </a:p>
          <a:p>
            <a:r>
              <a:rPr lang="en-US" dirty="0"/>
              <a:t>and we calculate the probability for each success…</a:t>
            </a:r>
          </a:p>
          <a:p>
            <a:endParaRPr lang="en-US" dirty="0"/>
          </a:p>
          <a:p>
            <a:r>
              <a:rPr lang="en-US" dirty="0"/>
              <a:t>For a fair coin, p=∏ = 0.5 ; I toss the coin 50 times; k= number of heads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5" y="1724025"/>
            <a:ext cx="8629650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2680923"/>
            <a:ext cx="4191000" cy="4177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6204" y="3316069"/>
            <a:ext cx="4648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the number of coin flips increases, this </a:t>
            </a:r>
          </a:p>
          <a:p>
            <a:r>
              <a:rPr lang="en-US" dirty="0"/>
              <a:t>distribution approaches the normal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4114800"/>
            <a:ext cx="36897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sum of </a:t>
            </a:r>
            <a:r>
              <a:rPr lang="en-US" dirty="0" err="1"/>
              <a:t>dbinom</a:t>
            </a:r>
            <a:r>
              <a:rPr lang="en-US" dirty="0"/>
              <a:t>(1:50,50,.5) is 1.</a:t>
            </a:r>
          </a:p>
          <a:p>
            <a:endParaRPr lang="en-US" dirty="0"/>
          </a:p>
          <a:p>
            <a:r>
              <a:rPr lang="en-US" dirty="0"/>
              <a:t>Because when I flip a coin 50 times,</a:t>
            </a:r>
          </a:p>
          <a:p>
            <a:r>
              <a:rPr lang="en-US" dirty="0"/>
              <a:t>I will get between 0 and 50 heads,</a:t>
            </a:r>
          </a:p>
          <a:p>
            <a:r>
              <a:rPr lang="en-US" dirty="0"/>
              <a:t>So the sum(probability(</a:t>
            </a:r>
            <a:r>
              <a:rPr lang="en-US" dirty="0" err="1"/>
              <a:t>allEvents</a:t>
            </a:r>
            <a:r>
              <a:rPr lang="en-US" dirty="0"/>
              <a:t>)) = 1</a:t>
            </a:r>
          </a:p>
        </p:txBody>
      </p:sp>
      <p:grpSp>
        <p:nvGrpSpPr>
          <p:cNvPr id="9" name="Group 17"/>
          <p:cNvGrpSpPr>
            <a:grpSpLocks/>
          </p:cNvGrpSpPr>
          <p:nvPr/>
        </p:nvGrpSpPr>
        <p:grpSpPr bwMode="auto">
          <a:xfrm>
            <a:off x="4191000" y="1143000"/>
            <a:ext cx="2073275" cy="762000"/>
            <a:chOff x="806" y="2751"/>
            <a:chExt cx="1306" cy="480"/>
          </a:xfrm>
        </p:grpSpPr>
        <p:sp>
          <p:nvSpPr>
            <p:cNvPr id="10" name="Text Box 13"/>
            <p:cNvSpPr txBox="1">
              <a:spLocks noChangeArrowheads="1"/>
            </p:cNvSpPr>
            <p:nvPr/>
          </p:nvSpPr>
          <p:spPr bwMode="auto">
            <a:xfrm>
              <a:off x="806" y="2751"/>
              <a:ext cx="438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4400" dirty="0">
                  <a:latin typeface="Times New Roman" pitchFamily="18" charset="0"/>
                </a:rPr>
                <a:t>( )</a:t>
              </a:r>
            </a:p>
          </p:txBody>
        </p:sp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960" y="2832"/>
              <a:ext cx="180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>
                  <a:latin typeface="Times New Roman" pitchFamily="18" charset="0"/>
                </a:rPr>
                <a:t>n</a:t>
              </a:r>
            </a:p>
            <a:p>
              <a:r>
                <a:rPr lang="en-US" sz="1600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1233" y="2832"/>
              <a:ext cx="87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err="1">
                  <a:latin typeface="Times New Roman" pitchFamily="18" charset="0"/>
                </a:rPr>
                <a:t>p</a:t>
              </a:r>
              <a:r>
                <a:rPr lang="en-US" baseline="30000" dirty="0" err="1">
                  <a:latin typeface="Times New Roman" pitchFamily="18" charset="0"/>
                </a:rPr>
                <a:t>k</a:t>
              </a:r>
              <a:r>
                <a:rPr lang="en-US" dirty="0">
                  <a:latin typeface="Times New Roman" pitchFamily="18" charset="0"/>
                </a:rPr>
                <a:t> (1-p)</a:t>
              </a:r>
              <a:r>
                <a:rPr lang="en-US" baseline="30000" dirty="0">
                  <a:latin typeface="Times New Roman" pitchFamily="18" charset="0"/>
                </a:rPr>
                <a:t>n-k</a:t>
              </a:r>
            </a:p>
          </p:txBody>
        </p:sp>
      </p:grp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6384925" y="1312862"/>
            <a:ext cx="265906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=    n!    * p</a:t>
            </a:r>
            <a:r>
              <a:rPr lang="en-US" baseline="30000">
                <a:latin typeface="Times New Roman" pitchFamily="18" charset="0"/>
              </a:rPr>
              <a:t>k</a:t>
            </a:r>
            <a:r>
              <a:rPr lang="en-US">
                <a:latin typeface="Times New Roman" pitchFamily="18" charset="0"/>
              </a:rPr>
              <a:t> (1-p)</a:t>
            </a:r>
            <a:r>
              <a:rPr lang="en-US" baseline="30000">
                <a:latin typeface="Times New Roman" pitchFamily="18" charset="0"/>
              </a:rPr>
              <a:t>n-k</a:t>
            </a:r>
          </a:p>
          <a:p>
            <a:r>
              <a:rPr lang="en-US">
                <a:latin typeface="Times New Roman" pitchFamily="18" charset="0"/>
              </a:rPr>
              <a:t>  </a:t>
            </a: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>
            <a:off x="6629400" y="1804987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6629400" y="1804987"/>
            <a:ext cx="1149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k!(n-k)!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" y="5867400"/>
            <a:ext cx="46563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P(</a:t>
            </a:r>
            <a:r>
              <a:rPr lang="en-US" dirty="0" err="1">
                <a:solidFill>
                  <a:srgbClr val="FF0000"/>
                </a:solidFill>
              </a:rPr>
              <a:t>numHeads</a:t>
            </a:r>
            <a:r>
              <a:rPr lang="en-US" dirty="0">
                <a:solidFill>
                  <a:srgbClr val="FF0000"/>
                </a:solidFill>
              </a:rPr>
              <a:t> | ∏ ) </a:t>
            </a:r>
            <a:r>
              <a:rPr lang="en-US" dirty="0"/>
              <a:t>for every possible number of</a:t>
            </a:r>
          </a:p>
          <a:p>
            <a:r>
              <a:rPr lang="en-US" dirty="0"/>
              <a:t>Heads in 50 tosses</a:t>
            </a:r>
          </a:p>
          <a:p>
            <a:r>
              <a:rPr lang="en-US" dirty="0">
                <a:solidFill>
                  <a:srgbClr val="FF0000"/>
                </a:solidFill>
              </a:rPr>
              <a:t>A likelihood distribution</a:t>
            </a:r>
            <a:r>
              <a:rPr lang="en-US" dirty="0"/>
              <a:t>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76200"/>
            <a:ext cx="60198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turn the problem around.</a:t>
            </a:r>
          </a:p>
          <a:p>
            <a:endParaRPr lang="en-US" dirty="0"/>
          </a:p>
          <a:p>
            <a:r>
              <a:rPr lang="en-US" dirty="0"/>
              <a:t>Given some set of data which we call Y</a:t>
            </a:r>
            <a:r>
              <a:rPr lang="en-US" baseline="-25000" dirty="0"/>
              <a:t>1,</a:t>
            </a:r>
            <a:r>
              <a:rPr lang="en-US" dirty="0"/>
              <a:t>Y</a:t>
            </a:r>
            <a:r>
              <a:rPr lang="en-US" baseline="-25000" dirty="0"/>
              <a:t>2,</a:t>
            </a:r>
            <a:r>
              <a:rPr lang="en-US" dirty="0"/>
              <a:t>Y</a:t>
            </a:r>
            <a:r>
              <a:rPr lang="en-US" baseline="-25000" dirty="0"/>
              <a:t>3,</a:t>
            </a:r>
            <a:r>
              <a:rPr lang="en-US" dirty="0"/>
              <a:t>Y</a:t>
            </a:r>
            <a:r>
              <a:rPr lang="en-US" baseline="-25000" dirty="0"/>
              <a:t>4,</a:t>
            </a:r>
            <a:r>
              <a:rPr lang="en-US" dirty="0"/>
              <a:t>Y</a:t>
            </a:r>
            <a:r>
              <a:rPr lang="en-US" baseline="-25000" dirty="0"/>
              <a:t>5,</a:t>
            </a:r>
            <a:r>
              <a:rPr lang="en-US" dirty="0"/>
              <a:t>Y</a:t>
            </a:r>
            <a:r>
              <a:rPr lang="en-US" baseline="-25000" dirty="0"/>
              <a:t>6,</a:t>
            </a:r>
            <a:r>
              <a:rPr lang="en-US" dirty="0"/>
              <a:t>….,Y</a:t>
            </a:r>
            <a:r>
              <a:rPr lang="en-US" baseline="-25000" dirty="0"/>
              <a:t>N</a:t>
            </a:r>
          </a:p>
          <a:p>
            <a:endParaRPr lang="en-US" baseline="-25000" dirty="0"/>
          </a:p>
          <a:p>
            <a:r>
              <a:rPr lang="en-US" dirty="0"/>
              <a:t>For example ( “HTTHTTH” ) where H and T are tails.   </a:t>
            </a:r>
          </a:p>
          <a:p>
            <a:endParaRPr lang="en-US" dirty="0"/>
          </a:p>
          <a:p>
            <a:r>
              <a:rPr lang="en-US" dirty="0"/>
              <a:t>(We’ll just use “Y” for short to describe our data)</a:t>
            </a:r>
          </a:p>
          <a:p>
            <a:r>
              <a:rPr lang="en-US" baseline="-25000" dirty="0"/>
              <a:t> </a:t>
            </a:r>
            <a:r>
              <a:rPr lang="en-US" dirty="0"/>
              <a:t> </a:t>
            </a:r>
          </a:p>
          <a:p>
            <a:r>
              <a:rPr lang="en-US" dirty="0"/>
              <a:t>How do we calculate: </a:t>
            </a:r>
          </a:p>
        </p:txBody>
      </p:sp>
      <p:sp>
        <p:nvSpPr>
          <p:cNvPr id="5" name="Rectangle 4"/>
          <p:cNvSpPr/>
          <p:nvPr/>
        </p:nvSpPr>
        <p:spPr>
          <a:xfrm>
            <a:off x="3025181" y="2526268"/>
            <a:ext cx="1013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P( ∏ | 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19400"/>
            <a:ext cx="68224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our posterior probability distribution given some string of data…</a:t>
            </a:r>
          </a:p>
          <a:p>
            <a:endParaRPr lang="en-US" dirty="0"/>
          </a:p>
          <a:p>
            <a:r>
              <a:rPr lang="en-US" dirty="0"/>
              <a:t>We know….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9371" y="3962400"/>
            <a:ext cx="27190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 ∏ | Y) ~ p(Y| ∏ ) * p(∏) 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5400000" flipH="1" flipV="1">
            <a:off x="2133600" y="4495800"/>
            <a:ext cx="3810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7800" y="4724400"/>
            <a:ext cx="1085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Posterior</a:t>
            </a:r>
            <a:r>
              <a:rPr lang="en-US" dirty="0"/>
              <a:t> 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rot="16200000" flipV="1">
            <a:off x="3467100" y="4533900"/>
            <a:ext cx="5334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flipH="1">
            <a:off x="3276600" y="4800600"/>
            <a:ext cx="1783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likelihood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rot="5400000">
            <a:off x="4495800" y="3581400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76800" y="3212068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" y="5410200"/>
            <a:ext cx="92298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prior’s and likelihood’s can be continuous or discrete….</a:t>
            </a:r>
          </a:p>
          <a:p>
            <a:r>
              <a:rPr lang="en-US" dirty="0"/>
              <a:t>We’ll see in a bit that we can use the binomial as a likelihood and the beta distribution as a prior.</a:t>
            </a:r>
          </a:p>
          <a:p>
            <a:endParaRPr lang="en-US" dirty="0"/>
          </a:p>
          <a:p>
            <a:r>
              <a:rPr lang="en-US" dirty="0"/>
              <a:t>But let’s consider a discrete prior….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81000"/>
            <a:ext cx="5301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let’s say that we are unsure about the true value of </a:t>
            </a:r>
          </a:p>
        </p:txBody>
      </p:sp>
      <p:sp>
        <p:nvSpPr>
          <p:cNvPr id="5" name="Rectangle 4"/>
          <p:cNvSpPr/>
          <p:nvPr/>
        </p:nvSpPr>
        <p:spPr>
          <a:xfrm>
            <a:off x="5498388" y="381000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68246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1/3 sure that it is 0.3, 1/3 sure that it is 0.5, 1/3 sure that is 0.7.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1219200"/>
            <a:ext cx="71875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3 possible state in our Bayesian universe.</a:t>
            </a:r>
          </a:p>
          <a:p>
            <a:r>
              <a:rPr lang="en-US" dirty="0"/>
              <a:t>Whatever data we observe, ∏ can only ever have values of 0.3, 0.5 and 0.7</a:t>
            </a:r>
          </a:p>
          <a:p>
            <a:r>
              <a:rPr lang="en-US" dirty="0"/>
              <a:t>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143000" y="2895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219200" y="3657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76200" y="38100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76400" y="25146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30480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400" y="3733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5400000">
            <a:off x="838200" y="38100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54568" y="3048000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0.3</a:t>
            </a:r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2324099" y="3771900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62400" y="3048000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8400" y="36692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8188" y="3657600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0.5</a:t>
            </a:r>
          </a:p>
        </p:txBody>
      </p:sp>
      <p:cxnSp>
        <p:nvCxnSpPr>
          <p:cNvPr id="25" name="Straight Connector 24"/>
          <p:cNvCxnSpPr/>
          <p:nvPr/>
        </p:nvCxnSpPr>
        <p:spPr>
          <a:xfrm rot="5400000">
            <a:off x="3733800" y="38100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34082" y="2450068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143000" y="46482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33400" y="3048000"/>
            <a:ext cx="90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  <a:r>
              <a:rPr lang="en-US" baseline="-25000" dirty="0"/>
              <a:t>1</a:t>
            </a:r>
            <a:r>
              <a:rPr lang="en-US" dirty="0"/>
              <a:t> =0.3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3400" y="3886200"/>
            <a:ext cx="942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  <a:r>
              <a:rPr lang="en-US" baseline="-25000" dirty="0"/>
              <a:t> 2</a:t>
            </a:r>
            <a:r>
              <a:rPr lang="en-US" dirty="0"/>
              <a:t> =0.5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4736068"/>
            <a:ext cx="942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  <a:r>
              <a:rPr lang="en-US" baseline="-25000" dirty="0"/>
              <a:t> 3</a:t>
            </a:r>
            <a:r>
              <a:rPr lang="en-US" dirty="0"/>
              <a:t> =0.7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76400" y="481226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" y="38862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1143000" y="52578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6282" y="52578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819400" y="245006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“H”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1724" y="184046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7200" y="2438400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“T”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38400" y="47360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62400" y="4724400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5334000"/>
            <a:ext cx="1112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p(H) = </a:t>
            </a:r>
          </a:p>
          <a:p>
            <a:r>
              <a:rPr lang="en-US" dirty="0"/>
              <a:t>1/3(0.3 + </a:t>
            </a:r>
          </a:p>
          <a:p>
            <a:r>
              <a:rPr lang="en-US" dirty="0"/>
              <a:t>0.5 + 0.7) </a:t>
            </a:r>
          </a:p>
          <a:p>
            <a:r>
              <a:rPr lang="en-US" dirty="0"/>
              <a:t>= 0.5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62400" y="5334000"/>
            <a:ext cx="1112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p(T) = </a:t>
            </a:r>
          </a:p>
          <a:p>
            <a:r>
              <a:rPr lang="en-US" dirty="0"/>
              <a:t>1/3(0.7 + </a:t>
            </a:r>
          </a:p>
          <a:p>
            <a:r>
              <a:rPr lang="en-US" dirty="0"/>
              <a:t>0.5 + 0.3) </a:t>
            </a:r>
          </a:p>
          <a:p>
            <a:r>
              <a:rPr lang="en-US" dirty="0"/>
              <a:t>= 0.5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67400" y="3048000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67400" y="3897868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67400" y="4724400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1/3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143000" y="2895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19200" y="3657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76200" y="38100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76400" y="25146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30480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3733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</a:t>
            </a:r>
          </a:p>
        </p:txBody>
      </p:sp>
      <p:cxnSp>
        <p:nvCxnSpPr>
          <p:cNvPr id="14" name="Straight Connector 13"/>
          <p:cNvCxnSpPr/>
          <p:nvPr/>
        </p:nvCxnSpPr>
        <p:spPr>
          <a:xfrm rot="5400000">
            <a:off x="838200" y="38100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54568" y="3048000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0.3</a:t>
            </a:r>
          </a:p>
        </p:txBody>
      </p:sp>
      <p:cxnSp>
        <p:nvCxnSpPr>
          <p:cNvPr id="16" name="Straight Connector 15"/>
          <p:cNvCxnSpPr/>
          <p:nvPr/>
        </p:nvCxnSpPr>
        <p:spPr>
          <a:xfrm rot="5400000">
            <a:off x="2324099" y="3771900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62400" y="3048000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400" y="36692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8188" y="3657600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0.5</a:t>
            </a:r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33800" y="38100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4082" y="2450068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1143000" y="46482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33400" y="3048000"/>
            <a:ext cx="90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  <a:r>
              <a:rPr lang="en-US" baseline="-25000" dirty="0"/>
              <a:t>1</a:t>
            </a:r>
            <a:r>
              <a:rPr lang="en-US" dirty="0"/>
              <a:t> =0.3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3886200"/>
            <a:ext cx="942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  <a:r>
              <a:rPr lang="en-US" baseline="-25000" dirty="0"/>
              <a:t> 2</a:t>
            </a:r>
            <a:r>
              <a:rPr lang="en-US" dirty="0"/>
              <a:t> =0.5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3400" y="4736068"/>
            <a:ext cx="942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  <a:r>
              <a:rPr lang="en-US" baseline="-25000" dirty="0"/>
              <a:t> 3</a:t>
            </a:r>
            <a:r>
              <a:rPr lang="en-US" dirty="0"/>
              <a:t> =0.7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6400" y="481226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" y="38862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1143000" y="52578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6282" y="52578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819400" y="245006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“H”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1724" y="184046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67200" y="2438400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“T”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400" y="47360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2400" y="4724400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5334000"/>
            <a:ext cx="1112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p(H) = </a:t>
            </a:r>
          </a:p>
          <a:p>
            <a:r>
              <a:rPr lang="en-US" dirty="0"/>
              <a:t>1/3(0.3 + </a:t>
            </a:r>
          </a:p>
          <a:p>
            <a:r>
              <a:rPr lang="en-US" dirty="0"/>
              <a:t>0.5 + 0.7) </a:t>
            </a:r>
          </a:p>
          <a:p>
            <a:r>
              <a:rPr lang="en-US" dirty="0"/>
              <a:t>= 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2400" y="5334000"/>
            <a:ext cx="1112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p(T) = </a:t>
            </a:r>
          </a:p>
          <a:p>
            <a:r>
              <a:rPr lang="en-US" dirty="0"/>
              <a:t>1/3(0.7 + </a:t>
            </a:r>
          </a:p>
          <a:p>
            <a:r>
              <a:rPr lang="en-US" dirty="0"/>
              <a:t>0.5 + 0.3) </a:t>
            </a:r>
          </a:p>
          <a:p>
            <a:r>
              <a:rPr lang="en-US" dirty="0"/>
              <a:t>= 0.5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67400" y="3048000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67400" y="3897868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67400" y="4724400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5400" y="11668"/>
            <a:ext cx="2342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we observe a “Head”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rot="5400000">
            <a:off x="2819003" y="2133203"/>
            <a:ext cx="457200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981200" y="457200"/>
            <a:ext cx="389401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 ∏</a:t>
            </a:r>
            <a:r>
              <a:rPr lang="en-US" baseline="-25000" dirty="0"/>
              <a:t> 1</a:t>
            </a:r>
            <a:r>
              <a:rPr lang="en-US" dirty="0"/>
              <a:t> | “H”) = (1/3) * 0.3 / 0.5 = 0.2</a:t>
            </a:r>
          </a:p>
          <a:p>
            <a:r>
              <a:rPr lang="en-US" dirty="0"/>
              <a:t>P( ∏</a:t>
            </a:r>
            <a:r>
              <a:rPr lang="en-US" baseline="-25000" dirty="0"/>
              <a:t> 2</a:t>
            </a:r>
            <a:r>
              <a:rPr lang="en-US" dirty="0"/>
              <a:t> | “H”) = (1/3) * 0.5 / 0.5 = 0.3333</a:t>
            </a:r>
          </a:p>
          <a:p>
            <a:r>
              <a:rPr lang="en-US" dirty="0"/>
              <a:t>P( ∏</a:t>
            </a:r>
            <a:r>
              <a:rPr lang="en-US" baseline="-25000" dirty="0"/>
              <a:t> 2</a:t>
            </a:r>
            <a:r>
              <a:rPr lang="en-US" dirty="0"/>
              <a:t> | “H”) = (1/3) * 0.7 / 0.5 = 0.4667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1459468"/>
            <a:ext cx="7659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become more sure that the “true” probability is 0.7 and less sure that is 0.3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143000" y="2895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219200" y="3657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>
            <a:off x="76200" y="38100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76400" y="25146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30480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6400" y="3733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</a:t>
            </a:r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838200" y="38100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54568" y="3048000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0.3</a:t>
            </a:r>
          </a:p>
        </p:txBody>
      </p:sp>
      <p:cxnSp>
        <p:nvCxnSpPr>
          <p:cNvPr id="12" name="Straight Connector 11"/>
          <p:cNvCxnSpPr/>
          <p:nvPr/>
        </p:nvCxnSpPr>
        <p:spPr>
          <a:xfrm rot="5400000">
            <a:off x="2324099" y="3771900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962400" y="3048000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400" y="36692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8188" y="3657600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0.5</a:t>
            </a:r>
          </a:p>
        </p:txBody>
      </p:sp>
      <p:cxnSp>
        <p:nvCxnSpPr>
          <p:cNvPr id="16" name="Straight Connector 15"/>
          <p:cNvCxnSpPr/>
          <p:nvPr/>
        </p:nvCxnSpPr>
        <p:spPr>
          <a:xfrm rot="5400000">
            <a:off x="3733800" y="38100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34082" y="2450068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143000" y="46482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33400" y="3048000"/>
            <a:ext cx="90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  <a:r>
              <a:rPr lang="en-US" baseline="-25000" dirty="0"/>
              <a:t>1</a:t>
            </a:r>
            <a:r>
              <a:rPr lang="en-US" dirty="0"/>
              <a:t> =0.3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3886200"/>
            <a:ext cx="942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  <a:r>
              <a:rPr lang="en-US" baseline="-25000" dirty="0"/>
              <a:t> 2</a:t>
            </a:r>
            <a:r>
              <a:rPr lang="en-US" dirty="0"/>
              <a:t> =0.5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4736068"/>
            <a:ext cx="942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  <a:r>
              <a:rPr lang="en-US" baseline="-25000" dirty="0"/>
              <a:t> 3</a:t>
            </a:r>
            <a:r>
              <a:rPr lang="en-US" dirty="0"/>
              <a:t> =0.7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6400" y="481226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38862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1143000" y="52578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282" y="52578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819400" y="245006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“H”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1724" y="184046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7200" y="2438400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“T”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8400" y="47360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2400" y="4724400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 * 0.3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5334000"/>
            <a:ext cx="1112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p(H) = </a:t>
            </a:r>
          </a:p>
          <a:p>
            <a:r>
              <a:rPr lang="en-US" dirty="0"/>
              <a:t>1/3(0.3 + </a:t>
            </a:r>
          </a:p>
          <a:p>
            <a:r>
              <a:rPr lang="en-US" dirty="0"/>
              <a:t>0.5 + 0.7) </a:t>
            </a:r>
          </a:p>
          <a:p>
            <a:r>
              <a:rPr lang="en-US" dirty="0"/>
              <a:t>= 0.5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2400" y="5334000"/>
            <a:ext cx="1112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p(T) = </a:t>
            </a:r>
          </a:p>
          <a:p>
            <a:r>
              <a:rPr lang="en-US" dirty="0"/>
              <a:t>1/3(0.7 + </a:t>
            </a:r>
          </a:p>
          <a:p>
            <a:r>
              <a:rPr lang="en-US" dirty="0"/>
              <a:t>0.5 + 0.3) </a:t>
            </a:r>
          </a:p>
          <a:p>
            <a:r>
              <a:rPr lang="en-US" dirty="0"/>
              <a:t>= 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67400" y="3048000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67400" y="3897868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67400" y="4724400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1/3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5400" y="11668"/>
            <a:ext cx="217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we observe a “Tail”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rot="5400000">
            <a:off x="4267597" y="2133203"/>
            <a:ext cx="457200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981200" y="448270"/>
            <a:ext cx="389401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 ∏</a:t>
            </a:r>
            <a:r>
              <a:rPr lang="en-US" baseline="-25000" dirty="0"/>
              <a:t> 1</a:t>
            </a:r>
            <a:r>
              <a:rPr lang="en-US" dirty="0"/>
              <a:t> | “T”) = (1/3) * 0.7 / 0.5 = 0.4667</a:t>
            </a:r>
          </a:p>
          <a:p>
            <a:r>
              <a:rPr lang="en-US" dirty="0"/>
              <a:t>P( ∏</a:t>
            </a:r>
            <a:r>
              <a:rPr lang="en-US" baseline="-25000" dirty="0"/>
              <a:t> 2</a:t>
            </a:r>
            <a:r>
              <a:rPr lang="en-US" dirty="0"/>
              <a:t> | “T”) = (1/3) * 0.5 / 0.5 = 0.3333</a:t>
            </a:r>
          </a:p>
          <a:p>
            <a:r>
              <a:rPr lang="en-US" dirty="0"/>
              <a:t>P( ∏</a:t>
            </a:r>
            <a:r>
              <a:rPr lang="en-US" baseline="-25000" dirty="0"/>
              <a:t> 2</a:t>
            </a:r>
            <a:r>
              <a:rPr lang="en-US" dirty="0"/>
              <a:t> | “T”) = (1/3) * 0.3 / 0.5 = 0.2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1459468"/>
            <a:ext cx="7659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become more sure that the “true” probability is 0.3 and less sure that is 0.7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240268"/>
            <a:ext cx="1787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R…. for a Head</a:t>
            </a:r>
          </a:p>
        </p:txBody>
      </p:sp>
      <p:pic>
        <p:nvPicPr>
          <p:cNvPr id="1105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5105400"/>
            <a:ext cx="3133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05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1" y="904875"/>
            <a:ext cx="8763000" cy="3706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7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91000" y="228600"/>
            <a:ext cx="4572000" cy="1392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240268"/>
            <a:ext cx="1586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R…. for a tail</a:t>
            </a:r>
          </a:p>
        </p:txBody>
      </p:sp>
      <p:pic>
        <p:nvPicPr>
          <p:cNvPr id="1116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99" y="4876800"/>
            <a:ext cx="328091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6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85800"/>
            <a:ext cx="9010650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143000" y="2895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219200" y="36576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5400000">
            <a:off x="76200" y="38100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676400" y="25146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6400" y="30480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3733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1/3</a:t>
            </a:r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838200" y="3810000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54568" y="3048000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 * 0.3</a:t>
            </a:r>
          </a:p>
        </p:txBody>
      </p:sp>
      <p:cxnSp>
        <p:nvCxnSpPr>
          <p:cNvPr id="13" name="Straight Connector 12"/>
          <p:cNvCxnSpPr/>
          <p:nvPr/>
        </p:nvCxnSpPr>
        <p:spPr>
          <a:xfrm rot="5400000">
            <a:off x="2324099" y="3771900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62400" y="3048000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 * 0.7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8400" y="366926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0.333 * 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8188" y="36576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0.333 * 0.5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5400000">
            <a:off x="3733800" y="38100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34082" y="2450068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1143000" y="46482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37212" y="3048000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  <a:r>
              <a:rPr lang="en-US" baseline="-25000" dirty="0"/>
              <a:t>1</a:t>
            </a:r>
            <a:r>
              <a:rPr lang="en-US" dirty="0"/>
              <a:t> | H=0.2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" y="3886200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  <a:r>
              <a:rPr lang="en-US" baseline="-25000" dirty="0"/>
              <a:t> 2</a:t>
            </a:r>
            <a:r>
              <a:rPr lang="en-US" dirty="0"/>
              <a:t> | H=0.333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2400" y="4736068"/>
            <a:ext cx="12939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∏</a:t>
            </a:r>
            <a:r>
              <a:rPr lang="en-US" baseline="-25000" dirty="0"/>
              <a:t> 3</a:t>
            </a:r>
            <a:r>
              <a:rPr lang="en-US" dirty="0"/>
              <a:t> =0.4667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4812268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0.4667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143000" y="5257800"/>
            <a:ext cx="647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282" y="52578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</a:t>
            </a:r>
            <a:r>
              <a:rPr lang="en-US" dirty="0" err="1"/>
              <a:t>probs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819400" y="245006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“H”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1724" y="184046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7200" y="2438400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“T”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8400" y="4736068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0.4667 * 0.7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0" y="4724400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0.4667 * 0.3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334000"/>
            <a:ext cx="997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p(H) =</a:t>
            </a:r>
          </a:p>
          <a:p>
            <a:r>
              <a:rPr lang="en-US" dirty="0"/>
              <a:t>0.55319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2400" y="5334000"/>
            <a:ext cx="997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p(T) =</a:t>
            </a:r>
          </a:p>
          <a:p>
            <a:r>
              <a:rPr lang="en-US" dirty="0"/>
              <a:t>0.44651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67400" y="3048000"/>
            <a:ext cx="476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67400" y="3897868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0.3333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67400" y="4724400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0.4667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5400" y="11668"/>
            <a:ext cx="3436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Observing </a:t>
            </a:r>
            <a:r>
              <a:rPr lang="en-US" dirty="0"/>
              <a:t>a “Head” and then a tail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rot="5400000">
            <a:off x="4343797" y="2133203"/>
            <a:ext cx="457200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981200" y="457200"/>
            <a:ext cx="46768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 ∏</a:t>
            </a:r>
            <a:r>
              <a:rPr lang="en-US" baseline="-25000" dirty="0"/>
              <a:t> 1</a:t>
            </a:r>
            <a:r>
              <a:rPr lang="en-US" dirty="0"/>
              <a:t> | “HT”) = 0.2 * 0.7 /0.44651       =  0.313 </a:t>
            </a:r>
          </a:p>
          <a:p>
            <a:r>
              <a:rPr lang="en-US" dirty="0"/>
              <a:t>P( ∏</a:t>
            </a:r>
            <a:r>
              <a:rPr lang="en-US" baseline="-25000" dirty="0"/>
              <a:t> 2</a:t>
            </a:r>
            <a:r>
              <a:rPr lang="en-US" dirty="0"/>
              <a:t> | “HT”) = 0.333 * 0.5 / 0.44651  = 0.373</a:t>
            </a:r>
          </a:p>
          <a:p>
            <a:r>
              <a:rPr lang="en-US" dirty="0"/>
              <a:t>P( ∏</a:t>
            </a:r>
            <a:r>
              <a:rPr lang="en-US" baseline="-25000" dirty="0"/>
              <a:t> 2</a:t>
            </a:r>
            <a:r>
              <a:rPr lang="en-US" dirty="0"/>
              <a:t> | “HT”) = 0.4667 * 0.3 / 0.44651= 0.313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1459468"/>
            <a:ext cx="7659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become more sure that the “true” probability is 0.7 and less sure that is 0.3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1000" y="6172200"/>
            <a:ext cx="8553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Notice that we don’t return to the uniform prior.  We are more certain that p(Heads) =0.5</a:t>
            </a:r>
          </a:p>
          <a:p>
            <a:r>
              <a:rPr lang="en-US" dirty="0"/>
              <a:t>and less certain that the coin is in either of the other states…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381000"/>
            <a:ext cx="16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R for (“HT”)…</a:t>
            </a: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990600"/>
            <a:ext cx="8810136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4724400"/>
            <a:ext cx="3788229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381000"/>
            <a:ext cx="678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Which is the same for (“TH”) although we get there in a different way…</a:t>
            </a:r>
          </a:p>
        </p:txBody>
      </p:sp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990600"/>
            <a:ext cx="8547162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78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4419600"/>
            <a:ext cx="326683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-76200"/>
            <a:ext cx="3843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Updating one a at time for p(head) = .6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28600"/>
            <a:ext cx="7200900" cy="622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6488668"/>
            <a:ext cx="975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https://github.com/afodor/afodor.github.io/blob/master/classes/stats2015/discretPriors.txt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66975" y="609600"/>
            <a:ext cx="6219825" cy="610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81000" y="76200"/>
            <a:ext cx="6874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requirement that ∏ can only ever have values of 0.3, 0.5 and 0.7 is </a:t>
            </a:r>
          </a:p>
          <a:p>
            <a:r>
              <a:rPr lang="en-US" dirty="0"/>
              <a:t>not really appropriate  for our model…</a:t>
            </a:r>
          </a:p>
        </p:txBody>
      </p:sp>
      <p:pic>
        <p:nvPicPr>
          <p:cNvPr id="27649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19600" y="609600"/>
            <a:ext cx="24574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28925" y="533400"/>
            <a:ext cx="6315075" cy="590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228600"/>
            <a:ext cx="37814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8600" y="1219200"/>
            <a:ext cx="2667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instabilities together with chance</a:t>
            </a:r>
          </a:p>
          <a:p>
            <a:r>
              <a:rPr lang="en-US" dirty="0"/>
              <a:t>runs at the beginning</a:t>
            </a:r>
          </a:p>
          <a:p>
            <a:r>
              <a:rPr lang="en-US" dirty="0"/>
              <a:t>lead us to different results</a:t>
            </a:r>
          </a:p>
          <a:p>
            <a:r>
              <a:rPr lang="en-US" dirty="0"/>
              <a:t>when we run the model..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429000"/>
            <a:ext cx="2544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Clearly a continuous</a:t>
            </a:r>
          </a:p>
          <a:p>
            <a:r>
              <a:rPr lang="en-US" dirty="0"/>
              <a:t>prior is more appropriate</a:t>
            </a:r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8200" y="619125"/>
            <a:ext cx="27051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533400"/>
            <a:ext cx="7086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Bayesian approach to the binomial distribution with a discrete prior</a:t>
            </a:r>
          </a:p>
          <a:p>
            <a:r>
              <a:rPr lang="en-US" dirty="0"/>
              <a:t>The beta distribution</a:t>
            </a:r>
          </a:p>
          <a:p>
            <a:r>
              <a:rPr lang="en-US" dirty="0"/>
              <a:t>Bayesian approach to the binomial distribution with a continuous prior</a:t>
            </a:r>
          </a:p>
          <a:p>
            <a:r>
              <a:rPr lang="en-US" dirty="0"/>
              <a:t>Implementation of the beta distribution</a:t>
            </a:r>
          </a:p>
          <a:p>
            <a:r>
              <a:rPr lang="en-US" dirty="0"/>
              <a:t>Controversy in frequentist vs. Bayesian approach to inference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10800000">
            <a:off x="2895600" y="9906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312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use the continuous beta distribution to describe my beliefs about all possible values of ∏ </a:t>
            </a:r>
          </a:p>
          <a:p>
            <a:r>
              <a:rPr lang="en-US" dirty="0"/>
              <a:t>p(∏ | Y) can be given by the beta distribution! 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600200"/>
            <a:ext cx="45565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http://en.wikipedia.org/wiki/Beta_distribution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38600" y="4114800"/>
            <a:ext cx="4474846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0" y="4734342"/>
            <a:ext cx="42453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used to model the results of </a:t>
            </a:r>
          </a:p>
          <a:p>
            <a:r>
              <a:rPr lang="en-US" dirty="0"/>
              <a:t>the binomial distribution, </a:t>
            </a:r>
          </a:p>
          <a:p>
            <a:r>
              <a:rPr lang="el-GR" dirty="0"/>
              <a:t>α</a:t>
            </a:r>
            <a:r>
              <a:rPr lang="en-US" dirty="0"/>
              <a:t> is related to the number of successes </a:t>
            </a:r>
          </a:p>
          <a:p>
            <a:r>
              <a:rPr lang="en-US" dirty="0"/>
              <a:t>and </a:t>
            </a:r>
            <a:r>
              <a:rPr lang="el-GR" dirty="0"/>
              <a:t>β</a:t>
            </a:r>
            <a:r>
              <a:rPr lang="en-US" dirty="0"/>
              <a:t> is related to the number of failures….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10200" y="1219200"/>
            <a:ext cx="3286125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99" y="2057400"/>
            <a:ext cx="5266601" cy="16331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400" y="3962400"/>
            <a:ext cx="28127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ranges from 0 to 1</a:t>
            </a:r>
          </a:p>
          <a:p>
            <a:r>
              <a:rPr lang="el-GR" dirty="0"/>
              <a:t>α</a:t>
            </a:r>
            <a:r>
              <a:rPr lang="en-US" dirty="0"/>
              <a:t> and </a:t>
            </a:r>
            <a:r>
              <a:rPr lang="el-GR" dirty="0"/>
              <a:t>β</a:t>
            </a:r>
            <a:r>
              <a:rPr lang="en-US" dirty="0"/>
              <a:t> are free parameters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522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usual in R, we have </a:t>
            </a:r>
            <a:r>
              <a:rPr lang="en-US" dirty="0" err="1"/>
              <a:t>dbeta</a:t>
            </a:r>
            <a:r>
              <a:rPr lang="en-US" dirty="0"/>
              <a:t>, </a:t>
            </a:r>
            <a:r>
              <a:rPr lang="en-US" dirty="0" err="1"/>
              <a:t>pbeta</a:t>
            </a:r>
            <a:r>
              <a:rPr lang="en-US" dirty="0"/>
              <a:t>, </a:t>
            </a:r>
            <a:r>
              <a:rPr lang="en-US" dirty="0" err="1"/>
              <a:t>qbeta</a:t>
            </a:r>
            <a:r>
              <a:rPr lang="en-US" dirty="0"/>
              <a:t> and </a:t>
            </a:r>
            <a:r>
              <a:rPr lang="en-US" dirty="0" err="1"/>
              <a:t>rbeta</a:t>
            </a:r>
            <a:r>
              <a:rPr lang="en-US" dirty="0"/>
              <a:t>..</a:t>
            </a:r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990600"/>
            <a:ext cx="8363706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09600" y="5181600"/>
            <a:ext cx="944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think of </a:t>
            </a:r>
            <a:r>
              <a:rPr lang="el-GR" dirty="0"/>
              <a:t>α</a:t>
            </a:r>
            <a:r>
              <a:rPr lang="en-US" dirty="0"/>
              <a:t> (shape1 in R) as (number of observed successes+1) </a:t>
            </a:r>
          </a:p>
          <a:p>
            <a:r>
              <a:rPr lang="en-US" dirty="0"/>
              <a:t>and </a:t>
            </a:r>
            <a:r>
              <a:rPr lang="el-GR" dirty="0"/>
              <a:t>β</a:t>
            </a:r>
            <a:r>
              <a:rPr lang="en-US" dirty="0"/>
              <a:t> (shaple2 in R) as (number of observed failures+1) </a:t>
            </a:r>
          </a:p>
          <a:p>
            <a:endParaRPr lang="en-US" dirty="0"/>
          </a:p>
          <a:p>
            <a:r>
              <a:rPr lang="en-US" dirty="0"/>
              <a:t>                   (proof of that coming up!)</a:t>
            </a:r>
          </a:p>
          <a:p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2329761"/>
            <a:ext cx="4171950" cy="3994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1" y="1004693"/>
            <a:ext cx="7619999" cy="123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04800" y="76200"/>
            <a:ext cx="87936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we use </a:t>
            </a:r>
            <a:r>
              <a:rPr lang="el-GR" dirty="0"/>
              <a:t>α</a:t>
            </a:r>
            <a:r>
              <a:rPr lang="en-US" dirty="0"/>
              <a:t> and </a:t>
            </a:r>
            <a:r>
              <a:rPr lang="el-GR" dirty="0"/>
              <a:t>β</a:t>
            </a:r>
            <a:r>
              <a:rPr lang="en-US" dirty="0"/>
              <a:t> as the shape constants and the beta distribution gives us the </a:t>
            </a:r>
          </a:p>
          <a:p>
            <a:r>
              <a:rPr lang="en-US" dirty="0"/>
              <a:t>probability density of ∏.  In each plot (i.e. for each set of values for </a:t>
            </a:r>
            <a:r>
              <a:rPr lang="el-GR" dirty="0"/>
              <a:t>α</a:t>
            </a:r>
            <a:r>
              <a:rPr lang="en-US" dirty="0"/>
              <a:t> and </a:t>
            </a:r>
            <a:r>
              <a:rPr lang="el-GR" dirty="0"/>
              <a:t>β</a:t>
            </a:r>
            <a:r>
              <a:rPr lang="en-US" dirty="0"/>
              <a:t>), we are holding</a:t>
            </a:r>
          </a:p>
          <a:p>
            <a:r>
              <a:rPr lang="en-US" dirty="0"/>
              <a:t>the results of the experiment constant and varying possible values of ∏ from 0 to 1)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1" y="2209800"/>
            <a:ext cx="4267200" cy="4155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2133600" y="3200400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heads</a:t>
            </a:r>
          </a:p>
          <a:p>
            <a:r>
              <a:rPr lang="en-US" dirty="0"/>
              <a:t>40 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281" y="6321623"/>
            <a:ext cx="4376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itchFamily="34" charset="0"/>
              </a:rPr>
              <a:t>(</a:t>
            </a:r>
            <a:r>
              <a:rPr lang="en-US" sz="1400" dirty="0" err="1">
                <a:latin typeface="Arial" pitchFamily="34" charset="0"/>
              </a:rPr>
              <a:t>prob</a:t>
            </a:r>
            <a:r>
              <a:rPr lang="en-US" sz="1400" dirty="0">
                <a:latin typeface="Arial" pitchFamily="34" charset="0"/>
              </a:rPr>
              <a:t> of the coin generating a head|10 heads,40tails)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0" y="3200400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 heads</a:t>
            </a:r>
          </a:p>
          <a:p>
            <a:r>
              <a:rPr lang="en-US" dirty="0"/>
              <a:t>25 tails</a:t>
            </a: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33600" y="2667000"/>
            <a:ext cx="24669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00800" y="2209800"/>
            <a:ext cx="23812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381000" y="6488668"/>
            <a:ext cx="5693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rule is to add 1 to the number of successes and failures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000" y="6172200"/>
            <a:ext cx="5562600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352800" y="6096000"/>
            <a:ext cx="5562600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767481" y="6096000"/>
            <a:ext cx="4376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itchFamily="34" charset="0"/>
              </a:rPr>
              <a:t>(</a:t>
            </a:r>
            <a:r>
              <a:rPr lang="en-US" sz="1400" dirty="0" err="1">
                <a:latin typeface="Arial" pitchFamily="34" charset="0"/>
              </a:rPr>
              <a:t>prob</a:t>
            </a:r>
            <a:r>
              <a:rPr lang="en-US" sz="1400" dirty="0">
                <a:latin typeface="Arial" pitchFamily="34" charset="0"/>
              </a:rPr>
              <a:t> of the coin generating a head|25 heads,25tails)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457325"/>
            <a:ext cx="248602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04800" y="457200"/>
            <a:ext cx="31580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uniformed prior.  </a:t>
            </a:r>
          </a:p>
          <a:p>
            <a:r>
              <a:rPr lang="en-US" dirty="0"/>
              <a:t>My beliefs before I see any data</a:t>
            </a:r>
          </a:p>
          <a:p>
            <a:r>
              <a:rPr lang="en-US" dirty="0"/>
              <a:t>(the uniform distribution!)</a:t>
            </a:r>
          </a:p>
        </p:txBody>
      </p:sp>
      <p:pic>
        <p:nvPicPr>
          <p:cNvPr id="11981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2019300"/>
            <a:ext cx="402623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600200" y="2743200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heads</a:t>
            </a:r>
          </a:p>
          <a:p>
            <a:r>
              <a:rPr lang="en-US" dirty="0"/>
              <a:t>0 tails </a:t>
            </a:r>
          </a:p>
        </p:txBody>
      </p:sp>
      <p:pic>
        <p:nvPicPr>
          <p:cNvPr id="11981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86400" y="1066800"/>
            <a:ext cx="2514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562600" y="685800"/>
            <a:ext cx="3412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seeing one head and one tail</a:t>
            </a:r>
          </a:p>
        </p:txBody>
      </p:sp>
      <p:pic>
        <p:nvPicPr>
          <p:cNvPr id="119813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24400" y="1828800"/>
            <a:ext cx="4114800" cy="4076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6400800" y="3087469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heads</a:t>
            </a:r>
          </a:p>
          <a:p>
            <a:r>
              <a:rPr lang="en-US" dirty="0"/>
              <a:t>1 tails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28600"/>
            <a:ext cx="8915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I integrate the beta distribution from 0 to 1, the result is 1.</a:t>
            </a:r>
          </a:p>
          <a:p>
            <a:r>
              <a:rPr lang="en-US" dirty="0"/>
              <a:t>Conceptually, for a given result, the sum of the probabilities of all the possible values of ∏ is 1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143000"/>
            <a:ext cx="457390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762000" y="5181600"/>
            <a:ext cx="5815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beta function guarantees an integral of 1 along ∏ = {0,1}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99" y="3015095"/>
            <a:ext cx="5266601" cy="16331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533400"/>
            <a:ext cx="7086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Bayesian approach to the binomial distribution with a discrete prior</a:t>
            </a:r>
          </a:p>
          <a:p>
            <a:r>
              <a:rPr lang="en-US" dirty="0"/>
              <a:t>The beta distribution</a:t>
            </a:r>
          </a:p>
          <a:p>
            <a:r>
              <a:rPr lang="en-US" dirty="0"/>
              <a:t>Bayesian approach to the binomial distribution with a continuous prior</a:t>
            </a:r>
          </a:p>
          <a:p>
            <a:r>
              <a:rPr lang="en-US" dirty="0"/>
              <a:t>Implementation of the beta distribution</a:t>
            </a:r>
          </a:p>
          <a:p>
            <a:r>
              <a:rPr lang="en-US" dirty="0"/>
              <a:t>Controversy in frequentist vs. Bayesian approach to inference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rot="10800000">
            <a:off x="7543800" y="12192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43000" y="0"/>
            <a:ext cx="76278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Bayes</a:t>
            </a:r>
            <a:r>
              <a:rPr lang="en-US" dirty="0"/>
              <a:t> law – </a:t>
            </a:r>
          </a:p>
          <a:p>
            <a:r>
              <a:rPr lang="en-US" dirty="0"/>
              <a:t>	Incorporating new data.</a:t>
            </a:r>
          </a:p>
          <a:p>
            <a:endParaRPr lang="en-US" dirty="0"/>
          </a:p>
          <a:p>
            <a:r>
              <a:rPr lang="en-US" dirty="0"/>
              <a:t>	We have a prior belief about some distribution.</a:t>
            </a:r>
          </a:p>
          <a:p>
            <a:r>
              <a:rPr lang="en-US" dirty="0"/>
              <a:t>	Say we don’t think there is ESP based on experiments with 18 people.</a:t>
            </a:r>
          </a:p>
          <a:p>
            <a:r>
              <a:rPr lang="en-US" dirty="0"/>
              <a:t>	(Nine people guessed right; nine people guessed wrong)</a:t>
            </a:r>
          </a:p>
          <a:p>
            <a:endParaRPr lang="en-US" dirty="0"/>
          </a:p>
          <a:p>
            <a:r>
              <a:rPr lang="en-US" dirty="0"/>
              <a:t>	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752600"/>
            <a:ext cx="7954678" cy="36933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Our prior probability distribution = ∏</a:t>
            </a:r>
            <a:r>
              <a:rPr lang="en-US" baseline="-25000" dirty="0"/>
              <a:t>prior</a:t>
            </a:r>
            <a:r>
              <a:rPr lang="en-US" dirty="0"/>
              <a:t> = g(∏) = beta(10,10)</a:t>
            </a:r>
          </a:p>
          <a:p>
            <a:endParaRPr lang="en-US" dirty="0"/>
          </a:p>
          <a:p>
            <a:r>
              <a:rPr lang="en-US" dirty="0"/>
              <a:t>We have a new set of data (we call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): 14 people choose right, 11 choose wrong.</a:t>
            </a:r>
          </a:p>
          <a:p>
            <a:r>
              <a:rPr lang="en-US" dirty="0"/>
              <a:t>We want to update our model:</a:t>
            </a:r>
          </a:p>
          <a:p>
            <a:endParaRPr lang="en-US" dirty="0"/>
          </a:p>
          <a:p>
            <a:r>
              <a:rPr lang="en-US" dirty="0"/>
              <a:t>For all ∏ along the range 0 to 1, we define p(∏) as the probability given by beta</a:t>
            </a:r>
          </a:p>
          <a:p>
            <a:endParaRPr lang="en-US" dirty="0"/>
          </a:p>
          <a:p>
            <a:r>
              <a:rPr lang="en-US" dirty="0"/>
              <a:t>	 p(∏ ,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baseline="-25000" dirty="0"/>
              <a:t> </a:t>
            </a:r>
            <a:r>
              <a:rPr lang="en-US" dirty="0"/>
              <a:t>) = p(∏) * 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| ∏ ) </a:t>
            </a:r>
          </a:p>
          <a:p>
            <a:r>
              <a:rPr lang="en-US" dirty="0"/>
              <a:t>	 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baseline="-25000" dirty="0"/>
              <a:t> 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/>
              <a:t>∏ ) = 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* 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	 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= p(∏) * 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| ∏ )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895600" y="48768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429000" y="4964668"/>
            <a:ext cx="8161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5754469"/>
            <a:ext cx="73895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we can calculate this along ∏ = {0,1} then  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 will describe a new </a:t>
            </a:r>
          </a:p>
          <a:p>
            <a:r>
              <a:rPr lang="en-US" dirty="0"/>
              <a:t>distribution which is our updated belief about all values of ∏ between {0,1}</a:t>
            </a:r>
          </a:p>
          <a:p>
            <a:r>
              <a:rPr lang="en-US" dirty="0"/>
              <a:t>given the new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81000" y="1610141"/>
            <a:ext cx="4211153" cy="1200329"/>
            <a:chOff x="609600" y="1771471"/>
            <a:chExt cx="4211153" cy="1200329"/>
          </a:xfrm>
        </p:grpSpPr>
        <p:sp>
          <p:nvSpPr>
            <p:cNvPr id="4" name="Rectangle 3"/>
            <p:cNvSpPr/>
            <p:nvPr/>
          </p:nvSpPr>
          <p:spPr>
            <a:xfrm>
              <a:off x="609600" y="1771471"/>
              <a:ext cx="4211153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dirty="0"/>
            </a:p>
            <a:p>
              <a:r>
                <a:rPr lang="en-US" dirty="0"/>
                <a:t>	 p(∏ | </a:t>
              </a:r>
              <a:r>
                <a:rPr lang="en-US" dirty="0" err="1"/>
                <a:t>Y</a:t>
              </a:r>
              <a:r>
                <a:rPr lang="en-US" baseline="-25000" dirty="0" err="1"/>
                <a:t>new</a:t>
              </a:r>
              <a:r>
                <a:rPr lang="en-US" dirty="0"/>
                <a:t> ) = p(∏) * p(</a:t>
              </a:r>
              <a:r>
                <a:rPr lang="en-US" dirty="0" err="1"/>
                <a:t>Y</a:t>
              </a:r>
              <a:r>
                <a:rPr lang="en-US" baseline="-25000" dirty="0" err="1"/>
                <a:t>new</a:t>
              </a:r>
              <a:r>
                <a:rPr lang="en-US" dirty="0"/>
                <a:t> | ∏ )</a:t>
              </a:r>
            </a:p>
            <a:p>
              <a:r>
                <a:rPr lang="en-US" dirty="0"/>
                <a:t>	</a:t>
              </a:r>
            </a:p>
            <a:p>
              <a:r>
                <a:rPr lang="en-US" dirty="0"/>
                <a:t>	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895600" y="2514600"/>
              <a:ext cx="1905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3429000" y="2602468"/>
              <a:ext cx="81612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p(</a:t>
              </a:r>
              <a:r>
                <a:rPr lang="en-US" dirty="0" err="1"/>
                <a:t>Y</a:t>
              </a:r>
              <a:r>
                <a:rPr lang="en-US" baseline="-25000" dirty="0" err="1"/>
                <a:t>new</a:t>
              </a:r>
              <a:r>
                <a:rPr lang="en-US" dirty="0"/>
                <a:t>)</a:t>
              </a:r>
            </a:p>
          </p:txBody>
        </p:sp>
      </p:grpSp>
      <p:cxnSp>
        <p:nvCxnSpPr>
          <p:cNvPr id="8" name="Straight Arrow Connector 7"/>
          <p:cNvCxnSpPr/>
          <p:nvPr/>
        </p:nvCxnSpPr>
        <p:spPr>
          <a:xfrm rot="10800000" flipV="1">
            <a:off x="4495800" y="181987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53000" y="1706939"/>
            <a:ext cx="3868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“likelihood probability”.</a:t>
            </a:r>
          </a:p>
          <a:p>
            <a:r>
              <a:rPr lang="en-US" dirty="0"/>
              <a:t>In this case, it comes from the binomial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" y="392668"/>
            <a:ext cx="3167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For all ∏ along the range 0 to 1: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rot="5400000" flipH="1" flipV="1">
            <a:off x="1257300" y="246757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4800" y="2962870"/>
            <a:ext cx="46318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“posterior” probability.</a:t>
            </a:r>
          </a:p>
          <a:p>
            <a:r>
              <a:rPr lang="en-US" dirty="0"/>
              <a:t>Our belief of the probability of each value of ∏ </a:t>
            </a:r>
          </a:p>
          <a:p>
            <a:r>
              <a:rPr lang="en-US" dirty="0">
                <a:solidFill>
                  <a:srgbClr val="FF0000"/>
                </a:solidFill>
              </a:rPr>
              <a:t>after</a:t>
            </a:r>
            <a:r>
              <a:rPr lang="en-US" dirty="0"/>
              <a:t> we see the new data.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rot="5400000">
            <a:off x="2933700" y="14097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76600" y="801469"/>
            <a:ext cx="56298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prior probability.</a:t>
            </a:r>
          </a:p>
          <a:p>
            <a:r>
              <a:rPr lang="en-US" dirty="0"/>
              <a:t>What we believe about the probability of each value of ∏ </a:t>
            </a:r>
          </a:p>
          <a:p>
            <a:r>
              <a:rPr lang="en-US" dirty="0">
                <a:solidFill>
                  <a:srgbClr val="FF0000"/>
                </a:solidFill>
              </a:rPr>
              <a:t>before</a:t>
            </a:r>
            <a:r>
              <a:rPr lang="en-US" dirty="0"/>
              <a:t> we see the new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646" y="4495800"/>
            <a:ext cx="77644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about 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)?  This it the probability of observing our data summed across</a:t>
            </a:r>
          </a:p>
          <a:p>
            <a:r>
              <a:rPr lang="en-US" dirty="0"/>
              <a:t>all value of ∏.</a:t>
            </a:r>
          </a:p>
          <a:p>
            <a:r>
              <a:rPr lang="en-US" dirty="0"/>
              <a:t>That is:</a:t>
            </a:r>
          </a:p>
          <a:p>
            <a:r>
              <a:rPr lang="en-US" dirty="0"/>
              <a:t>	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1200" y="5562600"/>
            <a:ext cx="1037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) = </a:t>
            </a: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2771775" y="5486400"/>
          <a:ext cx="1743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330120" progId="Equation.3">
                  <p:embed/>
                </p:oleObj>
              </mc:Choice>
              <mc:Fallback>
                <p:oleObj name="Equation" r:id="rId3" imgW="125712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486400"/>
                        <a:ext cx="17430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4800" y="76200"/>
            <a:ext cx="421115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lang="en-US" dirty="0"/>
              <a:t>	 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= p(∏) * 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| ∏ )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667000" y="819329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590800" y="895529"/>
          <a:ext cx="1743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330120" progId="Equation.3">
                  <p:embed/>
                </p:oleObj>
              </mc:Choice>
              <mc:Fallback>
                <p:oleObj name="Equation" r:id="rId3" imgW="125712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895529"/>
                        <a:ext cx="17430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2000" y="1752600"/>
            <a:ext cx="7057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set any prior distribution we want, but there are good reasons to </a:t>
            </a:r>
          </a:p>
          <a:p>
            <a:r>
              <a:rPr lang="en-US" dirty="0"/>
              <a:t>choose a prior that is beta distributed.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2571929"/>
            <a:ext cx="6117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=10; b= 10 – the “shape” parameters based on our old data….</a:t>
            </a:r>
          </a:p>
          <a:p>
            <a:r>
              <a:rPr lang="en-US" dirty="0"/>
              <a:t>We choose as our prior – beta(10,10)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600" y="3352800"/>
            <a:ext cx="3276600" cy="3255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28800" y="3276600"/>
            <a:ext cx="3108798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3048000" y="6019800"/>
          <a:ext cx="161494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27000" imgH="393480" progId="Equation.3">
                  <p:embed/>
                </p:oleObj>
              </mc:Choice>
              <mc:Fallback>
                <p:oleObj name="Equation" r:id="rId7" imgW="92700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6019800"/>
                        <a:ext cx="1614948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447800" y="6172200"/>
            <a:ext cx="1496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beta(10,10) =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" y="4343400"/>
            <a:ext cx="5266601" cy="16331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76200"/>
            <a:ext cx="421115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lang="en-US" dirty="0"/>
              <a:t>	 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= p(∏) * 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| ∏ )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667000" y="819329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2590800" y="895529"/>
          <a:ext cx="1743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330120" progId="Equation.3">
                  <p:embed/>
                </p:oleObj>
              </mc:Choice>
              <mc:Fallback>
                <p:oleObj name="Equation" r:id="rId3" imgW="125712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895529"/>
                        <a:ext cx="17430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774950" y="2493963"/>
          <a:ext cx="377825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1520" imgH="431640" progId="Equation.3">
                  <p:embed/>
                </p:oleObj>
              </mc:Choice>
              <mc:Fallback>
                <p:oleObj name="Equation" r:id="rId5" imgW="217152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2493963"/>
                        <a:ext cx="3778250" cy="750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3400" y="2678668"/>
            <a:ext cx="2373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p(∏)  = beta(</a:t>
            </a:r>
            <a:r>
              <a:rPr lang="en-US" dirty="0" err="1"/>
              <a:t>a</a:t>
            </a:r>
            <a:r>
              <a:rPr lang="en-US" baseline="-25000" dirty="0" err="1"/>
              <a:t>old</a:t>
            </a:r>
            <a:r>
              <a:rPr lang="en-US" dirty="0" err="1"/>
              <a:t>,b</a:t>
            </a:r>
            <a:r>
              <a:rPr lang="en-US" baseline="-25000" dirty="0" err="1"/>
              <a:t>old</a:t>
            </a:r>
            <a:r>
              <a:rPr lang="en-US" dirty="0"/>
              <a:t>) =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7360" y="3364468"/>
            <a:ext cx="1486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| ∏ ) = </a:t>
            </a: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2314575" y="3309938"/>
          <a:ext cx="33051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60160" imgH="253800" progId="Equation.3">
                  <p:embed/>
                </p:oleObj>
              </mc:Choice>
              <mc:Fallback>
                <p:oleObj name="Equation" r:id="rId7" imgW="1460160" imgH="253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3309938"/>
                        <a:ext cx="3305175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533400" y="4202668"/>
            <a:ext cx="2207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p(∏) * 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| ∏ ) =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295400"/>
            <a:ext cx="7769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</a:t>
            </a:r>
            <a:r>
              <a:rPr lang="en-US" baseline="-25000" dirty="0" err="1"/>
              <a:t>old</a:t>
            </a:r>
            <a:r>
              <a:rPr lang="en-US" dirty="0"/>
              <a:t> = b</a:t>
            </a:r>
            <a:r>
              <a:rPr lang="en-US" baseline="-25000" dirty="0"/>
              <a:t>old</a:t>
            </a:r>
            <a:r>
              <a:rPr lang="en-US" dirty="0"/>
              <a:t> = 10  (Our first set of data where 9 subjects guessed right and 9 wrong)</a:t>
            </a:r>
          </a:p>
          <a:p>
            <a:r>
              <a:rPr lang="en-US" dirty="0"/>
              <a:t>a</a:t>
            </a:r>
            <a:r>
              <a:rPr lang="en-US" baseline="-25000" dirty="0"/>
              <a:t>new</a:t>
            </a:r>
            <a:r>
              <a:rPr lang="en-US" dirty="0"/>
              <a:t>= 14; </a:t>
            </a:r>
            <a:r>
              <a:rPr lang="en-US" dirty="0" err="1"/>
              <a:t>b</a:t>
            </a:r>
            <a:r>
              <a:rPr lang="en-US" baseline="-25000" dirty="0" err="1"/>
              <a:t>new</a:t>
            </a:r>
            <a:r>
              <a:rPr lang="en-US" dirty="0"/>
              <a:t> = 11 – Our new data where 14 guess right and 11 guess wrong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1992868"/>
            <a:ext cx="7680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want to calculate our posterior distribution given our new data: 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</a:t>
            </a: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2667000" y="4191000"/>
          <a:ext cx="327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191000"/>
                        <a:ext cx="3276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1752600" y="4648200"/>
          <a:ext cx="4222750" cy="780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36760" imgH="431640" progId="Equation.3">
                  <p:embed/>
                </p:oleObj>
              </mc:Choice>
              <mc:Fallback>
                <p:oleObj name="Equation" r:id="rId11" imgW="2336760" imgH="431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648200"/>
                        <a:ext cx="4222750" cy="7804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9" name="Object 13"/>
          <p:cNvGraphicFramePr>
            <a:graphicFrameLocks noChangeAspect="1"/>
          </p:cNvGraphicFramePr>
          <p:nvPr/>
        </p:nvGraphicFramePr>
        <p:xfrm>
          <a:off x="2133600" y="5486400"/>
          <a:ext cx="327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38000" imgH="228600" progId="Equation.3">
                  <p:embed/>
                </p:oleObj>
              </mc:Choice>
              <mc:Fallback>
                <p:oleObj name="Equation" r:id="rId13" imgW="1638000" imgH="2286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486400"/>
                        <a:ext cx="3276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Straight Connector 23"/>
          <p:cNvCxnSpPr/>
          <p:nvPr/>
        </p:nvCxnSpPr>
        <p:spPr>
          <a:xfrm>
            <a:off x="1905000" y="6019800"/>
            <a:ext cx="3733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10" name="Object 14"/>
          <p:cNvGraphicFramePr>
            <a:graphicFrameLocks noChangeAspect="1"/>
          </p:cNvGraphicFramePr>
          <p:nvPr/>
        </p:nvGraphicFramePr>
        <p:xfrm>
          <a:off x="1981200" y="5943600"/>
          <a:ext cx="3581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90640" imgH="482400" progId="Equation.3">
                  <p:embed/>
                </p:oleObj>
              </mc:Choice>
              <mc:Fallback>
                <p:oleObj name="Equation" r:id="rId15" imgW="1790640" imgH="4824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943600"/>
                        <a:ext cx="35814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/>
          <p:cNvSpPr/>
          <p:nvPr/>
        </p:nvSpPr>
        <p:spPr>
          <a:xfrm>
            <a:off x="418824" y="5791200"/>
            <a:ext cx="1486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=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590800"/>
            <a:ext cx="1256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(beta prior)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7000" y="3288268"/>
            <a:ext cx="2108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(binomial likelihood)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90917" y="4202668"/>
            <a:ext cx="1914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(prior * likelihood)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43317" y="5791200"/>
            <a:ext cx="1243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Bayes</a:t>
            </a:r>
            <a:r>
              <a:rPr lang="en-US" dirty="0">
                <a:solidFill>
                  <a:srgbClr val="FF0000"/>
                </a:solidFill>
              </a:rPr>
              <a:t> law)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3"/>
          <p:cNvGraphicFramePr>
            <a:graphicFrameLocks noChangeAspect="1"/>
          </p:cNvGraphicFramePr>
          <p:nvPr/>
        </p:nvGraphicFramePr>
        <p:xfrm>
          <a:off x="2019576" y="381000"/>
          <a:ext cx="327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38000" imgH="228600" progId="Equation.3">
                  <p:embed/>
                </p:oleObj>
              </mc:Choice>
              <mc:Fallback>
                <p:oleObj name="Equation" r:id="rId3" imgW="163800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576" y="381000"/>
                        <a:ext cx="3276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1790976" y="914400"/>
            <a:ext cx="3733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14"/>
          <p:cNvGraphicFramePr>
            <a:graphicFrameLocks noChangeAspect="1"/>
          </p:cNvGraphicFramePr>
          <p:nvPr/>
        </p:nvGraphicFramePr>
        <p:xfrm>
          <a:off x="1867176" y="838200"/>
          <a:ext cx="3581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640" imgH="482400" progId="Equation.3">
                  <p:embed/>
                </p:oleObj>
              </mc:Choice>
              <mc:Fallback>
                <p:oleObj name="Equation" r:id="rId5" imgW="1790640" imgH="482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7176" y="838200"/>
                        <a:ext cx="35814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04800" y="685800"/>
            <a:ext cx="1486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= </a:t>
            </a:r>
          </a:p>
        </p:txBody>
      </p:sp>
      <p:graphicFrame>
        <p:nvGraphicFramePr>
          <p:cNvPr id="8" name="Object 13"/>
          <p:cNvGraphicFramePr>
            <a:graphicFrameLocks noChangeAspect="1"/>
          </p:cNvGraphicFramePr>
          <p:nvPr/>
        </p:nvGraphicFramePr>
        <p:xfrm>
          <a:off x="1066800" y="2082800"/>
          <a:ext cx="327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38000" imgH="228600" progId="Equation.3">
                  <p:embed/>
                </p:oleObj>
              </mc:Choice>
              <mc:Fallback>
                <p:oleObj name="Equation" r:id="rId3" imgW="163800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082800"/>
                        <a:ext cx="3276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838200" y="2616200"/>
            <a:ext cx="3733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Object 14"/>
          <p:cNvGraphicFramePr>
            <a:graphicFrameLocks noChangeAspect="1"/>
          </p:cNvGraphicFramePr>
          <p:nvPr/>
        </p:nvGraphicFramePr>
        <p:xfrm>
          <a:off x="901700" y="2540000"/>
          <a:ext cx="3606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03240" imgH="482400" progId="Equation.3">
                  <p:embed/>
                </p:oleObj>
              </mc:Choice>
              <mc:Fallback>
                <p:oleObj name="Equation" r:id="rId7" imgW="1803240" imgH="4824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2540000"/>
                        <a:ext cx="36068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309518" y="2450068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5448300" y="2057400"/>
          <a:ext cx="304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3880" imgH="228600" progId="Equation.3">
                  <p:embed/>
                </p:oleObj>
              </mc:Choice>
              <mc:Fallback>
                <p:oleObj name="Equation" r:id="rId9" imgW="152388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2057400"/>
                        <a:ext cx="30480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/>
          <p:cNvCxnSpPr/>
          <p:nvPr/>
        </p:nvCxnSpPr>
        <p:spPr>
          <a:xfrm>
            <a:off x="5105400" y="2590800"/>
            <a:ext cx="3733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295900" y="2514600"/>
          <a:ext cx="3352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76160" imgH="482400" progId="Equation.3">
                  <p:embed/>
                </p:oleObj>
              </mc:Choice>
              <mc:Fallback>
                <p:oleObj name="Equation" r:id="rId11" imgW="1676160" imgH="4824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900" y="2514600"/>
                        <a:ext cx="33528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4724400" y="243840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graphicFrame>
        <p:nvGraphicFramePr>
          <p:cNvPr id="17" name="Object 13"/>
          <p:cNvGraphicFramePr>
            <a:graphicFrameLocks noChangeAspect="1"/>
          </p:cNvGraphicFramePr>
          <p:nvPr/>
        </p:nvGraphicFramePr>
        <p:xfrm>
          <a:off x="266700" y="4445000"/>
          <a:ext cx="304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3880" imgH="228600" progId="Equation.3">
                  <p:embed/>
                </p:oleObj>
              </mc:Choice>
              <mc:Fallback>
                <p:oleObj name="Equation" r:id="rId13" imgW="1523880" imgH="2286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4445000"/>
                        <a:ext cx="30480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-76200" y="4978400"/>
            <a:ext cx="3733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Object 14"/>
          <p:cNvGraphicFramePr>
            <a:graphicFrameLocks noChangeAspect="1"/>
          </p:cNvGraphicFramePr>
          <p:nvPr/>
        </p:nvGraphicFramePr>
        <p:xfrm>
          <a:off x="114300" y="4902200"/>
          <a:ext cx="3352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76160" imgH="482400" progId="Equation.3">
                  <p:embed/>
                </p:oleObj>
              </mc:Choice>
              <mc:Fallback>
                <p:oleObj name="Equation" r:id="rId15" imgW="1676160" imgH="4824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4902200"/>
                        <a:ext cx="33528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14400" y="3733800"/>
            <a:ext cx="96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 k’ =  </a:t>
            </a: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1734671" y="3581400"/>
          <a:ext cx="2761129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55520" imgH="431640" progId="Equation.3">
                  <p:embed/>
                </p:oleObj>
              </mc:Choice>
              <mc:Fallback>
                <p:oleObj name="Equation" r:id="rId17" imgW="1955520" imgH="4316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4671" y="3581400"/>
                        <a:ext cx="2761129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810000" y="4812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96332" y="4495800"/>
            <a:ext cx="399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k’ 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4114800" y="49530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096332" y="5105400"/>
            <a:ext cx="399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k’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52918" y="4736068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graphicFrame>
        <p:nvGraphicFramePr>
          <p:cNvPr id="35851" name="Object 11"/>
          <p:cNvGraphicFramePr>
            <a:graphicFrameLocks noChangeAspect="1"/>
          </p:cNvGraphicFramePr>
          <p:nvPr/>
        </p:nvGraphicFramePr>
        <p:xfrm>
          <a:off x="5105400" y="4495800"/>
          <a:ext cx="3403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01720" imgH="228600" progId="Equation.3">
                  <p:embed/>
                </p:oleObj>
              </mc:Choice>
              <mc:Fallback>
                <p:oleObj name="Equation" r:id="rId19" imgW="1701720" imgH="2286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495800"/>
                        <a:ext cx="3403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Straight Connector 33"/>
          <p:cNvCxnSpPr/>
          <p:nvPr/>
        </p:nvCxnSpPr>
        <p:spPr>
          <a:xfrm>
            <a:off x="5257800" y="4953000"/>
            <a:ext cx="327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852" name="Object 12"/>
          <p:cNvGraphicFramePr>
            <a:graphicFrameLocks noChangeAspect="1"/>
          </p:cNvGraphicFramePr>
          <p:nvPr/>
        </p:nvGraphicFramePr>
        <p:xfrm>
          <a:off x="4902200" y="4902200"/>
          <a:ext cx="393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968480" imgH="368280" progId="Equation.3">
                  <p:embed/>
                </p:oleObj>
              </mc:Choice>
              <mc:Fallback>
                <p:oleObj name="Equation" r:id="rId21" imgW="196848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4902200"/>
                        <a:ext cx="3937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Straight Arrow Connector 36"/>
          <p:cNvCxnSpPr/>
          <p:nvPr/>
        </p:nvCxnSpPr>
        <p:spPr>
          <a:xfrm rot="5400000" flipH="1" flipV="1">
            <a:off x="5143500" y="5676900"/>
            <a:ext cx="4572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648200" y="6172200"/>
            <a:ext cx="2031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this integral is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381000"/>
            <a:ext cx="3846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we have this rather startling result…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838200"/>
            <a:ext cx="15390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=  </a:t>
            </a:r>
          </a:p>
        </p:txBody>
      </p:sp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2159000" y="838200"/>
          <a:ext cx="3403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01720" imgH="228600" progId="Equation.3">
                  <p:embed/>
                </p:oleObj>
              </mc:Choice>
              <mc:Fallback>
                <p:oleObj name="Equation" r:id="rId3" imgW="170172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838200"/>
                        <a:ext cx="3403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1563469"/>
            <a:ext cx="9004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update our models, we just add the new successes to </a:t>
            </a:r>
            <a:r>
              <a:rPr lang="en-US" dirty="0" err="1"/>
              <a:t>a</a:t>
            </a:r>
            <a:r>
              <a:rPr lang="en-US" baseline="-25000" dirty="0" err="1"/>
              <a:t>old</a:t>
            </a:r>
            <a:r>
              <a:rPr lang="en-US" dirty="0"/>
              <a:t> and new failures to b</a:t>
            </a:r>
            <a:r>
              <a:rPr lang="en-US" baseline="-25000" dirty="0"/>
              <a:t>old</a:t>
            </a:r>
            <a:r>
              <a:rPr lang="en-US" dirty="0"/>
              <a:t> and call</a:t>
            </a:r>
          </a:p>
          <a:p>
            <a:r>
              <a:rPr lang="en-US" dirty="0" err="1"/>
              <a:t>dbeta</a:t>
            </a:r>
            <a:r>
              <a:rPr lang="en-US" dirty="0"/>
              <a:t>…</a:t>
            </a: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400" y="1905000"/>
            <a:ext cx="511492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TwodbetaCalls.bmp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438400" y="3429000"/>
            <a:ext cx="5451220" cy="32347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" y="3886200"/>
            <a:ext cx="257538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have more data</a:t>
            </a:r>
          </a:p>
          <a:p>
            <a:r>
              <a:rPr lang="en-US" dirty="0"/>
              <a:t>so the variance is smaller.</a:t>
            </a:r>
          </a:p>
          <a:p>
            <a:endParaRPr lang="en-US" dirty="0"/>
          </a:p>
          <a:p>
            <a:r>
              <a:rPr lang="en-US" dirty="0"/>
              <a:t>There were a few more</a:t>
            </a:r>
          </a:p>
          <a:p>
            <a:r>
              <a:rPr lang="en-US" dirty="0"/>
              <a:t>successes, so the curve</a:t>
            </a:r>
          </a:p>
          <a:p>
            <a:r>
              <a:rPr lang="en-US" dirty="0"/>
              <a:t>has shifted to the right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914400"/>
            <a:ext cx="421115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lang="en-US" dirty="0"/>
              <a:t>	 p(∏ | 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) = p(∏) * p(</a:t>
            </a:r>
            <a:r>
              <a:rPr lang="en-US" dirty="0" err="1"/>
              <a:t>Y</a:t>
            </a:r>
            <a:r>
              <a:rPr lang="en-US" baseline="-25000" dirty="0" err="1"/>
              <a:t>new</a:t>
            </a:r>
            <a:r>
              <a:rPr lang="en-US" dirty="0"/>
              <a:t> | ∏ )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733800" y="1657529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3657600" y="1733729"/>
          <a:ext cx="1743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330120" progId="Equation.3">
                  <p:embed/>
                </p:oleObj>
              </mc:Choice>
              <mc:Fallback>
                <p:oleObj name="Equation" r:id="rId3" imgW="125712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733729"/>
                        <a:ext cx="17430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8200" y="228600"/>
            <a:ext cx="6878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beta distribution is the conjugate prior of the binomial distribution.</a:t>
            </a:r>
          </a:p>
          <a:p>
            <a:r>
              <a:rPr lang="en-US" dirty="0"/>
              <a:t>Multiplying a beta prior by a </a:t>
            </a:r>
            <a:r>
              <a:rPr lang="en-US" dirty="0" err="1"/>
              <a:t>bionomial</a:t>
            </a:r>
            <a:r>
              <a:rPr lang="en-US" dirty="0"/>
              <a:t> likelihood yields a beta posterior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2362200"/>
            <a:ext cx="714375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9153" y="228600"/>
            <a:ext cx="6840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you have no data and no beliefs, you probably want a uniform prior…</a:t>
            </a: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066800"/>
            <a:ext cx="3097048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6200" y="762000"/>
            <a:ext cx="4419600" cy="4168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57200" y="4687669"/>
            <a:ext cx="5838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Remember the uniform distribution?</a:t>
            </a:r>
          </a:p>
          <a:p>
            <a:r>
              <a:rPr lang="en-US" dirty="0"/>
              <a:t>We have no expectations.  The prior probability is always 1..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28600"/>
            <a:ext cx="66541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watch our Bayesian framework “learn” the distribution.</a:t>
            </a:r>
          </a:p>
          <a:p>
            <a:r>
              <a:rPr lang="en-US" dirty="0"/>
              <a:t>Consider a 3:1 </a:t>
            </a:r>
            <a:r>
              <a:rPr lang="en-US" dirty="0" err="1"/>
              <a:t>Mendelian</a:t>
            </a:r>
            <a:r>
              <a:rPr lang="en-US" dirty="0"/>
              <a:t> phenotype experiment (with perfect data).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990600"/>
            <a:ext cx="598170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Mendelian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47800" y="2667000"/>
            <a:ext cx="5410200" cy="36183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324600"/>
            <a:ext cx="1435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Pretty sweet!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0"/>
            <a:ext cx="3672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updating R code is very simple…</a:t>
            </a:r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81000"/>
            <a:ext cx="8115300" cy="574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52400" y="6245423"/>
            <a:ext cx="914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https://github.com/afodor/afodor.github.io/blob/master/classes/stats2015/bayesianUpdater.txt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660709"/>
            <a:ext cx="5867400" cy="5921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229" y="76200"/>
            <a:ext cx="8986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the law of large numbers, as we get more data, the width of our beta distribution decreases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74725" y="0"/>
            <a:ext cx="4423327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P(D</a:t>
            </a:r>
            <a:r>
              <a:rPr lang="en-US" baseline="-25000" dirty="0"/>
              <a:t>loaded</a:t>
            </a:r>
            <a:r>
              <a:rPr lang="en-US" dirty="0"/>
              <a:t>|3 sixes) = </a:t>
            </a:r>
          </a:p>
          <a:p>
            <a:endParaRPr lang="en-US" dirty="0"/>
          </a:p>
          <a:p>
            <a:r>
              <a:rPr lang="en-US" dirty="0"/>
              <a:t>                            P(3 sixes| </a:t>
            </a:r>
            <a:r>
              <a:rPr lang="en-US" dirty="0" err="1"/>
              <a:t>D</a:t>
            </a:r>
            <a:r>
              <a:rPr lang="en-US" baseline="-25000" dirty="0" err="1"/>
              <a:t>loaded</a:t>
            </a:r>
            <a:r>
              <a:rPr lang="en-US" dirty="0"/>
              <a:t>) * P(</a:t>
            </a:r>
            <a:r>
              <a:rPr lang="en-US" dirty="0" err="1"/>
              <a:t>D</a:t>
            </a:r>
            <a:r>
              <a:rPr lang="en-US" baseline="-25000" dirty="0" err="1"/>
              <a:t>loaded</a:t>
            </a:r>
            <a:r>
              <a:rPr lang="en-US" dirty="0"/>
              <a:t>)  </a:t>
            </a:r>
          </a:p>
          <a:p>
            <a:endParaRPr lang="en-US" baseline="-25000" dirty="0"/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1981200" y="21336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200400" y="2057400"/>
            <a:ext cx="1395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P(3 sixes)</a:t>
            </a:r>
          </a:p>
        </p:txBody>
      </p:sp>
      <p:graphicFrame>
        <p:nvGraphicFramePr>
          <p:cNvPr id="7" name="Object 14"/>
          <p:cNvGraphicFramePr>
            <a:graphicFrameLocks noChangeAspect="1"/>
          </p:cNvGraphicFramePr>
          <p:nvPr/>
        </p:nvGraphicFramePr>
        <p:xfrm>
          <a:off x="152401" y="2391962"/>
          <a:ext cx="3048000" cy="1143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4880" imgH="838080" progId="Equation.3">
                  <p:embed/>
                </p:oleObj>
              </mc:Choice>
              <mc:Fallback>
                <p:oleObj name="Equation" r:id="rId3" imgW="2234880" imgH="8380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1" y="2391962"/>
                        <a:ext cx="3048000" cy="11434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90600" y="76200"/>
            <a:ext cx="566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application of </a:t>
            </a:r>
            <a:r>
              <a:rPr lang="en-US" dirty="0" err="1"/>
              <a:t>Bayes</a:t>
            </a:r>
            <a:r>
              <a:rPr lang="en-US" dirty="0"/>
              <a:t> law always follows the same form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10800000" flipV="1">
            <a:off x="1752600" y="762000"/>
            <a:ext cx="685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45631" y="457200"/>
            <a:ext cx="4205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Posterior – our belief after seeing the data </a:t>
            </a:r>
          </a:p>
          <a:p>
            <a:r>
              <a:rPr lang="en-US" dirty="0">
                <a:solidFill>
                  <a:srgbClr val="FF0000"/>
                </a:solidFill>
              </a:rPr>
              <a:t>	   that we have a loaded dice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28600" y="3276600"/>
            <a:ext cx="8458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0800000" flipV="1">
            <a:off x="5181600" y="14478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15000" y="1219200"/>
            <a:ext cx="2955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Prior – our original belief that</a:t>
            </a:r>
          </a:p>
          <a:p>
            <a:r>
              <a:rPr lang="en-US" dirty="0">
                <a:solidFill>
                  <a:srgbClr val="FF0000"/>
                </a:solidFill>
              </a:rPr>
              <a:t>We had a loaded die.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752600" y="1676400"/>
            <a:ext cx="6858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1000" y="1447800"/>
            <a:ext cx="1498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likelihood</a:t>
            </a:r>
          </a:p>
          <a:p>
            <a:r>
              <a:rPr lang="en-US" dirty="0">
                <a:solidFill>
                  <a:srgbClr val="FF0000"/>
                </a:solidFill>
              </a:rPr>
              <a:t>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7840" y="2096869"/>
            <a:ext cx="4706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“integral”:  summing over all possible </a:t>
            </a:r>
          </a:p>
          <a:p>
            <a:r>
              <a:rPr lang="en-US" dirty="0">
                <a:solidFill>
                  <a:srgbClr val="FF0000"/>
                </a:solidFill>
              </a:rPr>
              <a:t>models ( p(3 </a:t>
            </a:r>
            <a:r>
              <a:rPr lang="en-US" dirty="0" err="1">
                <a:solidFill>
                  <a:srgbClr val="FF0000"/>
                </a:solidFill>
              </a:rPr>
              <a:t>sixes|fairDie</a:t>
            </a:r>
            <a:r>
              <a:rPr lang="en-US" dirty="0">
                <a:solidFill>
                  <a:srgbClr val="FF0000"/>
                </a:solidFill>
              </a:rPr>
              <a:t>) + p(3sixes|loadedDie)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rot="10800000">
            <a:off x="4191000" y="2362200"/>
            <a:ext cx="2286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381000" y="4200941"/>
            <a:ext cx="4211153" cy="1200329"/>
            <a:chOff x="609600" y="1771471"/>
            <a:chExt cx="4211153" cy="1200329"/>
          </a:xfrm>
        </p:grpSpPr>
        <p:sp>
          <p:nvSpPr>
            <p:cNvPr id="24" name="Rectangle 23"/>
            <p:cNvSpPr/>
            <p:nvPr/>
          </p:nvSpPr>
          <p:spPr>
            <a:xfrm>
              <a:off x="609600" y="1771471"/>
              <a:ext cx="4211153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dirty="0"/>
            </a:p>
            <a:p>
              <a:r>
                <a:rPr lang="en-US" dirty="0"/>
                <a:t>	 p(∏ | </a:t>
              </a:r>
              <a:r>
                <a:rPr lang="en-US" dirty="0" err="1"/>
                <a:t>Y</a:t>
              </a:r>
              <a:r>
                <a:rPr lang="en-US" baseline="-25000" dirty="0" err="1"/>
                <a:t>new</a:t>
              </a:r>
              <a:r>
                <a:rPr lang="en-US" dirty="0"/>
                <a:t> ) = p(∏) * p(</a:t>
              </a:r>
              <a:r>
                <a:rPr lang="en-US" dirty="0" err="1"/>
                <a:t>Y</a:t>
              </a:r>
              <a:r>
                <a:rPr lang="en-US" baseline="-25000" dirty="0" err="1"/>
                <a:t>new</a:t>
              </a:r>
              <a:r>
                <a:rPr lang="en-US" dirty="0"/>
                <a:t> | ∏ )</a:t>
              </a:r>
            </a:p>
            <a:p>
              <a:r>
                <a:rPr lang="en-US" dirty="0"/>
                <a:t>	</a:t>
              </a:r>
            </a:p>
            <a:p>
              <a:r>
                <a:rPr lang="en-US" dirty="0"/>
                <a:t>	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2895600" y="2514600"/>
              <a:ext cx="1905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3429000" y="2602468"/>
              <a:ext cx="81612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p(</a:t>
              </a:r>
              <a:r>
                <a:rPr lang="en-US" dirty="0" err="1"/>
                <a:t>Y</a:t>
              </a:r>
              <a:r>
                <a:rPr lang="en-US" baseline="-25000" dirty="0" err="1"/>
                <a:t>new</a:t>
              </a:r>
              <a:r>
                <a:rPr lang="en-US" dirty="0"/>
                <a:t>)</a:t>
              </a:r>
            </a:p>
          </p:txBody>
        </p:sp>
      </p:grpSp>
      <p:cxnSp>
        <p:nvCxnSpPr>
          <p:cNvPr id="27" name="Straight Arrow Connector 26"/>
          <p:cNvCxnSpPr/>
          <p:nvPr/>
        </p:nvCxnSpPr>
        <p:spPr>
          <a:xfrm rot="10800000" flipV="1">
            <a:off x="4495800" y="441067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53000" y="4297739"/>
            <a:ext cx="3868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“likelihood probability”.</a:t>
            </a:r>
          </a:p>
          <a:p>
            <a:r>
              <a:rPr lang="en-US" dirty="0"/>
              <a:t>In this case, it comes from the binomial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rot="5400000" flipH="1" flipV="1">
            <a:off x="1257300" y="505837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04800" y="5553670"/>
            <a:ext cx="46318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“posterior” probability.</a:t>
            </a:r>
          </a:p>
          <a:p>
            <a:r>
              <a:rPr lang="en-US" dirty="0"/>
              <a:t>Our belief of the probability of each value of ∏ </a:t>
            </a:r>
          </a:p>
          <a:p>
            <a:r>
              <a:rPr lang="en-US" dirty="0">
                <a:solidFill>
                  <a:srgbClr val="FF0000"/>
                </a:solidFill>
              </a:rPr>
              <a:t>after</a:t>
            </a:r>
            <a:r>
              <a:rPr lang="en-US" dirty="0"/>
              <a:t> we see the new data.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rot="5400000">
            <a:off x="2933700" y="40005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76600" y="3392269"/>
            <a:ext cx="56298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prior probability.</a:t>
            </a:r>
          </a:p>
          <a:p>
            <a:r>
              <a:rPr lang="en-US" dirty="0"/>
              <a:t>What we believe about the probability of each value of ∏ </a:t>
            </a:r>
          </a:p>
          <a:p>
            <a:r>
              <a:rPr lang="en-US" dirty="0">
                <a:solidFill>
                  <a:srgbClr val="FF0000"/>
                </a:solidFill>
              </a:rPr>
              <a:t>before</a:t>
            </a:r>
            <a:r>
              <a:rPr lang="en-US" dirty="0"/>
              <a:t> we see the new data.</a:t>
            </a:r>
          </a:p>
        </p:txBody>
      </p:sp>
      <p:cxnSp>
        <p:nvCxnSpPr>
          <p:cNvPr id="34" name="Straight Arrow Connector 33"/>
          <p:cNvCxnSpPr>
            <a:endCxn id="26" idx="3"/>
          </p:cNvCxnSpPr>
          <p:nvPr/>
        </p:nvCxnSpPr>
        <p:spPr>
          <a:xfrm rot="10800000">
            <a:off x="4016522" y="5216604"/>
            <a:ext cx="403079" cy="1935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95800" y="5257800"/>
            <a:ext cx="4081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integral summing over all values of 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533400"/>
            <a:ext cx="7086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Bayesian approach to the binomial distribution with a discrete prior</a:t>
            </a:r>
          </a:p>
          <a:p>
            <a:r>
              <a:rPr lang="en-US" dirty="0"/>
              <a:t>The beta distribution</a:t>
            </a:r>
          </a:p>
          <a:p>
            <a:r>
              <a:rPr lang="en-US" dirty="0"/>
              <a:t>Bayesian approach to the binomial distribution with a continuous prior</a:t>
            </a:r>
          </a:p>
          <a:p>
            <a:r>
              <a:rPr lang="en-US" dirty="0"/>
              <a:t>Implementation of the beta distribution</a:t>
            </a:r>
          </a:p>
          <a:p>
            <a:r>
              <a:rPr lang="en-US" dirty="0"/>
              <a:t>Controversy in frequentist vs. Bayesian approach to inference</a:t>
            </a: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rot="10800000">
            <a:off x="4648200" y="15240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790575"/>
            <a:ext cx="5991225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3400" y="304800"/>
            <a:ext cx="784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port the code for the beta and gamma functions from Numerical Recipes…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52800" y="3962400"/>
            <a:ext cx="4474846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914400"/>
            <a:ext cx="7239000" cy="3431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04800"/>
            <a:ext cx="5910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start with the gamma function…. (or actually </a:t>
            </a:r>
            <a:r>
              <a:rPr lang="en-US" dirty="0" err="1"/>
              <a:t>lngamma</a:t>
            </a:r>
            <a:r>
              <a:rPr lang="en-US" dirty="0"/>
              <a:t> ())</a:t>
            </a:r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914400"/>
            <a:ext cx="531495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609600"/>
            <a:ext cx="4724400" cy="4543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62000" y="152400"/>
            <a:ext cx="3206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straight-forward </a:t>
            </a:r>
            <a:r>
              <a:rPr lang="en-US"/>
              <a:t>to port…</a:t>
            </a:r>
          </a:p>
        </p:txBody>
      </p:sp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600" y="4800600"/>
            <a:ext cx="2421139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14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67200" y="5410200"/>
            <a:ext cx="4876800" cy="675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800600" y="5029200"/>
            <a:ext cx="3344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results are within error to R…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3400" y="914400"/>
            <a:ext cx="86279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Likewise, you can port over the beta distribution (which the book calls the </a:t>
            </a:r>
          </a:p>
          <a:p>
            <a:r>
              <a:rPr lang="en-US" dirty="0"/>
              <a:t>incomplete beta distribution described by function </a:t>
            </a:r>
            <a:r>
              <a:rPr lang="en-US" dirty="0" err="1"/>
              <a:t>betai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So you can easily have access to these distributions in the programming language of your</a:t>
            </a:r>
          </a:p>
          <a:p>
            <a:r>
              <a:rPr lang="en-US" dirty="0"/>
              <a:t>choice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1112518" y="457200"/>
            <a:ext cx="71170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Coming up: </a:t>
            </a:r>
          </a:p>
          <a:p>
            <a:endParaRPr lang="en-US" dirty="0"/>
          </a:p>
          <a:p>
            <a:r>
              <a:rPr lang="en-US" dirty="0"/>
              <a:t>	Bayesian vs. Frequentist approach to hypothesis testing for the 	Binomial distribution.</a:t>
            </a:r>
          </a:p>
          <a:p>
            <a:endParaRPr lang="en-US" dirty="0"/>
          </a:p>
          <a:p>
            <a:r>
              <a:rPr lang="en-US" dirty="0"/>
              <a:t>	Numerical approximation in the Bayesian universe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The Poisson distribution and RNA-seq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2653</Words>
  <Application>Microsoft Office PowerPoint</Application>
  <PresentationFormat>On-screen Show (4:3)</PresentationFormat>
  <Paragraphs>439</Paragraphs>
  <Slides>40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Anthony</dc:creator>
  <cp:lastModifiedBy>Anthony Fodor</cp:lastModifiedBy>
  <cp:revision>199</cp:revision>
  <dcterms:created xsi:type="dcterms:W3CDTF">2006-08-16T00:00:00Z</dcterms:created>
  <dcterms:modified xsi:type="dcterms:W3CDTF">2026-02-03T00:07:32Z</dcterms:modified>
</cp:coreProperties>
</file>