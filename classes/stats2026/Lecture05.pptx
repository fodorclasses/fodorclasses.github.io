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5" r:id="rId2"/>
    <p:sldId id="302" r:id="rId3"/>
    <p:sldId id="277" r:id="rId4"/>
    <p:sldId id="278" r:id="rId5"/>
    <p:sldId id="279" r:id="rId6"/>
    <p:sldId id="300" r:id="rId7"/>
    <p:sldId id="281" r:id="rId8"/>
    <p:sldId id="283" r:id="rId9"/>
    <p:sldId id="282" r:id="rId10"/>
    <p:sldId id="280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5" r:id="rId22"/>
    <p:sldId id="265" r:id="rId23"/>
    <p:sldId id="266" r:id="rId24"/>
    <p:sldId id="267" r:id="rId25"/>
    <p:sldId id="268" r:id="rId26"/>
    <p:sldId id="296" r:id="rId27"/>
    <p:sldId id="269" r:id="rId28"/>
    <p:sldId id="270" r:id="rId29"/>
    <p:sldId id="271" r:id="rId30"/>
    <p:sldId id="272" r:id="rId31"/>
    <p:sldId id="273" r:id="rId32"/>
    <p:sldId id="274" r:id="rId33"/>
    <p:sldId id="301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78D97-C3FD-45B9-9D4E-C62E122BCE58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F3CFB-6CC9-4D88-AA1E-2606C3F01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1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72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20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78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80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54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96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63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1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12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88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01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25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84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79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19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63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82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07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71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843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33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251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F3CFB-6CC9-4D88-AA1E-2606C3F01B8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365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E8B68A-6426-4574-BC55-E5747C07AD9D}" type="slidenum">
              <a:rPr lang="en-US"/>
              <a:pPr/>
              <a:t>27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332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694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219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9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517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96-7444-4C33-8994-3ECBEECC9A7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0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4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8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7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52400"/>
            <a:ext cx="4290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Bayes law (with an updating robot detector)</a:t>
            </a:r>
          </a:p>
          <a:p>
            <a:r>
              <a:rPr lang="en-US" dirty="0"/>
              <a:t>The famous dishonest casino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10800000">
            <a:off x="4724400" y="3048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1A63E05-95FA-D88F-5B31-13CC49A07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733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 state (X)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what we want to know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data (Y)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what we see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belief before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Likelihood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data-generating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Posterior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belief after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CC52A-0F3E-B91B-331B-ACF66E34BB37}"/>
              </a:ext>
            </a:extLst>
          </p:cNvPr>
          <p:cNvSpPr txBox="1"/>
          <p:nvPr/>
        </p:nvSpPr>
        <p:spPr>
          <a:xfrm>
            <a:off x="2286000" y="2133600"/>
            <a:ext cx="3669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Bayesian dictionary (from ChatGPT)</a:t>
            </a:r>
          </a:p>
        </p:txBody>
      </p:sp>
    </p:spTree>
    <p:extLst>
      <p:ext uri="{BB962C8B-B14F-4D97-AF65-F5344CB8AC3E}">
        <p14:creationId xmlns:p14="http://schemas.microsoft.com/office/powerpoint/2010/main" val="924286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304800"/>
            <a:ext cx="275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a robot detector…</a:t>
            </a:r>
          </a:p>
        </p:txBody>
      </p:sp>
      <p:sp>
        <p:nvSpPr>
          <p:cNvPr id="43010" name="AutoShape 2" descr="http://featuresblogs.chicagotribune.com/photos/uncategorized/baltar_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http://featuresblogs.chicagotribune.com/photos/uncategorized/baltar_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4" name="AutoShape 6" descr="http://featuresblogs.chicagotribune.com/photos/uncategorized/baltar_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60472" y="2514600"/>
            <a:ext cx="83263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say we know (somehow) that 1% of all people are robots.</a:t>
            </a:r>
          </a:p>
          <a:p>
            <a:r>
              <a:rPr lang="en-US" dirty="0"/>
              <a:t>This is our </a:t>
            </a:r>
            <a:r>
              <a:rPr lang="en-US" dirty="0">
                <a:solidFill>
                  <a:srgbClr val="FF0000"/>
                </a:solidFill>
              </a:rPr>
              <a:t>prior distribution</a:t>
            </a:r>
            <a:r>
              <a:rPr lang="en-US" dirty="0"/>
              <a:t>.  Our belief before we look at any data in an experiment.</a:t>
            </a:r>
          </a:p>
          <a:p>
            <a:endParaRPr lang="en-US" dirty="0"/>
          </a:p>
          <a:p>
            <a:r>
              <a:rPr lang="en-US" dirty="0"/>
              <a:t>p(not a robot) = 0.99%</a:t>
            </a:r>
          </a:p>
          <a:p>
            <a:r>
              <a:rPr lang="en-US" dirty="0"/>
              <a:t>P(robot) = 0.01;</a:t>
            </a:r>
          </a:p>
          <a:p>
            <a:endParaRPr lang="en-US" dirty="0"/>
          </a:p>
          <a:p>
            <a:r>
              <a:rPr lang="en-US" dirty="0"/>
              <a:t>We define p(X) for two states.  P(X)</a:t>
            </a:r>
            <a:r>
              <a:rPr lang="en-US" baseline="-25000" dirty="0" err="1"/>
              <a:t>i</a:t>
            </a:r>
            <a:r>
              <a:rPr lang="en-US" baseline="-25000" dirty="0"/>
              <a:t>=0</a:t>
            </a:r>
            <a:r>
              <a:rPr lang="en-US" dirty="0"/>
              <a:t> = 0.99  ; P(X)</a:t>
            </a:r>
            <a:r>
              <a:rPr lang="en-US" baseline="-25000" dirty="0" err="1"/>
              <a:t>i</a:t>
            </a:r>
            <a:r>
              <a:rPr lang="en-US" baseline="-25000" dirty="0"/>
              <a:t>=1</a:t>
            </a:r>
            <a:r>
              <a:rPr lang="en-US" dirty="0"/>
              <a:t> = 0.01</a:t>
            </a:r>
          </a:p>
          <a:p>
            <a:endParaRPr lang="en-US" dirty="0"/>
          </a:p>
          <a:p>
            <a:r>
              <a:rPr lang="en-US" dirty="0"/>
              <a:t>By convention for the rest of the semester, X are states that we are interested in but cannot observe.</a:t>
            </a:r>
          </a:p>
          <a:p>
            <a:endParaRPr lang="en-US" dirty="0"/>
          </a:p>
          <a:p>
            <a:r>
              <a:rPr lang="en-US" dirty="0"/>
              <a:t>By convention </a:t>
            </a:r>
            <a:r>
              <a:rPr lang="en-US" dirty="0" err="1"/>
              <a:t>g</a:t>
            </a:r>
            <a:r>
              <a:rPr lang="en-US" baseline="-25000" dirty="0" err="1"/>
              <a:t>x</a:t>
            </a:r>
            <a:r>
              <a:rPr lang="en-US" baseline="-25000" dirty="0"/>
              <a:t>=0-i</a:t>
            </a:r>
            <a:r>
              <a:rPr lang="en-US" dirty="0"/>
              <a:t>(X) will be the probabilities of </a:t>
            </a:r>
            <a:r>
              <a:rPr lang="en-US" dirty="0" err="1"/>
              <a:t>i</a:t>
            </a:r>
            <a:r>
              <a:rPr lang="en-US" dirty="0"/>
              <a:t> such states such that </a:t>
            </a:r>
            <a:r>
              <a:rPr lang="el-GR" dirty="0"/>
              <a:t>Σ</a:t>
            </a:r>
            <a:r>
              <a:rPr lang="en-US" dirty="0"/>
              <a:t>g(x)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1648599"/>
            <a:ext cx="54665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robots that look like ordinary people.</a:t>
            </a:r>
          </a:p>
          <a:p>
            <a:r>
              <a:rPr lang="en-US" dirty="0"/>
              <a:t>We can’t tell robots from people by just looking at them.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83862-A59B-0DFD-6233-B895AA90308D}"/>
              </a:ext>
            </a:extLst>
          </p:cNvPr>
          <p:cNvSpPr txBox="1"/>
          <p:nvPr/>
        </p:nvSpPr>
        <p:spPr>
          <a:xfrm>
            <a:off x="990600" y="838200"/>
            <a:ext cx="5755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problem that often comes up in dystopian science fiction </a:t>
            </a:r>
          </a:p>
          <a:p>
            <a:r>
              <a:rPr lang="en-US" dirty="0"/>
              <a:t>(Blade Runner, Battlestar Galactica)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71271"/>
            <a:ext cx="792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build a robot detector.</a:t>
            </a:r>
          </a:p>
          <a:p>
            <a:endParaRPr lang="en-US" dirty="0"/>
          </a:p>
          <a:p>
            <a:r>
              <a:rPr lang="en-US" dirty="0"/>
              <a:t>We know (somehow) the robot detector has the following properties</a:t>
            </a:r>
          </a:p>
          <a:p>
            <a:endParaRPr lang="en-US" dirty="0"/>
          </a:p>
          <a:p>
            <a:r>
              <a:rPr lang="en-US" dirty="0"/>
              <a:t>(later we will call these likelihood probabilities)</a:t>
            </a:r>
          </a:p>
        </p:txBody>
      </p:sp>
      <p:sp>
        <p:nvSpPr>
          <p:cNvPr id="5" name="AutoShape 2" descr="http://featuresblogs.chicagotribune.com/photos/uncategorized/baltar_1.jpg"/>
          <p:cNvSpPr>
            <a:spLocks noChangeAspect="1" noChangeArrowheads="1"/>
          </p:cNvSpPr>
          <p:nvPr/>
        </p:nvSpPr>
        <p:spPr bwMode="auto">
          <a:xfrm>
            <a:off x="155575" y="-65899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http://featuresblogs.chicagotribune.com/photos/uncategorized/baltar_1.jpg"/>
          <p:cNvSpPr>
            <a:spLocks noChangeAspect="1" noChangeArrowheads="1"/>
          </p:cNvSpPr>
          <p:nvPr/>
        </p:nvSpPr>
        <p:spPr bwMode="auto">
          <a:xfrm>
            <a:off x="155575" y="-65899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http://featuresblogs.chicagotribune.com/photos/uncategorized/baltar_1.jpg"/>
          <p:cNvSpPr>
            <a:spLocks noChangeAspect="1" noChangeArrowheads="1"/>
          </p:cNvSpPr>
          <p:nvPr/>
        </p:nvSpPr>
        <p:spPr bwMode="auto">
          <a:xfrm>
            <a:off x="155575" y="-65899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1000" y="2228671"/>
            <a:ext cx="752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positive|robot</a:t>
            </a:r>
            <a:r>
              <a:rPr lang="en-US" dirty="0"/>
              <a:t>) = 0.9			p(</a:t>
            </a:r>
            <a:r>
              <a:rPr lang="en-US" dirty="0" err="1"/>
              <a:t>negative|robot</a:t>
            </a:r>
            <a:r>
              <a:rPr lang="en-US" dirty="0"/>
              <a:t>)=0.1</a:t>
            </a:r>
          </a:p>
          <a:p>
            <a:r>
              <a:rPr lang="en-US" dirty="0"/>
              <a:t>p(</a:t>
            </a:r>
            <a:r>
              <a:rPr lang="en-US" dirty="0" err="1"/>
              <a:t>positive|not</a:t>
            </a:r>
            <a:r>
              <a:rPr lang="en-US" dirty="0"/>
              <a:t> a robot) =0.05			p(</a:t>
            </a:r>
            <a:r>
              <a:rPr lang="en-US" dirty="0" err="1"/>
              <a:t>negative|not</a:t>
            </a:r>
            <a:r>
              <a:rPr lang="en-US" dirty="0"/>
              <a:t> a robot)=0.95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176" y="3066871"/>
            <a:ext cx="83102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read p(</a:t>
            </a:r>
            <a:r>
              <a:rPr lang="en-US" dirty="0" err="1"/>
              <a:t>positive|robot</a:t>
            </a:r>
            <a:r>
              <a:rPr lang="en-US" dirty="0"/>
              <a:t>)  as the probability of a positive read given the person in the </a:t>
            </a:r>
          </a:p>
          <a:p>
            <a:r>
              <a:rPr lang="en-US" dirty="0"/>
              <a:t>detector is a robot.</a:t>
            </a:r>
          </a:p>
          <a:p>
            <a:endParaRPr lang="en-US" dirty="0"/>
          </a:p>
          <a:p>
            <a:r>
              <a:rPr lang="en-US" dirty="0"/>
              <a:t>By convention, states that we can observe will be marked as Y.</a:t>
            </a:r>
          </a:p>
          <a:p>
            <a:endParaRPr lang="en-US" dirty="0"/>
          </a:p>
          <a:p>
            <a:r>
              <a:rPr lang="en-US" dirty="0"/>
              <a:t>The distribution P(Y|X) across multiple states of Y is a </a:t>
            </a:r>
            <a:r>
              <a:rPr lang="en-US" dirty="0">
                <a:solidFill>
                  <a:srgbClr val="FF0000"/>
                </a:solidFill>
              </a:rPr>
              <a:t>frequency distribution</a:t>
            </a:r>
            <a:r>
              <a:rPr lang="en-US" dirty="0"/>
              <a:t>.</a:t>
            </a:r>
          </a:p>
          <a:p>
            <a:r>
              <a:rPr lang="en-US" dirty="0"/>
              <a:t>How frequently do we observe data given the underlying (hidden) state.</a:t>
            </a:r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28600" y="5124271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By convention </a:t>
            </a:r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baseline="-25000" dirty="0"/>
              <a:t>=0-i</a:t>
            </a:r>
            <a:r>
              <a:rPr lang="en-US" dirty="0"/>
              <a:t>(X) will be the probabilities of </a:t>
            </a:r>
            <a:r>
              <a:rPr lang="en-US" dirty="0" err="1"/>
              <a:t>i</a:t>
            </a:r>
            <a:r>
              <a:rPr lang="en-US" dirty="0"/>
              <a:t> such states such that </a:t>
            </a:r>
            <a:r>
              <a:rPr lang="el-GR" dirty="0"/>
              <a:t>Σ</a:t>
            </a:r>
            <a:r>
              <a:rPr lang="en-US" dirty="0"/>
              <a:t>f(x) = 1</a:t>
            </a:r>
          </a:p>
          <a:p>
            <a:endParaRPr lang="en-US" dirty="0"/>
          </a:p>
          <a:p>
            <a:r>
              <a:rPr lang="en-US" dirty="0"/>
              <a:t>We have two frequency distributions here: one if the person is a robot, one if they are not a robot.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7758406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want to calculate:</a:t>
            </a:r>
          </a:p>
          <a:p>
            <a:endParaRPr lang="en-US" dirty="0"/>
          </a:p>
          <a:p>
            <a:r>
              <a:rPr lang="en-US" dirty="0"/>
              <a:t>p(</a:t>
            </a:r>
            <a:r>
              <a:rPr lang="en-US" dirty="0" err="1"/>
              <a:t>robot|positive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If our robot </a:t>
            </a:r>
            <a:r>
              <a:rPr lang="en-US" dirty="0" err="1"/>
              <a:t>detetor</a:t>
            </a:r>
            <a:r>
              <a:rPr lang="en-US" dirty="0"/>
              <a:t> says someone is a robot, how confident are we in that?</a:t>
            </a:r>
          </a:p>
          <a:p>
            <a:endParaRPr lang="en-US" dirty="0"/>
          </a:p>
          <a:p>
            <a:r>
              <a:rPr lang="en-US" dirty="0"/>
              <a:t>We define a joint probability </a:t>
            </a:r>
          </a:p>
          <a:p>
            <a:endParaRPr lang="en-US" dirty="0"/>
          </a:p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 – the probability that someone is a robot and gets a positive result…</a:t>
            </a:r>
          </a:p>
          <a:p>
            <a:endParaRPr lang="en-US" dirty="0"/>
          </a:p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 = p(x | y ) * p(y)  </a:t>
            </a:r>
          </a:p>
          <a:p>
            <a:endParaRPr lang="en-US" dirty="0"/>
          </a:p>
          <a:p>
            <a:r>
              <a:rPr lang="en-US" dirty="0"/>
              <a:t>but that’s the same as p(</a:t>
            </a:r>
            <a:r>
              <a:rPr lang="en-US" dirty="0" err="1"/>
              <a:t>y,x</a:t>
            </a:r>
            <a:r>
              <a:rPr lang="en-US" dirty="0"/>
              <a:t>) – the probability that someone gets a positive result</a:t>
            </a:r>
          </a:p>
          <a:p>
            <a:r>
              <a:rPr lang="en-US" dirty="0"/>
              <a:t>			  and is a robot</a:t>
            </a:r>
          </a:p>
          <a:p>
            <a:endParaRPr lang="en-US" dirty="0"/>
          </a:p>
          <a:p>
            <a:r>
              <a:rPr lang="en-US" dirty="0"/>
              <a:t>p(</a:t>
            </a:r>
            <a:r>
              <a:rPr lang="en-US" dirty="0" err="1"/>
              <a:t>y,x</a:t>
            </a:r>
            <a:r>
              <a:rPr lang="en-US" dirty="0"/>
              <a:t>) = p(</a:t>
            </a:r>
            <a:r>
              <a:rPr lang="en-US" dirty="0" err="1"/>
              <a:t>y|x</a:t>
            </a:r>
            <a:r>
              <a:rPr lang="en-US" dirty="0"/>
              <a:t>) * p(x)</a:t>
            </a:r>
          </a:p>
          <a:p>
            <a:endParaRPr lang="en-US" dirty="0"/>
          </a:p>
          <a:p>
            <a:r>
              <a:rPr lang="en-US" dirty="0"/>
              <a:t>So…  since p(</a:t>
            </a:r>
            <a:r>
              <a:rPr lang="en-US" dirty="0" err="1"/>
              <a:t>x,y</a:t>
            </a:r>
            <a:r>
              <a:rPr lang="en-US" dirty="0"/>
              <a:t>) = p(</a:t>
            </a:r>
            <a:r>
              <a:rPr lang="en-US" dirty="0" err="1"/>
              <a:t>y,x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p(</a:t>
            </a:r>
            <a:r>
              <a:rPr lang="en-US" dirty="0" err="1"/>
              <a:t>x|y</a:t>
            </a:r>
            <a:r>
              <a:rPr lang="en-US" dirty="0"/>
              <a:t> ) = p(y | x ) * p(x)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524000" y="6248400"/>
            <a:ext cx="152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9046" y="6260068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6019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Bayes’ law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533400"/>
            <a:ext cx="299085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62000" y="228600"/>
            <a:ext cx="44455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http://en.wikipedia.org/wiki/Bayes'_theorem</a:t>
            </a: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200400"/>
            <a:ext cx="5467350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 flipH="1">
            <a:off x="5486400" y="5410200"/>
            <a:ext cx="533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0" y="51054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Bayesian accounting?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138957"/>
              </p:ext>
            </p:extLst>
          </p:nvPr>
        </p:nvGraphicFramePr>
        <p:xfrm>
          <a:off x="1339790" y="990600"/>
          <a:ext cx="39624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419040" progId="Equation.3">
                  <p:embed/>
                </p:oleObj>
              </mc:Choice>
              <mc:Fallback>
                <p:oleObj name="Equation" r:id="rId3" imgW="149832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790" y="990600"/>
                        <a:ext cx="3962400" cy="1109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35590" y="1371600"/>
            <a:ext cx="115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Bayes’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7390" y="2743200"/>
            <a:ext cx="5413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P(Person is a robot | positive result)  = </a:t>
            </a:r>
          </a:p>
          <a:p>
            <a:endParaRPr lang="en-US" dirty="0"/>
          </a:p>
          <a:p>
            <a:r>
              <a:rPr lang="en-US" dirty="0"/>
              <a:t>		p(positive result | robot) * p(robot) 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016190" y="3733800"/>
            <a:ext cx="3429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938507" y="3810000"/>
            <a:ext cx="1820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p(positive result)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190" y="4560332"/>
            <a:ext cx="6966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know p(positive </a:t>
            </a:r>
            <a:r>
              <a:rPr lang="en-US" dirty="0" err="1"/>
              <a:t>result|robot</a:t>
            </a:r>
            <a:r>
              <a:rPr lang="en-US" dirty="0"/>
              <a:t>) and p(robot)</a:t>
            </a:r>
          </a:p>
          <a:p>
            <a:r>
              <a:rPr lang="en-US" dirty="0"/>
              <a:t>To calculate p(</a:t>
            </a:r>
            <a:r>
              <a:rPr lang="en-US" dirty="0" err="1"/>
              <a:t>positveResult</a:t>
            </a:r>
            <a:r>
              <a:rPr lang="en-US" dirty="0"/>
              <a:t>), we can imagine the Bayesian Universe…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 descr="https://encrypted-tbn2.gstatic.com/images?q=tbn:ANd9GcQ1o4mwnjhXF61Y7IeHsxKSEK0xknp-MsBt3u2QU2SlFpG-hyRmpQ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28600"/>
            <a:ext cx="1924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1371600" y="152400"/>
            <a:ext cx="41390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calculate this,</a:t>
            </a:r>
          </a:p>
          <a:p>
            <a:r>
              <a:rPr lang="en-US" dirty="0"/>
              <a:t> we can imagine the Bayesian Universe</a:t>
            </a:r>
          </a:p>
          <a:p>
            <a:r>
              <a:rPr lang="en-US" dirty="0"/>
              <a:t>of possibilities.</a:t>
            </a:r>
          </a:p>
          <a:p>
            <a:endParaRPr lang="en-US" dirty="0"/>
          </a:p>
          <a:p>
            <a:r>
              <a:rPr lang="en-US" dirty="0"/>
              <a:t>(This is described nicely in the chapter</a:t>
            </a:r>
          </a:p>
          <a:p>
            <a:r>
              <a:rPr lang="en-US" dirty="0"/>
              <a:t>“Bayesian Inference for Discrete</a:t>
            </a:r>
          </a:p>
          <a:p>
            <a:r>
              <a:rPr lang="en-US" dirty="0"/>
              <a:t>Random Variables” in the </a:t>
            </a:r>
            <a:r>
              <a:rPr lang="en-US" dirty="0" err="1"/>
              <a:t>Bolstad</a:t>
            </a:r>
            <a:endParaRPr lang="en-US" dirty="0"/>
          </a:p>
          <a:p>
            <a:r>
              <a:rPr lang="en-US" dirty="0"/>
              <a:t>“Introduction to Bayesian Statistics” book)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143000" y="3429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3200" y="3581400"/>
            <a:ext cx="7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202668"/>
            <a:ext cx="72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 </a:t>
            </a:r>
          </a:p>
          <a:p>
            <a:r>
              <a:rPr lang="en-US" dirty="0"/>
              <a:t>robot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19200" y="4191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>
            <a:off x="76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76400" y="3048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6400" y="3581400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4267200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cxnSp>
        <p:nvCxnSpPr>
          <p:cNvPr id="24" name="Straight Connector 23"/>
          <p:cNvCxnSpPr/>
          <p:nvPr/>
        </p:nvCxnSpPr>
        <p:spPr>
          <a:xfrm rot="5400000">
            <a:off x="838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91445" y="3059668"/>
            <a:ext cx="134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positive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0" y="3059668"/>
            <a:ext cx="140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negative</a:t>
            </a: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2324099" y="43053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3733800" y="4343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4082" y="29834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1143000" y="5181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2410617" y="5181600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P(Y</a:t>
            </a:r>
            <a:r>
              <a:rPr lang="en-US" sz="1400" baseline="-25000" dirty="0"/>
              <a:t>0</a:t>
            </a:r>
            <a:r>
              <a:rPr lang="en-US" sz="1400" dirty="0"/>
              <a:t>)=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2217" y="5181600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P(Y</a:t>
            </a:r>
            <a:r>
              <a:rPr lang="en-US" sz="1400" baseline="-25000" dirty="0"/>
              <a:t>1</a:t>
            </a:r>
            <a:r>
              <a:rPr lang="en-US" sz="1400" dirty="0"/>
              <a:t>)=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3821668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0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1161400" y="4800600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2895600" y="2678668"/>
            <a:ext cx="367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0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4280792" y="2667000"/>
            <a:ext cx="367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818165" y="359306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</a:t>
            </a:r>
            <a:r>
              <a:rPr lang="en-US" baseline="-25000" dirty="0"/>
              <a:t>0</a:t>
            </a:r>
            <a:r>
              <a:rPr lang="en-US" dirty="0"/>
              <a:t>|x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59132" y="3593068"/>
            <a:ext cx="612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9033" y="359306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</a:t>
            </a:r>
            <a:r>
              <a:rPr lang="en-US" baseline="-25000" dirty="0"/>
              <a:t>1</a:t>
            </a:r>
            <a:r>
              <a:rPr lang="en-US" dirty="0"/>
              <a:t>|x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10000" y="3593068"/>
            <a:ext cx="612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21233" y="441960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</a:t>
            </a:r>
            <a:r>
              <a:rPr lang="en-US" baseline="-25000" dirty="0"/>
              <a:t>0</a:t>
            </a:r>
            <a:r>
              <a:rPr lang="en-US" dirty="0"/>
              <a:t>|x</a:t>
            </a:r>
            <a:r>
              <a:rPr lang="en-US" baseline="-25000" dirty="0"/>
              <a:t>1</a:t>
            </a:r>
            <a:r>
              <a:rPr lang="en-US" dirty="0"/>
              <a:t>)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2200" y="4419600"/>
            <a:ext cx="612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69033" y="441960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f(y</a:t>
            </a:r>
            <a:r>
              <a:rPr lang="en-US" baseline="-25000" dirty="0"/>
              <a:t>1</a:t>
            </a:r>
            <a:r>
              <a:rPr lang="en-US" dirty="0"/>
              <a:t>|x</a:t>
            </a:r>
            <a:r>
              <a:rPr lang="en-US" baseline="-25000" dirty="0"/>
              <a:t>1</a:t>
            </a:r>
            <a:r>
              <a:rPr lang="en-US" dirty="0"/>
              <a:t>)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0000" y="4419600"/>
            <a:ext cx="612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10200" y="3593068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0</a:t>
            </a:r>
            <a:r>
              <a:rPr lang="en-US" dirty="0"/>
              <a:t>) = </a:t>
            </a:r>
            <a:r>
              <a:rPr lang="el-GR" dirty="0"/>
              <a:t>Σ</a:t>
            </a:r>
            <a:r>
              <a:rPr lang="en-US" dirty="0"/>
              <a:t> g(x</a:t>
            </a:r>
            <a:r>
              <a:rPr lang="en-US" baseline="-25000" dirty="0"/>
              <a:t>0</a:t>
            </a:r>
            <a:r>
              <a:rPr lang="en-US" dirty="0"/>
              <a:t>) *f(y</a:t>
            </a:r>
            <a:r>
              <a:rPr lang="en-US" baseline="-25000" dirty="0"/>
              <a:t>i</a:t>
            </a:r>
            <a:r>
              <a:rPr lang="en-US" dirty="0"/>
              <a:t>|x</a:t>
            </a:r>
            <a:r>
              <a:rPr lang="en-US" baseline="-25000" dirty="0"/>
              <a:t>0</a:t>
            </a:r>
            <a:r>
              <a:rPr lang="en-US" dirty="0"/>
              <a:t>) 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7034" y="3810000"/>
            <a:ext cx="219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</a:t>
            </a:r>
            <a:endParaRPr lang="en-US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5410200" y="4382869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g(x</a:t>
            </a:r>
            <a:r>
              <a:rPr lang="en-US" baseline="-25000" dirty="0"/>
              <a:t>1</a:t>
            </a:r>
            <a:r>
              <a:rPr lang="en-US" dirty="0"/>
              <a:t>) = </a:t>
            </a:r>
            <a:r>
              <a:rPr lang="el-GR" dirty="0"/>
              <a:t>Σ</a:t>
            </a:r>
            <a:r>
              <a:rPr lang="en-US" dirty="0"/>
              <a:t> g(x</a:t>
            </a:r>
            <a:r>
              <a:rPr lang="en-US" baseline="-25000" dirty="0"/>
              <a:t>1</a:t>
            </a:r>
            <a:r>
              <a:rPr lang="en-US" dirty="0"/>
              <a:t>) *f(y</a:t>
            </a:r>
            <a:r>
              <a:rPr lang="en-US" baseline="-25000" dirty="0"/>
              <a:t>i</a:t>
            </a:r>
            <a:r>
              <a:rPr lang="en-US" dirty="0"/>
              <a:t>|x</a:t>
            </a:r>
            <a:r>
              <a:rPr lang="en-US" baseline="-25000" dirty="0"/>
              <a:t>1</a:t>
            </a:r>
            <a:r>
              <a:rPr lang="en-US" dirty="0"/>
              <a:t>) 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7034" y="4599801"/>
            <a:ext cx="219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3291395" y="245006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= {0,1}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" y="405026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j </a:t>
            </a:r>
            <a:r>
              <a:rPr lang="en-US" dirty="0"/>
              <a:t>= {0,1}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8332" y="5486400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/>
              <a:t>Σ</a:t>
            </a:r>
            <a:r>
              <a:rPr lang="en-US" sz="1600" dirty="0"/>
              <a:t> g(</a:t>
            </a:r>
            <a:r>
              <a:rPr lang="en-US" sz="1600" dirty="0" err="1"/>
              <a:t>x</a:t>
            </a:r>
            <a:r>
              <a:rPr lang="en-US" sz="1600" baseline="-25000" dirty="0" err="1"/>
              <a:t>j</a:t>
            </a:r>
            <a:r>
              <a:rPr lang="en-US" sz="1600" dirty="0"/>
              <a:t>) *f(y</a:t>
            </a:r>
            <a:r>
              <a:rPr lang="en-US" sz="1600" baseline="-25000" dirty="0"/>
              <a:t>0</a:t>
            </a:r>
            <a:r>
              <a:rPr lang="en-US" sz="1600" dirty="0"/>
              <a:t>|x</a:t>
            </a:r>
            <a:r>
              <a:rPr lang="en-US" sz="1600" baseline="-25000" dirty="0"/>
              <a:t>j</a:t>
            </a:r>
            <a:r>
              <a:rPr lang="en-US" sz="1600" dirty="0"/>
              <a:t>) 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1834" y="5703332"/>
            <a:ext cx="219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7450" y="5486400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/>
              <a:t>Σ</a:t>
            </a:r>
            <a:r>
              <a:rPr lang="en-US" sz="1600" dirty="0"/>
              <a:t> g(</a:t>
            </a:r>
            <a:r>
              <a:rPr lang="en-US" sz="1600" dirty="0" err="1"/>
              <a:t>x</a:t>
            </a:r>
            <a:r>
              <a:rPr lang="en-US" sz="1600" baseline="-25000" dirty="0" err="1"/>
              <a:t>j</a:t>
            </a:r>
            <a:r>
              <a:rPr lang="en-US" sz="1600" dirty="0"/>
              <a:t>) *f(y</a:t>
            </a:r>
            <a:r>
              <a:rPr lang="en-US" sz="1600" baseline="-25000" dirty="0"/>
              <a:t>1</a:t>
            </a:r>
            <a:r>
              <a:rPr lang="en-US" sz="1600" dirty="0"/>
              <a:t>|x</a:t>
            </a:r>
            <a:r>
              <a:rPr lang="en-US" sz="1600" baseline="-25000" dirty="0"/>
              <a:t>j</a:t>
            </a:r>
            <a:r>
              <a:rPr lang="en-US" sz="1600" dirty="0"/>
              <a:t>) 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0952" y="5703332"/>
            <a:ext cx="219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40417-ECA5-48F2-A468-F61D0274C3E1}"/>
              </a:ext>
            </a:extLst>
          </p:cNvPr>
          <p:cNvSpPr txBox="1"/>
          <p:nvPr/>
        </p:nvSpPr>
        <p:spPr>
          <a:xfrm>
            <a:off x="1305106" y="6183868"/>
            <a:ext cx="585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“Posterior probability is proportional to prior * likelihood”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2" descr="https://encrypted-tbn2.gstatic.com/images?q=tbn:ANd9GcQ1o4mwnjhXF61Y7IeHsxKSEK0xknp-MsBt3u2QU2SlFpG-hyRmpQ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143000" y="3429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3200" y="3581400"/>
            <a:ext cx="7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202668"/>
            <a:ext cx="72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 </a:t>
            </a:r>
          </a:p>
          <a:p>
            <a:r>
              <a:rPr lang="en-US" dirty="0"/>
              <a:t>robot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219200" y="4191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76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76400" y="3048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6400" y="35814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42672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838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91445" y="3059668"/>
            <a:ext cx="134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4568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0" y="3059668"/>
            <a:ext cx="140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negative</a:t>
            </a:r>
          </a:p>
        </p:txBody>
      </p:sp>
      <p:cxnSp>
        <p:nvCxnSpPr>
          <p:cNvPr id="24" name="Straight Connector 23"/>
          <p:cNvCxnSpPr/>
          <p:nvPr/>
        </p:nvCxnSpPr>
        <p:spPr>
          <a:xfrm rot="5400000">
            <a:off x="2324099" y="43053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62400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8400" y="420266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8188" y="41910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0.95</a:t>
            </a: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3733800" y="4343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34082" y="29834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334000" y="3581400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p(robot) = 0.01 * 0.90 + 0.01 * 0.1 = </a:t>
            </a:r>
          </a:p>
          <a:p>
            <a:r>
              <a:rPr lang="en-US" dirty="0"/>
              <a:t>		0.01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0" y="4267200"/>
            <a:ext cx="243047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p(not a robot) =</a:t>
            </a:r>
          </a:p>
          <a:p>
            <a:r>
              <a:rPr lang="en-US" dirty="0"/>
              <a:t>0.99 * 0.05 +0.99 * 0.95</a:t>
            </a:r>
          </a:p>
          <a:p>
            <a:r>
              <a:rPr lang="en-US" dirty="0"/>
              <a:t>=  0.99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1143000" y="5181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438400" y="5581471"/>
            <a:ext cx="1391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0.90</a:t>
            </a:r>
          </a:p>
          <a:p>
            <a:r>
              <a:rPr lang="en-US" dirty="0"/>
              <a:t>+ 0.99 * 0.05</a:t>
            </a:r>
          </a:p>
          <a:p>
            <a:r>
              <a:rPr lang="en-US" dirty="0"/>
              <a:t>=0.0585</a:t>
            </a:r>
          </a:p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810000" y="5505271"/>
            <a:ext cx="1444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0.10</a:t>
            </a:r>
          </a:p>
          <a:p>
            <a:r>
              <a:rPr lang="en-US" dirty="0"/>
              <a:t> + 0.99 * 0.95</a:t>
            </a:r>
          </a:p>
          <a:p>
            <a:r>
              <a:rPr lang="en-US" dirty="0"/>
              <a:t>= 0.9415</a:t>
            </a:r>
          </a:p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410617" y="5181600"/>
            <a:ext cx="1323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testPositive</a:t>
            </a:r>
            <a:r>
              <a:rPr lang="en-US" sz="1400" dirty="0"/>
              <a:t>)=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82217" y="5181600"/>
            <a:ext cx="1398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testNegative</a:t>
            </a:r>
            <a:r>
              <a:rPr lang="en-US" sz="1400" dirty="0"/>
              <a:t>)=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F1ED33A-4259-299A-941A-5D218B8C9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28600"/>
            <a:ext cx="1924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975AAB-8AA2-A6C9-9DBC-7C43A0FC9CA5}"/>
              </a:ext>
            </a:extLst>
          </p:cNvPr>
          <p:cNvSpPr txBox="1"/>
          <p:nvPr/>
        </p:nvSpPr>
        <p:spPr>
          <a:xfrm>
            <a:off x="1371600" y="152400"/>
            <a:ext cx="41390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calculate this,</a:t>
            </a:r>
          </a:p>
          <a:p>
            <a:r>
              <a:rPr lang="en-US" dirty="0"/>
              <a:t> we can imagine the Bayesian Universe</a:t>
            </a:r>
          </a:p>
          <a:p>
            <a:r>
              <a:rPr lang="en-US" dirty="0"/>
              <a:t>of possibilities.</a:t>
            </a:r>
          </a:p>
          <a:p>
            <a:endParaRPr lang="en-US" dirty="0"/>
          </a:p>
          <a:p>
            <a:r>
              <a:rPr lang="en-US" dirty="0"/>
              <a:t>(This is described nicely in the chapter</a:t>
            </a:r>
          </a:p>
          <a:p>
            <a:r>
              <a:rPr lang="en-US" dirty="0"/>
              <a:t>“Bayesian Inference for Discrete</a:t>
            </a:r>
          </a:p>
          <a:p>
            <a:r>
              <a:rPr lang="en-US" dirty="0"/>
              <a:t>Random Variables” in the </a:t>
            </a:r>
            <a:r>
              <a:rPr lang="en-US" dirty="0" err="1"/>
              <a:t>Bolstad</a:t>
            </a:r>
            <a:endParaRPr lang="en-US" dirty="0"/>
          </a:p>
          <a:p>
            <a:r>
              <a:rPr lang="en-US" dirty="0"/>
              <a:t>“Introduction to Bayesian Statistics” book)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/>
          <p:nvPr/>
        </p:nvCxnSpPr>
        <p:spPr>
          <a:xfrm>
            <a:off x="1143000" y="3429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93200" y="3581400"/>
            <a:ext cx="7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" y="4202668"/>
            <a:ext cx="72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 </a:t>
            </a:r>
          </a:p>
          <a:p>
            <a:r>
              <a:rPr lang="en-US" dirty="0"/>
              <a:t>robot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1219200" y="4191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76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76400" y="3048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6400" y="35814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76400" y="42672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</a:t>
            </a: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838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91445" y="3059668"/>
            <a:ext cx="134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positive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54568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3059668"/>
            <a:ext cx="140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negative</a:t>
            </a:r>
          </a:p>
        </p:txBody>
      </p:sp>
      <p:cxnSp>
        <p:nvCxnSpPr>
          <p:cNvPr id="43" name="Straight Connector 42"/>
          <p:cNvCxnSpPr/>
          <p:nvPr/>
        </p:nvCxnSpPr>
        <p:spPr>
          <a:xfrm rot="5400000">
            <a:off x="2324099" y="43053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62400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38400" y="420266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8188" y="41910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0.95</a:t>
            </a:r>
          </a:p>
        </p:txBody>
      </p:sp>
      <p:cxnSp>
        <p:nvCxnSpPr>
          <p:cNvPr id="47" name="Straight Connector 46"/>
          <p:cNvCxnSpPr/>
          <p:nvPr/>
        </p:nvCxnSpPr>
        <p:spPr>
          <a:xfrm rot="5400000">
            <a:off x="3733800" y="4343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34082" y="29834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334000" y="3581400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p(robot) = 0.01 * 0.90 + 0.01 * 0.1 = </a:t>
            </a:r>
          </a:p>
          <a:p>
            <a:r>
              <a:rPr lang="en-US" dirty="0"/>
              <a:t>		0.01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34000" y="4267200"/>
            <a:ext cx="243047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p(not a robot) =</a:t>
            </a:r>
          </a:p>
          <a:p>
            <a:r>
              <a:rPr lang="en-US" dirty="0"/>
              <a:t>0.99 * 0.05 +0.99 * 0.95</a:t>
            </a:r>
          </a:p>
          <a:p>
            <a:r>
              <a:rPr lang="en-US" dirty="0"/>
              <a:t>=  0.99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1143000" y="5181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438400" y="5581471"/>
            <a:ext cx="1391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0.90</a:t>
            </a:r>
          </a:p>
          <a:p>
            <a:r>
              <a:rPr lang="en-US" dirty="0"/>
              <a:t>+ 0.99 * 0.05</a:t>
            </a:r>
          </a:p>
          <a:p>
            <a:r>
              <a:rPr lang="en-US" dirty="0"/>
              <a:t>=0.0585</a:t>
            </a:r>
          </a:p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3810000" y="5505271"/>
            <a:ext cx="1444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0.10</a:t>
            </a:r>
          </a:p>
          <a:p>
            <a:r>
              <a:rPr lang="en-US" dirty="0"/>
              <a:t> + 0.99 * 0.95</a:t>
            </a:r>
          </a:p>
          <a:p>
            <a:r>
              <a:rPr lang="en-US" dirty="0"/>
              <a:t>= 0.9415</a:t>
            </a:r>
          </a:p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2410617" y="5181600"/>
            <a:ext cx="1323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testPositive</a:t>
            </a:r>
            <a:r>
              <a:rPr lang="en-US" sz="1400" dirty="0"/>
              <a:t>)=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2217" y="5181600"/>
            <a:ext cx="1398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testNegative</a:t>
            </a:r>
            <a:r>
              <a:rPr lang="en-US" sz="1400" dirty="0"/>
              <a:t>)=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87" y="76200"/>
            <a:ext cx="5413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P(Person is a robot | positive result)  = </a:t>
            </a:r>
          </a:p>
          <a:p>
            <a:endParaRPr lang="en-US" dirty="0"/>
          </a:p>
          <a:p>
            <a:r>
              <a:rPr lang="en-US" dirty="0"/>
              <a:t>		p(positive result | robot) * p(robot)  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901987" y="1066800"/>
            <a:ext cx="3429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824304" y="1143000"/>
            <a:ext cx="1820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p(positive result)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09800" y="2057400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(0.9 )  * 0.01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2133600" y="2438400"/>
            <a:ext cx="1905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667000" y="24384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0.0585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213360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15.38%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4000" y="1752600"/>
            <a:ext cx="3761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(Even though the test is 90% accurate,</a:t>
            </a:r>
          </a:p>
          <a:p>
            <a:r>
              <a:rPr lang="en-US" dirty="0"/>
              <a:t>we are only ~15% sure that this is</a:t>
            </a:r>
          </a:p>
          <a:p>
            <a:r>
              <a:rPr lang="en-US" dirty="0"/>
              <a:t>not a false positive!)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143000" y="3429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3200" y="3581400"/>
            <a:ext cx="7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202668"/>
            <a:ext cx="72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 </a:t>
            </a:r>
          </a:p>
          <a:p>
            <a:r>
              <a:rPr lang="en-US" dirty="0"/>
              <a:t>robot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4191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76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76400" y="3048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5814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672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838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91445" y="3059668"/>
            <a:ext cx="134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4568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0" y="3059668"/>
            <a:ext cx="140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negative</a:t>
            </a:r>
          </a:p>
        </p:txBody>
      </p:sp>
      <p:cxnSp>
        <p:nvCxnSpPr>
          <p:cNvPr id="16" name="Straight Connector 15"/>
          <p:cNvCxnSpPr/>
          <p:nvPr/>
        </p:nvCxnSpPr>
        <p:spPr>
          <a:xfrm rot="5400000">
            <a:off x="2324099" y="43053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62400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420266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8188" y="41910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0.95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33800" y="4343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82" y="29834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334000" y="3581400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p(robot) = 0.01 * 0.90 + 0.01 * 0.1 = </a:t>
            </a:r>
          </a:p>
          <a:p>
            <a:r>
              <a:rPr lang="en-US" dirty="0"/>
              <a:t>		0.01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0" y="4267200"/>
            <a:ext cx="243047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p(not a robot) =</a:t>
            </a:r>
          </a:p>
          <a:p>
            <a:r>
              <a:rPr lang="en-US" dirty="0"/>
              <a:t>0.99 * 0.05 +0.99 * 0.95</a:t>
            </a:r>
          </a:p>
          <a:p>
            <a:r>
              <a:rPr lang="en-US" dirty="0"/>
              <a:t>=  0.99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143000" y="5181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438400" y="5581471"/>
            <a:ext cx="1391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0.90</a:t>
            </a:r>
          </a:p>
          <a:p>
            <a:r>
              <a:rPr lang="en-US" dirty="0"/>
              <a:t>+ 0.99 * 0.05</a:t>
            </a:r>
          </a:p>
          <a:p>
            <a:r>
              <a:rPr lang="en-US" dirty="0"/>
              <a:t>=0.0585</a:t>
            </a:r>
          </a:p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810000" y="5505271"/>
            <a:ext cx="1444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0.10</a:t>
            </a:r>
          </a:p>
          <a:p>
            <a:r>
              <a:rPr lang="en-US" dirty="0"/>
              <a:t> + 0.99 * 0.95</a:t>
            </a:r>
          </a:p>
          <a:p>
            <a:r>
              <a:rPr lang="en-US" dirty="0"/>
              <a:t>= 0.9415</a:t>
            </a:r>
          </a:p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410617" y="5181600"/>
            <a:ext cx="1323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testPositive</a:t>
            </a:r>
            <a:r>
              <a:rPr lang="en-US" sz="1400" dirty="0"/>
              <a:t>)=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2217" y="5181600"/>
            <a:ext cx="1398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testNegative</a:t>
            </a:r>
            <a:r>
              <a:rPr lang="en-US" sz="1400" dirty="0"/>
              <a:t>)=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" y="228600"/>
            <a:ext cx="88761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terms of the </a:t>
            </a:r>
            <a:r>
              <a:rPr lang="en-US" dirty="0" err="1"/>
              <a:t>Bayes</a:t>
            </a:r>
            <a:r>
              <a:rPr lang="en-US" dirty="0"/>
              <a:t> universe, the positive result reduces the </a:t>
            </a:r>
            <a:r>
              <a:rPr lang="en-US" dirty="0" err="1"/>
              <a:t>Bayes</a:t>
            </a:r>
            <a:r>
              <a:rPr lang="en-US" dirty="0"/>
              <a:t> universe to </a:t>
            </a:r>
          </a:p>
          <a:p>
            <a:r>
              <a:rPr lang="en-US" dirty="0"/>
              <a:t>one column.</a:t>
            </a:r>
          </a:p>
          <a:p>
            <a:endParaRPr lang="en-US" dirty="0"/>
          </a:p>
          <a:p>
            <a:r>
              <a:rPr lang="en-US" dirty="0"/>
              <a:t>The fraction of robot (0.01 * 0.90) over all possibilities ( 0.01 *0.90 + 0.99 + 0.05 ) is only 15%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rot="16200000" flipH="1">
            <a:off x="2858977" y="2779823"/>
            <a:ext cx="392668" cy="146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87" y="1764268"/>
            <a:ext cx="5413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P(Person is a robot | positive result)  = </a:t>
            </a:r>
          </a:p>
          <a:p>
            <a:endParaRPr lang="en-US" dirty="0"/>
          </a:p>
          <a:p>
            <a:r>
              <a:rPr lang="en-US" dirty="0"/>
              <a:t>		p(positive result | robot) * p(robot) 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901987" y="2754868"/>
            <a:ext cx="3429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824304" y="2831068"/>
            <a:ext cx="1820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p(positive result)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5181600" y="1905000"/>
            <a:ext cx="457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91200" y="1905000"/>
            <a:ext cx="3132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prior distribution </a:t>
            </a:r>
            <a:r>
              <a:rPr lang="en-US" dirty="0"/>
              <a:t>– </a:t>
            </a:r>
          </a:p>
          <a:p>
            <a:r>
              <a:rPr lang="en-US" dirty="0"/>
              <a:t>What we believe before we run</a:t>
            </a:r>
          </a:p>
          <a:p>
            <a:r>
              <a:rPr lang="en-US" dirty="0"/>
              <a:t>the detector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16200000" flipV="1">
            <a:off x="4267200" y="32766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00600" y="3810000"/>
            <a:ext cx="3772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Integral or normalizing constant.</a:t>
            </a:r>
          </a:p>
          <a:p>
            <a:r>
              <a:rPr lang="en-US" dirty="0"/>
              <a:t>The sum of likelihoods under the prior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1981200" y="1371600"/>
            <a:ext cx="3810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600200" y="457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posterior distribution </a:t>
            </a:r>
            <a:r>
              <a:rPr lang="en-US" dirty="0"/>
              <a:t>– </a:t>
            </a:r>
          </a:p>
          <a:p>
            <a:r>
              <a:rPr lang="en-US" dirty="0"/>
              <a:t>What we believe after we run</a:t>
            </a:r>
          </a:p>
          <a:p>
            <a:r>
              <a:rPr lang="en-US" dirty="0"/>
              <a:t>the detector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1333500" y="2705100"/>
            <a:ext cx="762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flipH="1">
            <a:off x="228600" y="3267670"/>
            <a:ext cx="3916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Likelihood</a:t>
            </a:r>
            <a:r>
              <a:rPr lang="en-US" dirty="0"/>
              <a:t>– </a:t>
            </a:r>
          </a:p>
          <a:p>
            <a:r>
              <a:rPr lang="en-US" dirty="0"/>
              <a:t>What we will observe given the hidden 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143000" y="3429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3200" y="3581400"/>
            <a:ext cx="7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202668"/>
            <a:ext cx="72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 </a:t>
            </a:r>
          </a:p>
          <a:p>
            <a:r>
              <a:rPr lang="en-US" dirty="0"/>
              <a:t>robot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4191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76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76400" y="3048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5814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672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838200" y="4343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91445" y="3059668"/>
            <a:ext cx="134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4568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0" y="3059668"/>
            <a:ext cx="140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negative</a:t>
            </a:r>
          </a:p>
        </p:txBody>
      </p:sp>
      <p:cxnSp>
        <p:nvCxnSpPr>
          <p:cNvPr id="16" name="Straight Connector 15"/>
          <p:cNvCxnSpPr/>
          <p:nvPr/>
        </p:nvCxnSpPr>
        <p:spPr>
          <a:xfrm rot="5400000">
            <a:off x="2324099" y="43053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62400" y="35814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420266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8188" y="41910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 * 0.95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33800" y="4343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82" y="29834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334000" y="3581400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p(robot) = 0.01 * 0.90 + 0.01 * 0.1 = </a:t>
            </a:r>
          </a:p>
          <a:p>
            <a:r>
              <a:rPr lang="en-US" dirty="0"/>
              <a:t>		0.01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0" y="4267200"/>
            <a:ext cx="243047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p(not a robot) =</a:t>
            </a:r>
          </a:p>
          <a:p>
            <a:r>
              <a:rPr lang="en-US" dirty="0"/>
              <a:t>0.99 * 0.05 +0.99 * 0.95</a:t>
            </a:r>
          </a:p>
          <a:p>
            <a:r>
              <a:rPr lang="en-US" dirty="0"/>
              <a:t>=  0.99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143000" y="5181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438400" y="5581471"/>
            <a:ext cx="1391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0.90</a:t>
            </a:r>
          </a:p>
          <a:p>
            <a:r>
              <a:rPr lang="en-US" dirty="0"/>
              <a:t>+ 0.99 * 0.05</a:t>
            </a:r>
          </a:p>
          <a:p>
            <a:r>
              <a:rPr lang="en-US" dirty="0"/>
              <a:t>=0.0585</a:t>
            </a:r>
          </a:p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810000" y="5505271"/>
            <a:ext cx="1444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0.01 * 0.10</a:t>
            </a:r>
          </a:p>
          <a:p>
            <a:r>
              <a:rPr lang="en-US" dirty="0"/>
              <a:t> + 0.99 * 0.95</a:t>
            </a:r>
          </a:p>
          <a:p>
            <a:r>
              <a:rPr lang="en-US" dirty="0"/>
              <a:t>= 0.9415</a:t>
            </a:r>
          </a:p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410617" y="5181600"/>
            <a:ext cx="1323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testPositive</a:t>
            </a:r>
            <a:r>
              <a:rPr lang="en-US" sz="1400" dirty="0"/>
              <a:t>)=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2217" y="5181600"/>
            <a:ext cx="1398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testNegative</a:t>
            </a:r>
            <a:r>
              <a:rPr lang="en-US" sz="1400" dirty="0"/>
              <a:t>)=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228600"/>
            <a:ext cx="320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we had observed a negative….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16200000" flipH="1">
            <a:off x="4215954" y="2779823"/>
            <a:ext cx="392668" cy="146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2400" y="609600"/>
            <a:ext cx="54244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P(Person is a robot | negative result)  = </a:t>
            </a:r>
          </a:p>
          <a:p>
            <a:endParaRPr lang="en-US" dirty="0"/>
          </a:p>
          <a:p>
            <a:r>
              <a:rPr lang="en-US" dirty="0"/>
              <a:t>		p(negative result| robot) * p(robot)  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981200" y="1611868"/>
            <a:ext cx="3429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3517" y="1688068"/>
            <a:ext cx="1832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p(negative result)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2600" y="144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121920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 * 0.1 / 0.9415 = 0.001062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9600" y="76200"/>
            <a:ext cx="2399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R for a positive result</a:t>
            </a:r>
          </a:p>
        </p:txBody>
      </p:sp>
      <p:pic>
        <p:nvPicPr>
          <p:cNvPr id="911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4724400"/>
            <a:ext cx="2641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4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975" y="914400"/>
            <a:ext cx="8810625" cy="3203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536000" y="5334000"/>
            <a:ext cx="3578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P(Person is a robot | positive result)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3848100" y="5029200"/>
            <a:ext cx="6096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6019800" y="5017532"/>
            <a:ext cx="508000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91480" y="5334000"/>
            <a:ext cx="3952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P(Person is not a robot | positive result)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91000"/>
            <a:ext cx="5673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yields our posterior probabilities for a positive result…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419600" y="2286000"/>
            <a:ext cx="471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76800" y="2069068"/>
            <a:ext cx="1511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positive test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886200" y="12192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19600" y="1066800"/>
            <a:ext cx="21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prior probability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4812268"/>
            <a:ext cx="22669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09600" y="76200"/>
            <a:ext cx="2463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R for a negative result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1219200"/>
            <a:ext cx="8458200" cy="286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8600" y="5509736"/>
            <a:ext cx="3642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P(Person is a robot | negative result)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124200" y="5117068"/>
            <a:ext cx="6096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4953000" y="5106472"/>
            <a:ext cx="508000" cy="39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94179" y="5486400"/>
            <a:ext cx="4016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P(Person is not a robot | negative result)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71600" y="4191000"/>
            <a:ext cx="5827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yields our posterior probabilities for </a:t>
            </a:r>
            <a:r>
              <a:rPr lang="en-US"/>
              <a:t>a negative </a:t>
            </a:r>
            <a:r>
              <a:rPr lang="en-US" dirty="0"/>
              <a:t>result…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4267200" y="25146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53000" y="2209800"/>
            <a:ext cx="3272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Identical to previous code except</a:t>
            </a:r>
          </a:p>
          <a:p>
            <a:r>
              <a:rPr lang="en-US" dirty="0"/>
              <a:t>the test is now negative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675428" y="1535668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08828" y="1383268"/>
            <a:ext cx="21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prior probability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4685" y="381000"/>
            <a:ext cx="806451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great trick of Bayesian stats:</a:t>
            </a:r>
          </a:p>
          <a:p>
            <a:r>
              <a:rPr lang="en-US" dirty="0"/>
              <a:t>	If the observations are </a:t>
            </a:r>
            <a:r>
              <a:rPr lang="en-US" dirty="0">
                <a:solidFill>
                  <a:srgbClr val="FF0000"/>
                </a:solidFill>
              </a:rPr>
              <a:t>independent </a:t>
            </a:r>
            <a:r>
              <a:rPr lang="en-US" dirty="0"/>
              <a:t>the Bayesian update can be repeated.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We bring back our suspect for a second test that is also positive.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Now we want: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/>
              <a:t> P(Person is a robot |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 err="1"/>
              <a:t>,y</a:t>
            </a:r>
            <a:r>
              <a:rPr lang="en-US" baseline="-25000" dirty="0" err="1"/>
              <a:t>p</a:t>
            </a:r>
            <a:r>
              <a:rPr lang="en-US" dirty="0"/>
              <a:t>)</a:t>
            </a:r>
            <a:r>
              <a:rPr lang="en-US" dirty="0">
                <a:solidFill>
                  <a:srgbClr val="FF0000"/>
                </a:solidFill>
              </a:rPr>
              <a:t> 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9361" y="3048000"/>
            <a:ext cx="5555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 and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baseline="-25000" dirty="0"/>
              <a:t> </a:t>
            </a:r>
            <a:r>
              <a:rPr lang="en-US" dirty="0"/>
              <a:t>are </a:t>
            </a:r>
            <a:r>
              <a:rPr lang="en-US" dirty="0">
                <a:solidFill>
                  <a:srgbClr val="FF0000"/>
                </a:solidFill>
              </a:rPr>
              <a:t>independent</a:t>
            </a:r>
            <a:r>
              <a:rPr lang="en-US" dirty="0"/>
              <a:t> positive measurements.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143000" y="2514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3200" y="2667000"/>
            <a:ext cx="7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288268"/>
            <a:ext cx="72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 </a:t>
            </a:r>
          </a:p>
          <a:p>
            <a:r>
              <a:rPr lang="en-US" dirty="0"/>
              <a:t>robot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3276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76400" y="21336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266700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35280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1445" y="2145268"/>
            <a:ext cx="134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4568" y="2667000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0.154 * 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0" y="2145268"/>
            <a:ext cx="140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negative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2667000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0.154 * 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400" y="3288268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0.846 * 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8188" y="3276600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0.846 * 0.95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0" y="2667000"/>
            <a:ext cx="3804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p(robot) = 0.154 * 0.90 + 0.154 * 0.1 = </a:t>
            </a:r>
          </a:p>
          <a:p>
            <a:r>
              <a:rPr lang="en-US" dirty="0"/>
              <a:t>		0.154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0" y="3352800"/>
            <a:ext cx="26645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p(not a robot) =</a:t>
            </a:r>
          </a:p>
          <a:p>
            <a:r>
              <a:rPr lang="en-US" dirty="0"/>
              <a:t>0.846 * 0.05 +0.846 * 0.95</a:t>
            </a:r>
          </a:p>
          <a:p>
            <a:r>
              <a:rPr lang="en-US" dirty="0"/>
              <a:t>=  0.846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143000" y="42672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10000" y="4590871"/>
            <a:ext cx="15616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0.154 * 0.10</a:t>
            </a:r>
          </a:p>
          <a:p>
            <a:r>
              <a:rPr lang="en-US" dirty="0"/>
              <a:t> + 0.846 * 0.95</a:t>
            </a:r>
          </a:p>
          <a:p>
            <a:r>
              <a:rPr lang="en-US" dirty="0"/>
              <a:t>= 0.8191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0617" y="4267200"/>
            <a:ext cx="1323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testPositive</a:t>
            </a:r>
            <a:r>
              <a:rPr lang="en-US" sz="1400" dirty="0"/>
              <a:t>)=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2217" y="4267200"/>
            <a:ext cx="1398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</a:t>
            </a:r>
            <a:r>
              <a:rPr lang="en-US" sz="1400" dirty="0" err="1"/>
              <a:t>testNegative</a:t>
            </a:r>
            <a:r>
              <a:rPr lang="en-US" sz="1400" dirty="0"/>
              <a:t>)=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685800"/>
            <a:ext cx="84629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P(Person is a robot |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 err="1"/>
              <a:t>,y</a:t>
            </a:r>
            <a:r>
              <a:rPr lang="en-US" baseline="-25000" dirty="0" err="1"/>
              <a:t>p</a:t>
            </a:r>
            <a:r>
              <a:rPr lang="en-US" dirty="0"/>
              <a:t>) = p(</a:t>
            </a:r>
            <a:r>
              <a:rPr lang="en-US" dirty="0" err="1"/>
              <a:t>y|person</a:t>
            </a:r>
            <a:r>
              <a:rPr lang="en-US" dirty="0"/>
              <a:t> is a robot) * p(person is a robot) / p(</a:t>
            </a:r>
            <a:r>
              <a:rPr lang="en-US" dirty="0" err="1"/>
              <a:t>testPositive</a:t>
            </a:r>
            <a:r>
              <a:rPr lang="en-US" dirty="0"/>
              <a:t>)</a:t>
            </a:r>
          </a:p>
          <a:p>
            <a:r>
              <a:rPr lang="en-US" dirty="0"/>
              <a:t>		= 0.9 * 0.154 / 0.1809 = 0.766 </a:t>
            </a:r>
            <a:r>
              <a:rPr lang="en-US" dirty="0">
                <a:solidFill>
                  <a:srgbClr val="FF0000"/>
                </a:solidFill>
              </a:rPr>
              <a:t>		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76200"/>
            <a:ext cx="730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use our old </a:t>
            </a:r>
            <a:r>
              <a:rPr lang="en-US" dirty="0">
                <a:solidFill>
                  <a:srgbClr val="FF0000"/>
                </a:solidFill>
              </a:rPr>
              <a:t>posterior</a:t>
            </a:r>
            <a:r>
              <a:rPr lang="en-US" dirty="0"/>
              <a:t> from P(Person is a robot | </a:t>
            </a:r>
            <a:r>
              <a:rPr lang="en-US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 ) as our new </a:t>
            </a:r>
            <a:r>
              <a:rPr lang="en-US" dirty="0">
                <a:solidFill>
                  <a:srgbClr val="FF0000"/>
                </a:solidFill>
              </a:rPr>
              <a:t>prior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38400" y="4590871"/>
            <a:ext cx="15087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0.154 * 0.90</a:t>
            </a:r>
          </a:p>
          <a:p>
            <a:r>
              <a:rPr lang="en-US" dirty="0"/>
              <a:t>+ 0.846 * 0.05</a:t>
            </a:r>
          </a:p>
          <a:p>
            <a:r>
              <a:rPr lang="en-US" dirty="0"/>
              <a:t>= 0.1809</a:t>
            </a:r>
          </a:p>
          <a:p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rot="16200000" flipV="1">
            <a:off x="6400800" y="1219200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0" y="1447800"/>
            <a:ext cx="333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new prior is our old posterior</a:t>
            </a:r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152400" y="32766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5400000">
            <a:off x="914400" y="32766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2400299" y="32385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3810000" y="32766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3400" y="152400"/>
            <a:ext cx="2740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R for two positive results</a:t>
            </a:r>
          </a:p>
        </p:txBody>
      </p:sp>
      <p:pic>
        <p:nvPicPr>
          <p:cNvPr id="931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4619625"/>
            <a:ext cx="20955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1219200"/>
            <a:ext cx="8784354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Arrow Connector 2"/>
          <p:cNvCxnSpPr/>
          <p:nvPr/>
        </p:nvCxnSpPr>
        <p:spPr>
          <a:xfrm flipH="1">
            <a:off x="3733800" y="14478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43400" y="1295400"/>
            <a:ext cx="344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prior before we see any data…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343400" y="24384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76800" y="2286000"/>
            <a:ext cx="2842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new see two data points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876800" y="4772025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94674" y="4583668"/>
            <a:ext cx="2915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belief after 1</a:t>
            </a:r>
            <a:r>
              <a:rPr lang="en-US" baseline="30000" dirty="0"/>
              <a:t>st</a:t>
            </a:r>
            <a:r>
              <a:rPr lang="en-US" dirty="0"/>
              <a:t> data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8113" y="4191000"/>
            <a:ext cx="96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P(robot)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0" y="4202668"/>
            <a:ext cx="1354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P(not-robot)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4674" y="4964668"/>
            <a:ext cx="291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belief after 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en-US" dirty="0" err="1"/>
              <a:t>datapoint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17" idx="1"/>
          </p:cNvCxnSpPr>
          <p:nvPr/>
        </p:nvCxnSpPr>
        <p:spPr>
          <a:xfrm flipH="1" flipV="1">
            <a:off x="4953000" y="4964668"/>
            <a:ext cx="741674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0600" y="228600"/>
            <a:ext cx="5441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watch out beliefs change as new data comes in..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7468"/>
            <a:ext cx="855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make a simulator that will generate test results from our two likelihood distributions</a:t>
            </a:r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143000"/>
            <a:ext cx="4724400" cy="433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5505450"/>
            <a:ext cx="63341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Arrow Connector 2"/>
          <p:cNvCxnSpPr/>
          <p:nvPr/>
        </p:nvCxnSpPr>
        <p:spPr>
          <a:xfrm flipH="1">
            <a:off x="4495800" y="14478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81600" y="1143000"/>
            <a:ext cx="3186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distribution of test results if</a:t>
            </a:r>
          </a:p>
          <a:p>
            <a:r>
              <a:rPr lang="en-US" dirty="0"/>
              <a:t>you are or aren’t a robot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257800" y="5181600"/>
            <a:ext cx="10668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0" y="4953000"/>
            <a:ext cx="220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Simulated test results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950" y="495300"/>
            <a:ext cx="878205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8600" y="0"/>
            <a:ext cx="8179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watch how much confidence we have that someone is a robot given repeated</a:t>
            </a:r>
          </a:p>
          <a:p>
            <a:r>
              <a:rPr lang="en-US" dirty="0"/>
              <a:t>tests by repeatedly applying the update rule…</a:t>
            </a:r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3200400"/>
            <a:ext cx="3733800" cy="3631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26395" y="3657600"/>
            <a:ext cx="5131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we see more data, an occasional incorrect</a:t>
            </a:r>
          </a:p>
          <a:p>
            <a:r>
              <a:rPr lang="en-US" dirty="0"/>
              <a:t>result no longer has much influence on our beliefs…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53780"/>
            <a:ext cx="487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https://github.com/afodor/afodor.github.io/blob/master/classes/stats2015/BayesDetector.txt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3400" y="152400"/>
            <a:ext cx="4290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Bayes law (with an updating robot detector)</a:t>
            </a:r>
          </a:p>
          <a:p>
            <a:r>
              <a:rPr lang="en-US" dirty="0"/>
              <a:t>The famous dishonest casino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0800000">
            <a:off x="3505200" y="608011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609600"/>
            <a:ext cx="691515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143000" y="3048000"/>
            <a:ext cx="46373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from Chapter 1 of the Durbin et al. book.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475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3124200"/>
            <a:ext cx="21050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98525" y="76200"/>
            <a:ext cx="6346825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 famous “occasionally dishonest casino”.</a:t>
            </a:r>
          </a:p>
          <a:p>
            <a:endParaRPr lang="en-US" dirty="0"/>
          </a:p>
          <a:p>
            <a:r>
              <a:rPr lang="en-US" dirty="0"/>
              <a:t>Fair dice:  1,2,3,4,5,6 all come up (1/6) of the time</a:t>
            </a:r>
          </a:p>
          <a:p>
            <a:r>
              <a:rPr lang="en-US" dirty="0"/>
              <a:t>i.e.  P(1) = 1/6, P(2) = 1/6, …. P(6) = 1/6</a:t>
            </a:r>
          </a:p>
          <a:p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205163" y="29765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014413" y="1690688"/>
          <a:ext cx="2370137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291960" progId="Equation.3">
                  <p:embed/>
                </p:oleObj>
              </mc:Choice>
              <mc:Fallback>
                <p:oleObj name="Equation" r:id="rId3" imgW="863280" imgH="2919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1690688"/>
                        <a:ext cx="2370137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00138" y="2590800"/>
            <a:ext cx="5453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You have to roll a number between 1 and 6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3360738"/>
            <a:ext cx="13792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Loaded Dice:  6 comes up 50% of the time.</a:t>
            </a:r>
          </a:p>
          <a:p>
            <a:r>
              <a:rPr lang="en-US"/>
              <a:t>i.e. P(1) = 1/10, P(2) = 1/10, P(3)=1/10, P(4)=1/10,p(5)=1/10,p(6)=1/2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938213" y="4149725"/>
          <a:ext cx="2370137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291960" progId="Equation.3">
                  <p:embed/>
                </p:oleObj>
              </mc:Choice>
              <mc:Fallback>
                <p:oleObj name="Equation" r:id="rId5" imgW="863280" imgH="2919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4149725"/>
                        <a:ext cx="2370137" cy="795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719138" y="4911725"/>
            <a:ext cx="5453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You have to roll a number between 1 and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14400" y="111125"/>
            <a:ext cx="617169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Probability that we roll a 1…6</a:t>
            </a:r>
          </a:p>
          <a:p>
            <a:r>
              <a:rPr lang="en-US" dirty="0"/>
              <a:t>P(1), P(2), P(3), P(4), P(5), P(6)</a:t>
            </a:r>
          </a:p>
          <a:p>
            <a:r>
              <a:rPr lang="en-US" dirty="0"/>
              <a:t>Let’s call that P(Y) – What we can observe</a:t>
            </a:r>
          </a:p>
          <a:p>
            <a:endParaRPr lang="en-US" dirty="0"/>
          </a:p>
          <a:p>
            <a:r>
              <a:rPr lang="en-US" dirty="0"/>
              <a:t>Probability that we pick up a die.  </a:t>
            </a:r>
          </a:p>
          <a:p>
            <a:r>
              <a:rPr lang="en-US" dirty="0"/>
              <a:t>P(</a:t>
            </a:r>
            <a:r>
              <a:rPr lang="en-US" dirty="0" err="1"/>
              <a:t>D</a:t>
            </a:r>
            <a:r>
              <a:rPr lang="en-US" baseline="-25000" dirty="0" err="1"/>
              <a:t>fair</a:t>
            </a:r>
            <a:r>
              <a:rPr lang="en-US" dirty="0"/>
              <a:t>) = 0.99, P(</a:t>
            </a:r>
            <a:r>
              <a:rPr lang="en-US" dirty="0" err="1"/>
              <a:t>D</a:t>
            </a:r>
            <a:r>
              <a:rPr lang="en-US" baseline="-25000" dirty="0" err="1"/>
              <a:t>loaded</a:t>
            </a:r>
            <a:r>
              <a:rPr lang="en-US" dirty="0"/>
              <a:t>)=0.01</a:t>
            </a:r>
          </a:p>
          <a:p>
            <a:r>
              <a:rPr lang="en-US" dirty="0"/>
              <a:t>Let’s call that P(X) – We don’t know which dice we’ve picked up.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joint probability </a:t>
            </a:r>
            <a:r>
              <a:rPr lang="en-US" dirty="0"/>
              <a:t>is P(X,Y) – that we pick up a some die</a:t>
            </a:r>
          </a:p>
          <a:p>
            <a:r>
              <a:rPr lang="en-US" dirty="0"/>
              <a:t>(fair or loaded) and roll some value (from 1 to 6) with it.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692525" y="2941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2362200" y="4143157"/>
          <a:ext cx="36052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203040" progId="Equation.3">
                  <p:embed/>
                </p:oleObj>
              </mc:Choice>
              <mc:Fallback>
                <p:oleObj name="Equation" r:id="rId3" imgW="143496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143157"/>
                        <a:ext cx="3605213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4035425" y="4646394"/>
            <a:ext cx="2635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730625" y="5068669"/>
            <a:ext cx="273869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The probability of Y given X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270125" y="193675"/>
            <a:ext cx="55083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There are 12 possibilities (2 dice * 6 values for each die)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93725" y="1371600"/>
            <a:ext cx="3019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P(1, D</a:t>
            </a:r>
            <a:r>
              <a:rPr lang="en-US" baseline="-25000"/>
              <a:t>fair</a:t>
            </a:r>
            <a:r>
              <a:rPr lang="en-US"/>
              <a:t>) = (1/6) ( .99)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17538" y="1787525"/>
            <a:ext cx="3019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P(2, D</a:t>
            </a:r>
            <a:r>
              <a:rPr lang="en-US" baseline="-25000"/>
              <a:t>fair</a:t>
            </a:r>
            <a:r>
              <a:rPr lang="en-US"/>
              <a:t>) = (1/6) ( .99)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09600" y="2244725"/>
            <a:ext cx="3019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P(3, D</a:t>
            </a:r>
            <a:r>
              <a:rPr lang="en-US" baseline="-25000"/>
              <a:t>fair</a:t>
            </a:r>
            <a:r>
              <a:rPr lang="en-US"/>
              <a:t>) = (1/6) ( .99)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609600" y="2701925"/>
            <a:ext cx="3019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P(4, D</a:t>
            </a:r>
            <a:r>
              <a:rPr lang="en-US" baseline="-25000"/>
              <a:t>fair</a:t>
            </a:r>
            <a:r>
              <a:rPr lang="en-US"/>
              <a:t>) = (1/6) ( .99)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609600" y="3159125"/>
            <a:ext cx="3019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P(5, D</a:t>
            </a:r>
            <a:r>
              <a:rPr lang="en-US" baseline="-25000"/>
              <a:t>fair</a:t>
            </a:r>
            <a:r>
              <a:rPr lang="en-US"/>
              <a:t>) = (1/6) ( .99)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09600" y="3692525"/>
            <a:ext cx="3019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P(6, D</a:t>
            </a:r>
            <a:r>
              <a:rPr lang="en-US" baseline="-25000"/>
              <a:t>fair</a:t>
            </a:r>
            <a:r>
              <a:rPr lang="en-US"/>
              <a:t>) = (1/6) ( .99)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495800" y="1412875"/>
            <a:ext cx="343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P(1, D</a:t>
            </a:r>
            <a:r>
              <a:rPr lang="en-US" baseline="-25000"/>
              <a:t>loaded</a:t>
            </a:r>
            <a:r>
              <a:rPr lang="en-US"/>
              <a:t>) = (1/10) ( .01)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4519613" y="1828800"/>
            <a:ext cx="343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P(2, D</a:t>
            </a:r>
            <a:r>
              <a:rPr lang="en-US" baseline="-25000"/>
              <a:t>loaded</a:t>
            </a:r>
            <a:r>
              <a:rPr lang="en-US"/>
              <a:t>) = (1/10) ( .01)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511675" y="2286000"/>
            <a:ext cx="343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P(3, D</a:t>
            </a:r>
            <a:r>
              <a:rPr lang="en-US" baseline="-25000"/>
              <a:t>loaded</a:t>
            </a:r>
            <a:r>
              <a:rPr lang="en-US"/>
              <a:t>) = (1/10) ( .01)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511675" y="2743200"/>
            <a:ext cx="343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P(4, D</a:t>
            </a:r>
            <a:r>
              <a:rPr lang="en-US" baseline="-25000"/>
              <a:t>loaded</a:t>
            </a:r>
            <a:r>
              <a:rPr lang="en-US"/>
              <a:t>) = (1/10) ( .01)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4511675" y="3200400"/>
            <a:ext cx="343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P(5, D</a:t>
            </a:r>
            <a:r>
              <a:rPr lang="en-US" baseline="-25000"/>
              <a:t>loaded</a:t>
            </a:r>
            <a:r>
              <a:rPr lang="en-US"/>
              <a:t>) = (1/10) ( .01)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4511675" y="3733800"/>
            <a:ext cx="343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P(6, D</a:t>
            </a:r>
            <a:r>
              <a:rPr lang="en-US" baseline="-25000"/>
              <a:t>loaded</a:t>
            </a:r>
            <a:r>
              <a:rPr lang="en-US"/>
              <a:t>) = (5/10) ( .01)</a:t>
            </a: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900488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304800" y="4343400"/>
          <a:ext cx="352107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280" imgH="431640" progId="Equation.3">
                  <p:embed/>
                </p:oleObj>
              </mc:Choice>
              <mc:Fallback>
                <p:oleObj name="Equation" r:id="rId3" imgW="2006280" imgH="4316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343400"/>
                        <a:ext cx="3521075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3776663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4260850" y="4371975"/>
          <a:ext cx="38242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89040" imgH="431640" progId="Equation.3">
                  <p:embed/>
                </p:oleObj>
              </mc:Choice>
              <mc:Fallback>
                <p:oleObj name="Equation" r:id="rId5" imgW="2489040" imgH="431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4371975"/>
                        <a:ext cx="3824288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3"/>
          <p:cNvGraphicFramePr>
            <a:graphicFrameLocks noChangeAspect="1"/>
          </p:cNvGraphicFramePr>
          <p:nvPr/>
        </p:nvGraphicFramePr>
        <p:xfrm>
          <a:off x="2378075" y="5334000"/>
          <a:ext cx="18716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431640" progId="Equation.3">
                  <p:embed/>
                </p:oleObj>
              </mc:Choice>
              <mc:Fallback>
                <p:oleObj name="Equation" r:id="rId7" imgW="1066680" imgH="4316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5334000"/>
                        <a:ext cx="1871663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/>
        </p:nvGraphicFramePr>
        <p:xfrm>
          <a:off x="4267200" y="5381625"/>
          <a:ext cx="21066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431640" progId="Equation.3">
                  <p:embed/>
                </p:oleObj>
              </mc:Choice>
              <mc:Fallback>
                <p:oleObj name="Equation" r:id="rId9" imgW="1371600" imgH="4316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381625"/>
                        <a:ext cx="2106613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3"/>
          <p:cNvGraphicFramePr>
            <a:graphicFrameLocks noChangeAspect="1"/>
          </p:cNvGraphicFramePr>
          <p:nvPr/>
        </p:nvGraphicFramePr>
        <p:xfrm>
          <a:off x="2590800" y="685800"/>
          <a:ext cx="36052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34960" imgH="203040" progId="Equation.3">
                  <p:embed/>
                </p:oleObj>
              </mc:Choice>
              <mc:Fallback>
                <p:oleObj name="Equation" r:id="rId11" imgW="143496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685800"/>
                        <a:ext cx="3605213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45720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terms of the Bayesian Universe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143000" y="2286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1215" y="2438400"/>
            <a:ext cx="110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X=Fair die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3212068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X=Loaded die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30480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76200" y="3200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76400" y="1905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4384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31242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</a:t>
            </a:r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838200" y="32004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54568" y="2438400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0.99*</a:t>
            </a:r>
          </a:p>
          <a:p>
            <a:r>
              <a:rPr lang="en-US" dirty="0"/>
              <a:t>(1/6)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1714500" y="31623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2514599" y="3200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143000" y="4038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282" y="4114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514600" y="190500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Y=1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6600" y="190500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Y=2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5843" y="2438400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0.99*</a:t>
            </a:r>
          </a:p>
          <a:p>
            <a:r>
              <a:rPr lang="en-US" dirty="0"/>
              <a:t>(1/6)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0243" y="2438400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0.99*</a:t>
            </a:r>
          </a:p>
          <a:p>
            <a:r>
              <a:rPr lang="en-US" dirty="0"/>
              <a:t>(1/6)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8443" y="2438400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0.99*</a:t>
            </a:r>
          </a:p>
          <a:p>
            <a:r>
              <a:rPr lang="en-US" dirty="0"/>
              <a:t>(1/6)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6643" y="2438400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0.99*</a:t>
            </a:r>
          </a:p>
          <a:p>
            <a:r>
              <a:rPr lang="en-US" dirty="0"/>
              <a:t>(1/6)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3200" y="2438400"/>
            <a:ext cx="70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0.99*</a:t>
            </a:r>
          </a:p>
          <a:p>
            <a:r>
              <a:rPr lang="en-US" dirty="0"/>
              <a:t>(1/6)</a:t>
            </a: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3505200" y="32766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343400" y="32004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5105400" y="32766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38400" y="3200400"/>
            <a:ext cx="766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0.01*</a:t>
            </a:r>
          </a:p>
          <a:p>
            <a:r>
              <a:rPr lang="en-US" dirty="0"/>
              <a:t>(1/10)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79675" y="3200400"/>
            <a:ext cx="766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0.01*</a:t>
            </a:r>
          </a:p>
          <a:p>
            <a:r>
              <a:rPr lang="en-US" dirty="0"/>
              <a:t>(1/10)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4075" y="3200400"/>
            <a:ext cx="766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0.01*</a:t>
            </a:r>
          </a:p>
          <a:p>
            <a:r>
              <a:rPr lang="en-US" dirty="0"/>
              <a:t>(1/10)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2275" y="3200400"/>
            <a:ext cx="766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0.01*</a:t>
            </a:r>
          </a:p>
          <a:p>
            <a:r>
              <a:rPr lang="en-US" dirty="0"/>
              <a:t>(1/10)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0475" y="3200400"/>
            <a:ext cx="766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0.01*</a:t>
            </a:r>
          </a:p>
          <a:p>
            <a:r>
              <a:rPr lang="en-US" dirty="0"/>
              <a:t>(1/10)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032" y="3200400"/>
            <a:ext cx="766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0.01*</a:t>
            </a:r>
          </a:p>
          <a:p>
            <a:r>
              <a:rPr lang="en-US" dirty="0"/>
              <a:t>(5/10)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63273" y="190500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Y=3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7673" y="190500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Y=4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190500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Y=5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77873" y="190500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Y=6</a:t>
            </a:r>
          </a:p>
        </p:txBody>
      </p:sp>
      <p:cxnSp>
        <p:nvCxnSpPr>
          <p:cNvPr id="60" name="Straight Connector 59"/>
          <p:cNvCxnSpPr/>
          <p:nvPr/>
        </p:nvCxnSpPr>
        <p:spPr>
          <a:xfrm rot="5400000">
            <a:off x="6019800" y="32766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467600" y="2438400"/>
            <a:ext cx="128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p(fair)=0.99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6200" y="1639669"/>
            <a:ext cx="1016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</a:t>
            </a:r>
          </a:p>
          <a:p>
            <a:r>
              <a:rPr lang="en-US" dirty="0" err="1"/>
              <a:t>probs</a:t>
            </a:r>
            <a:r>
              <a:rPr lang="en-US" dirty="0"/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67600" y="3288268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p(loaded)=0.01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38400" y="4114800"/>
            <a:ext cx="710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P(1)=</a:t>
            </a:r>
          </a:p>
          <a:p>
            <a:r>
              <a:rPr lang="en-US" dirty="0"/>
              <a:t>0.166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1949" y="4078069"/>
            <a:ext cx="710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P(2)=</a:t>
            </a:r>
          </a:p>
          <a:p>
            <a:r>
              <a:rPr lang="en-US" dirty="0"/>
              <a:t>0.166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0" y="4078069"/>
            <a:ext cx="710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P(3)=</a:t>
            </a:r>
          </a:p>
          <a:p>
            <a:r>
              <a:rPr lang="en-US" dirty="0"/>
              <a:t>0.166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5400" y="4038600"/>
            <a:ext cx="710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P(4)=</a:t>
            </a:r>
          </a:p>
          <a:p>
            <a:r>
              <a:rPr lang="en-US" dirty="0"/>
              <a:t>0.166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42749" y="4038600"/>
            <a:ext cx="710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P(5)=</a:t>
            </a:r>
          </a:p>
          <a:p>
            <a:r>
              <a:rPr lang="en-US" dirty="0"/>
              <a:t>0.166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05600" y="4038600"/>
            <a:ext cx="676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P(6)=</a:t>
            </a:r>
          </a:p>
          <a:p>
            <a:r>
              <a:rPr lang="en-US" dirty="0"/>
              <a:t>0.17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 Box 2"/>
          <p:cNvSpPr txBox="1">
            <a:spLocks noChangeArrowheads="1"/>
          </p:cNvSpPr>
          <p:nvPr/>
        </p:nvSpPr>
        <p:spPr bwMode="auto">
          <a:xfrm>
            <a:off x="1097108" y="422275"/>
            <a:ext cx="16460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  <p:graphicFrame>
        <p:nvGraphicFramePr>
          <p:cNvPr id="29698" name="Object 3"/>
          <p:cNvGraphicFramePr>
            <a:graphicFrameLocks noChangeAspect="1"/>
          </p:cNvGraphicFramePr>
          <p:nvPr/>
        </p:nvGraphicFramePr>
        <p:xfrm>
          <a:off x="2057400" y="1066800"/>
          <a:ext cx="40211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00200" imgH="203040" progId="Equation.3">
                  <p:embed/>
                </p:oleObj>
              </mc:Choice>
              <mc:Fallback>
                <p:oleObj name="Equation" r:id="rId3" imgW="160020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066800"/>
                        <a:ext cx="4021138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4"/>
          <p:cNvGraphicFramePr>
            <a:graphicFrameLocks noChangeAspect="1"/>
          </p:cNvGraphicFramePr>
          <p:nvPr/>
        </p:nvGraphicFramePr>
        <p:xfrm>
          <a:off x="2133600" y="1554163"/>
          <a:ext cx="36052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203040" progId="Equation.3">
                  <p:embed/>
                </p:oleObj>
              </mc:Choice>
              <mc:Fallback>
                <p:oleObj name="Equation" r:id="rId5" imgW="14349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554163"/>
                        <a:ext cx="3605213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5"/>
          <p:cNvSpPr txBox="1">
            <a:spLocks noChangeArrowheads="1"/>
          </p:cNvSpPr>
          <p:nvPr/>
        </p:nvSpPr>
        <p:spPr bwMode="auto">
          <a:xfrm>
            <a:off x="1050925" y="2022475"/>
            <a:ext cx="713958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(because it doesn’t matter whether we say </a:t>
            </a:r>
          </a:p>
          <a:p>
            <a:r>
              <a:rPr lang="en-US" dirty="0"/>
              <a:t>“I rolled a six with a die I picked up” or “I picked up a die and rolled a six”) </a:t>
            </a:r>
          </a:p>
          <a:p>
            <a:r>
              <a:rPr lang="en-US" dirty="0"/>
              <a:t>so..</a:t>
            </a:r>
          </a:p>
        </p:txBody>
      </p:sp>
      <p:graphicFrame>
        <p:nvGraphicFramePr>
          <p:cNvPr id="29700" name="Object 6"/>
          <p:cNvGraphicFramePr>
            <a:graphicFrameLocks noChangeAspect="1"/>
          </p:cNvGraphicFramePr>
          <p:nvPr/>
        </p:nvGraphicFramePr>
        <p:xfrm>
          <a:off x="1981200" y="3663950"/>
          <a:ext cx="39624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419040" progId="Equation.3">
                  <p:embed/>
                </p:oleObj>
              </mc:Choice>
              <mc:Fallback>
                <p:oleObj name="Equation" r:id="rId7" imgW="149832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663950"/>
                        <a:ext cx="3962400" cy="1109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974725" y="0"/>
            <a:ext cx="4474366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So, to follow an example from the book</a:t>
            </a:r>
          </a:p>
          <a:p>
            <a:r>
              <a:rPr lang="en-US" dirty="0"/>
              <a:t>You pick up a die and roll 3 sixes.  </a:t>
            </a:r>
          </a:p>
          <a:p>
            <a:r>
              <a:rPr lang="en-US" dirty="0"/>
              <a:t>What is the probability that the die is loaded?</a:t>
            </a:r>
          </a:p>
          <a:p>
            <a:endParaRPr lang="en-US" dirty="0"/>
          </a:p>
          <a:p>
            <a:r>
              <a:rPr lang="en-US" dirty="0"/>
              <a:t>P(D</a:t>
            </a:r>
            <a:r>
              <a:rPr lang="en-US" baseline="-25000" dirty="0"/>
              <a:t>loaded</a:t>
            </a:r>
            <a:r>
              <a:rPr lang="en-US" dirty="0"/>
              <a:t>|3 sixes) = </a:t>
            </a:r>
          </a:p>
          <a:p>
            <a:endParaRPr lang="en-US" dirty="0"/>
          </a:p>
          <a:p>
            <a:r>
              <a:rPr lang="en-US" dirty="0"/>
              <a:t>                            P(3 sixes| </a:t>
            </a:r>
            <a:r>
              <a:rPr lang="en-US" dirty="0" err="1"/>
              <a:t>D</a:t>
            </a:r>
            <a:r>
              <a:rPr lang="en-US" baseline="-25000" dirty="0" err="1"/>
              <a:t>loaded</a:t>
            </a:r>
            <a:r>
              <a:rPr lang="en-US" dirty="0"/>
              <a:t>) * P(</a:t>
            </a:r>
            <a:r>
              <a:rPr lang="en-US" dirty="0" err="1"/>
              <a:t>D</a:t>
            </a:r>
            <a:r>
              <a:rPr lang="en-US" baseline="-25000" dirty="0" err="1"/>
              <a:t>loaded</a:t>
            </a:r>
            <a:r>
              <a:rPr lang="en-US" dirty="0"/>
              <a:t>)  </a:t>
            </a:r>
          </a:p>
          <a:p>
            <a:endParaRPr lang="en-US" baseline="-25000" dirty="0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981200" y="21336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200400" y="2057400"/>
            <a:ext cx="1395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P(3 sixes)</a:t>
            </a:r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1249363" y="2667000"/>
          <a:ext cx="4997450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838080" progId="Equation.3">
                  <p:embed/>
                </p:oleObj>
              </mc:Choice>
              <mc:Fallback>
                <p:oleObj name="Equation" r:id="rId3" imgW="2234880" imgH="838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2667000"/>
                        <a:ext cx="4997450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974725" y="0"/>
            <a:ext cx="4474366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So, to follow the example from the book</a:t>
            </a:r>
          </a:p>
          <a:p>
            <a:r>
              <a:rPr lang="en-US" dirty="0"/>
              <a:t>You pick up a die and roll 3 sixes.  </a:t>
            </a:r>
          </a:p>
          <a:p>
            <a:r>
              <a:rPr lang="en-US" dirty="0"/>
              <a:t>What is the probability that the die is loaded?</a:t>
            </a:r>
          </a:p>
          <a:p>
            <a:endParaRPr lang="en-US" dirty="0"/>
          </a:p>
          <a:p>
            <a:r>
              <a:rPr lang="en-US" dirty="0"/>
              <a:t>P(D</a:t>
            </a:r>
            <a:r>
              <a:rPr lang="en-US" baseline="-25000" dirty="0"/>
              <a:t>loaded</a:t>
            </a:r>
            <a:r>
              <a:rPr lang="en-US" dirty="0"/>
              <a:t>|3 sixes) = </a:t>
            </a:r>
          </a:p>
          <a:p>
            <a:endParaRPr lang="en-US" dirty="0"/>
          </a:p>
          <a:p>
            <a:r>
              <a:rPr lang="en-US" dirty="0"/>
              <a:t>                            P(3 sixes| </a:t>
            </a:r>
            <a:r>
              <a:rPr lang="en-US" dirty="0" err="1"/>
              <a:t>D</a:t>
            </a:r>
            <a:r>
              <a:rPr lang="en-US" baseline="-25000" dirty="0" err="1"/>
              <a:t>loaded</a:t>
            </a:r>
            <a:r>
              <a:rPr lang="en-US" dirty="0"/>
              <a:t>) * P(</a:t>
            </a:r>
            <a:r>
              <a:rPr lang="en-US" dirty="0" err="1"/>
              <a:t>D</a:t>
            </a:r>
            <a:r>
              <a:rPr lang="en-US" baseline="-25000" dirty="0" err="1"/>
              <a:t>loaded</a:t>
            </a:r>
            <a:r>
              <a:rPr lang="en-US" dirty="0"/>
              <a:t>)  </a:t>
            </a:r>
          </a:p>
          <a:p>
            <a:endParaRPr lang="en-US" baseline="-25000" dirty="0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981200" y="21336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200400" y="2057400"/>
            <a:ext cx="1395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P(3 sixes)</a:t>
            </a:r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1249363" y="2667000"/>
          <a:ext cx="4997450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838080" progId="Equation.3">
                  <p:embed/>
                </p:oleObj>
              </mc:Choice>
              <mc:Fallback>
                <p:oleObj name="Equation" r:id="rId3" imgW="2234880" imgH="838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2667000"/>
                        <a:ext cx="4997450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76200" y="39624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127125" y="3886200"/>
            <a:ext cx="400744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P(D</a:t>
            </a:r>
            <a:r>
              <a:rPr lang="en-US" baseline="-25000" dirty="0"/>
              <a:t>fair</a:t>
            </a:r>
            <a:r>
              <a:rPr lang="en-US" dirty="0"/>
              <a:t>|3 sixes) = P(3 sixes| </a:t>
            </a:r>
            <a:r>
              <a:rPr lang="en-US" dirty="0" err="1"/>
              <a:t>D</a:t>
            </a:r>
            <a:r>
              <a:rPr lang="en-US" baseline="-25000" dirty="0" err="1"/>
              <a:t>fair</a:t>
            </a:r>
            <a:r>
              <a:rPr lang="en-US" dirty="0"/>
              <a:t>) * P(</a:t>
            </a:r>
            <a:r>
              <a:rPr lang="en-US" dirty="0" err="1"/>
              <a:t>D</a:t>
            </a:r>
            <a:r>
              <a:rPr lang="en-US" baseline="-25000" dirty="0" err="1"/>
              <a:t>fair</a:t>
            </a:r>
            <a:r>
              <a:rPr lang="en-US" dirty="0"/>
              <a:t>)  </a:t>
            </a:r>
          </a:p>
          <a:p>
            <a:endParaRPr lang="en-US" baseline="-25000" dirty="0"/>
          </a:p>
        </p:txBody>
      </p:sp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1401763" y="4889500"/>
          <a:ext cx="499745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34880" imgH="990360" progId="Equation.3">
                  <p:embed/>
                </p:oleObj>
              </mc:Choice>
              <mc:Fallback>
                <p:oleObj name="Equation" r:id="rId5" imgW="2234880" imgH="9903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63" y="4889500"/>
                        <a:ext cx="4997450" cy="221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2743200" y="4572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352800" y="4495800"/>
            <a:ext cx="1395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P(3 sixes)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5400000" flipH="1" flipV="1">
            <a:off x="4465637" y="-258763"/>
            <a:ext cx="0" cy="8594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41325" y="346075"/>
            <a:ext cx="6443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 what does this have to do with bioinformatics…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33400" y="1184275"/>
            <a:ext cx="8199438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Instead of dice rolls we have sequence…</a:t>
            </a:r>
          </a:p>
          <a:p>
            <a:endParaRPr lang="en-US"/>
          </a:p>
          <a:p>
            <a:r>
              <a:rPr lang="en-US"/>
              <a:t>Looking at a sequence, we want to find places where:</a:t>
            </a:r>
          </a:p>
          <a:p>
            <a:endParaRPr lang="en-US"/>
          </a:p>
          <a:p>
            <a:r>
              <a:rPr lang="en-US"/>
              <a:t>	We transition from membrane to non-membrane sequence</a:t>
            </a:r>
          </a:p>
          <a:p>
            <a:r>
              <a:rPr lang="en-US"/>
              <a:t>	We transition from intron to exon</a:t>
            </a:r>
          </a:p>
          <a:p>
            <a:r>
              <a:rPr lang="en-US"/>
              <a:t>	We transition from “repeat element” to gene.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93725" y="4003675"/>
            <a:ext cx="77946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The sequences are like dice rolls.  We ask, “which kind of </a:t>
            </a:r>
          </a:p>
          <a:p>
            <a:r>
              <a:rPr lang="en-US"/>
              <a:t>‘sequence die’ could produce the sequences that we observed”</a:t>
            </a:r>
          </a:p>
          <a:p>
            <a:endParaRPr lang="en-US"/>
          </a:p>
          <a:p>
            <a:r>
              <a:rPr lang="en-US"/>
              <a:t>Are we looking at an intron or an exon?  The two kinds of </a:t>
            </a:r>
          </a:p>
          <a:p>
            <a:r>
              <a:rPr lang="en-US"/>
              <a:t>genomic structures “emit” different kinds of sequences.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46125" y="422275"/>
            <a:ext cx="7962900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Fair Die -&gt; emits one distribution of probabilities</a:t>
            </a:r>
          </a:p>
          <a:p>
            <a:r>
              <a:rPr lang="en-US"/>
              <a:t>Loaded Die -&gt; emits another distribution of probabilities</a:t>
            </a:r>
          </a:p>
          <a:p>
            <a:endParaRPr lang="en-US"/>
          </a:p>
          <a:p>
            <a:r>
              <a:rPr lang="en-US"/>
              <a:t>Membrane Region -&gt; emits one distribution of aa’s</a:t>
            </a:r>
          </a:p>
          <a:p>
            <a:r>
              <a:rPr lang="en-US"/>
              <a:t>Non-Membrane Region -&gt; emits another distribution of aa’s</a:t>
            </a:r>
          </a:p>
          <a:p>
            <a:endParaRPr lang="en-US"/>
          </a:p>
          <a:p>
            <a:r>
              <a:rPr lang="en-US"/>
              <a:t>Algorithms that help us discriminate Fair Die from Loaded Die </a:t>
            </a:r>
          </a:p>
          <a:p>
            <a:r>
              <a:rPr lang="en-US"/>
              <a:t>will also help us discriminate Membrane Regions from</a:t>
            </a:r>
          </a:p>
          <a:p>
            <a:r>
              <a:rPr lang="en-US"/>
              <a:t>Non-Membrane Regions</a:t>
            </a:r>
          </a:p>
          <a:p>
            <a:endParaRPr lang="en-US"/>
          </a:p>
          <a:p>
            <a:r>
              <a:rPr lang="en-US"/>
              <a:t>(or introns from exons, genes from non-genes, </a:t>
            </a:r>
          </a:p>
          <a:p>
            <a:r>
              <a:rPr lang="en-US"/>
              <a:t>RNAi genes from coding genes, etc. etc.)</a:t>
            </a:r>
          </a:p>
          <a:p>
            <a:endParaRPr lang="en-US"/>
          </a:p>
          <a:p>
            <a:r>
              <a:rPr lang="en-US"/>
              <a:t>A central “trick” of bioinformatics.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1981200" y="796925"/>
          <a:ext cx="39624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419040" progId="Equation.3">
                  <p:embed/>
                </p:oleObj>
              </mc:Choice>
              <mc:Fallback>
                <p:oleObj name="Equation" r:id="rId3" imgW="149832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796925"/>
                        <a:ext cx="3962400" cy="1109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203325" y="76200"/>
            <a:ext cx="408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Where we are going with this…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905000"/>
            <a:ext cx="83820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If we want to know P(a sequence is </a:t>
            </a:r>
            <a:r>
              <a:rPr lang="en-US" dirty="0" err="1"/>
              <a:t>transmembrane|sequence</a:t>
            </a:r>
            <a:r>
              <a:rPr lang="en-US" dirty="0"/>
              <a:t>) for some </a:t>
            </a:r>
            <a:r>
              <a:rPr lang="en-US" dirty="0">
                <a:solidFill>
                  <a:srgbClr val="FF0000"/>
                </a:solidFill>
              </a:rPr>
              <a:t>observed</a:t>
            </a:r>
            <a:r>
              <a:rPr lang="en-US" dirty="0"/>
              <a:t> protein sequence.  “ATTGAYSSWWW….”</a:t>
            </a:r>
          </a:p>
          <a:p>
            <a:pPr>
              <a:spcBef>
                <a:spcPct val="50000"/>
              </a:spcBef>
            </a:pPr>
            <a:r>
              <a:rPr lang="en-US" dirty="0"/>
              <a:t>We need to know</a:t>
            </a:r>
          </a:p>
          <a:p>
            <a:pPr>
              <a:spcBef>
                <a:spcPct val="50000"/>
              </a:spcBef>
            </a:pPr>
            <a:r>
              <a:rPr lang="en-US" dirty="0"/>
              <a:t>P(sequence) = the probability of “rolling” that sequence using a “die” based on the background </a:t>
            </a:r>
            <a:r>
              <a:rPr lang="en-US" dirty="0" err="1"/>
              <a:t>aa</a:t>
            </a:r>
            <a:r>
              <a:rPr lang="en-US" dirty="0"/>
              <a:t> frequencies in all of </a:t>
            </a:r>
            <a:r>
              <a:rPr lang="en-US" dirty="0" err="1"/>
              <a:t>SwissProt</a:t>
            </a:r>
            <a:endParaRPr lang="en-US" dirty="0"/>
          </a:p>
          <a:p>
            <a:pPr>
              <a:spcBef>
                <a:spcPct val="50000"/>
              </a:spcBef>
            </a:pPr>
            <a:r>
              <a:rPr lang="en-US" dirty="0"/>
              <a:t>P(transmembrane) = what fraction of all sequences are transmembrane</a:t>
            </a:r>
          </a:p>
          <a:p>
            <a:pPr>
              <a:spcBef>
                <a:spcPct val="50000"/>
              </a:spcBef>
            </a:pPr>
            <a:r>
              <a:rPr lang="en-US" dirty="0"/>
              <a:t>P(</a:t>
            </a:r>
            <a:r>
              <a:rPr lang="en-US" dirty="0" err="1"/>
              <a:t>sequence|transmembrane</a:t>
            </a:r>
            <a:r>
              <a:rPr lang="en-US" dirty="0"/>
              <a:t>)=the probability of “rolling” that sequence using a die based only on transmembrane sequences.  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57200" y="5908675"/>
            <a:ext cx="7118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(i.e. using a “die” based on sequences in our </a:t>
            </a:r>
            <a:r>
              <a:rPr lang="en-US">
                <a:solidFill>
                  <a:srgbClr val="FF0000"/>
                </a:solidFill>
              </a:rPr>
              <a:t>training set</a:t>
            </a:r>
            <a:r>
              <a:rPr lang="en-US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6400800"/>
            <a:ext cx="2632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(but more on that later….)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85800"/>
            <a:ext cx="664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Next: Bayesian approach to inference with the binomial distribution…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3027</Words>
  <Application>Microsoft Office PowerPoint</Application>
  <PresentationFormat>On-screen Show (4:3)</PresentationFormat>
  <Paragraphs>523</Paragraphs>
  <Slides>33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Anthony Fodor</cp:lastModifiedBy>
  <cp:revision>217</cp:revision>
  <dcterms:created xsi:type="dcterms:W3CDTF">2006-08-16T00:00:00Z</dcterms:created>
  <dcterms:modified xsi:type="dcterms:W3CDTF">2026-01-29T04:25:52Z</dcterms:modified>
</cp:coreProperties>
</file>