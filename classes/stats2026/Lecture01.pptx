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2"/>
  </p:notesMasterIdLst>
  <p:sldIdLst>
    <p:sldId id="256" r:id="rId2"/>
    <p:sldId id="306" r:id="rId3"/>
    <p:sldId id="313" r:id="rId4"/>
    <p:sldId id="304" r:id="rId5"/>
    <p:sldId id="292" r:id="rId6"/>
    <p:sldId id="356" r:id="rId7"/>
    <p:sldId id="303" r:id="rId8"/>
    <p:sldId id="302" r:id="rId9"/>
    <p:sldId id="294" r:id="rId10"/>
    <p:sldId id="295" r:id="rId11"/>
    <p:sldId id="305" r:id="rId12"/>
    <p:sldId id="296" r:id="rId13"/>
    <p:sldId id="297" r:id="rId14"/>
    <p:sldId id="354" r:id="rId15"/>
    <p:sldId id="357" r:id="rId16"/>
    <p:sldId id="268" r:id="rId17"/>
    <p:sldId id="358" r:id="rId18"/>
    <p:sldId id="355" r:id="rId19"/>
    <p:sldId id="309" r:id="rId20"/>
    <p:sldId id="310" r:id="rId21"/>
    <p:sldId id="312" r:id="rId22"/>
    <p:sldId id="314" r:id="rId23"/>
    <p:sldId id="315" r:id="rId24"/>
    <p:sldId id="316" r:id="rId25"/>
    <p:sldId id="317" r:id="rId26"/>
    <p:sldId id="348" r:id="rId27"/>
    <p:sldId id="311" r:id="rId28"/>
    <p:sldId id="318" r:id="rId29"/>
    <p:sldId id="319" r:id="rId30"/>
    <p:sldId id="320" r:id="rId31"/>
    <p:sldId id="321" r:id="rId32"/>
    <p:sldId id="322" r:id="rId33"/>
    <p:sldId id="323" r:id="rId34"/>
    <p:sldId id="324" r:id="rId35"/>
    <p:sldId id="359" r:id="rId36"/>
    <p:sldId id="360" r:id="rId37"/>
    <p:sldId id="361" r:id="rId38"/>
    <p:sldId id="350" r:id="rId39"/>
    <p:sldId id="351" r:id="rId40"/>
    <p:sldId id="352" r:id="rId4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0A1B98-4314-4C4D-9C75-EC030C639ADB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B31E67-6C0B-4B40-8779-6E7C63D5348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B31E67-6C0B-4B40-8779-6E7C63D53488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B31E67-6C0B-4B40-8779-6E7C63D53488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B31E67-6C0B-4B40-8779-6E7C63D53488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B31E67-6C0B-4B40-8779-6E7C63D53488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B31E67-6C0B-4B40-8779-6E7C63D53488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B31E67-6C0B-4B40-8779-6E7C63D53488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163D10E-31E0-4FD1-95BB-B63491604F71}" type="slidenum">
              <a:rPr lang="en-US"/>
              <a:pPr/>
              <a:t>16</a:t>
            </a:fld>
            <a:endParaRPr lang="en-US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B31E67-6C0B-4B40-8779-6E7C63D53488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fodor@uncc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fodorclasses.github.io/classes/stats2021/stats2021.html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iytranscriptomics.com/Reading/files/The%20Art%20of%20R%20Programming.pdf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iytranscriptomics.com/Reading/files/The%20Art%20of%20R%20Programming.pdf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ink.springer.com/book/10.1007/978-0-387-87458-6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://www-stat.stanford.edu/~tibs/ElemStatLearn/printings/ESLII_print10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://heather.cs.ucdavis.edu/~matloff/132/NSPpart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48785E-1331-456A-9F2B-796349FD9365}"/>
              </a:ext>
            </a:extLst>
          </p:cNvPr>
          <p:cNvSpPr/>
          <p:nvPr/>
        </p:nvSpPr>
        <p:spPr>
          <a:xfrm>
            <a:off x="1295400" y="1066799"/>
            <a:ext cx="70104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Advanced Statistics for Genomics</a:t>
            </a:r>
            <a:endParaRPr lang="en-US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BINF 6310/8310 – 6310L/8310L </a:t>
            </a:r>
            <a:endParaRPr lang="en-US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Spring 2026</a:t>
            </a:r>
            <a:endParaRPr lang="en-US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Anthony Fodor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US" b="1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3"/>
              </a:rPr>
              <a:t>afodor@charlotte.edu</a:t>
            </a: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When we go to in person: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Tuesday/Thursday 10:00-11:15; Bioinformatics 104 (class)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Thursday: 2:30-3:45 Bioinformatics 104 (lab/office hours)</a:t>
            </a:r>
          </a:p>
          <a:p>
            <a:pPr algn="ctr"/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en-US" b="1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Class web site:</a:t>
            </a:r>
          </a:p>
          <a:p>
            <a:pPr algn="ctr"/>
            <a:r>
              <a:rPr lang="en-US" u="sng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https://fodorclasses.github.io/classes/stats2026/stats2026.html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	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" y="838200"/>
            <a:ext cx="9144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Reading for next week:  </a:t>
            </a:r>
          </a:p>
          <a:p>
            <a:endParaRPr lang="en-US" dirty="0"/>
          </a:p>
          <a:p>
            <a:r>
              <a:rPr lang="en-US" dirty="0"/>
              <a:t>	“Vassar stats book”:  http://vassarstats.net/textbook/</a:t>
            </a:r>
          </a:p>
          <a:p>
            <a:r>
              <a:rPr lang="en-US" dirty="0"/>
              <a:t>		Chapter 1 “Principles of Measurement”</a:t>
            </a:r>
          </a:p>
          <a:p>
            <a:r>
              <a:rPr lang="en-US" dirty="0"/>
              <a:t>		Chapter 2: “Distributions”</a:t>
            </a:r>
          </a:p>
          <a:p>
            <a:endParaRPr lang="en-US" dirty="0"/>
          </a:p>
          <a:p>
            <a:r>
              <a:rPr lang="en-US" dirty="0"/>
              <a:t>	(or equivalent in your favorite canonical statistics text book).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(The above is presumably review).</a:t>
            </a:r>
          </a:p>
          <a:p>
            <a:endParaRPr lang="en-US" dirty="0"/>
          </a:p>
          <a:p>
            <a:r>
              <a:rPr lang="en-US" dirty="0"/>
              <a:t>	In “The Art of R Programming” –</a:t>
            </a:r>
          </a:p>
          <a:p>
            <a:r>
              <a:rPr lang="en-US" dirty="0"/>
              <a:t>		Chapter 1 – “Getting started” –</a:t>
            </a:r>
          </a:p>
          <a:p>
            <a:r>
              <a:rPr lang="en-US" dirty="0"/>
              <a:t>		Chapter 2-  “Vectors”</a:t>
            </a:r>
          </a:p>
          <a:p>
            <a:r>
              <a:rPr lang="en-US" dirty="0"/>
              <a:t>		</a:t>
            </a:r>
          </a:p>
          <a:p>
            <a:endParaRPr lang="en-US" dirty="0"/>
          </a:p>
          <a:p>
            <a:r>
              <a:rPr lang="en-US" dirty="0"/>
              <a:t>	or equivalent chapters here: </a:t>
            </a:r>
          </a:p>
          <a:p>
            <a:r>
              <a:rPr lang="en-US" dirty="0">
                <a:hlinkClick r:id="rId2"/>
              </a:rPr>
              <a:t>https://diytranscriptomics.com/Reading/files/The%20Art%20of%20R%20Programming.pdf</a:t>
            </a:r>
            <a:endParaRPr lang="en-US" dirty="0"/>
          </a:p>
          <a:p>
            <a:r>
              <a:rPr lang="en-US" dirty="0"/>
              <a:t>		If you are getting a non-electronic copy, get this book ordered!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41325" y="422275"/>
            <a:ext cx="279736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Review of the syllabus</a:t>
            </a:r>
          </a:p>
          <a:p>
            <a:r>
              <a:rPr lang="en-US" dirty="0"/>
              <a:t>Empirical Distributions</a:t>
            </a:r>
          </a:p>
          <a:p>
            <a:r>
              <a:rPr lang="en-US" dirty="0"/>
              <a:t>Mean, median and variance</a:t>
            </a:r>
          </a:p>
          <a:p>
            <a:r>
              <a:rPr lang="en-US" dirty="0"/>
              <a:t>Lab exercise</a:t>
            </a: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H="1">
            <a:off x="2590800" y="6096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33600" y="281940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Required textbook…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6800" y="0"/>
            <a:ext cx="10945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Required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2728" y="2426732"/>
            <a:ext cx="6307830" cy="35930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219200" y="316468"/>
            <a:ext cx="4470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you are getting a print copy</a:t>
            </a:r>
            <a:r>
              <a:rPr lang="en-US"/>
              <a:t>, order it ASAP… 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6350CC-DB91-35F2-ACA9-4E716C798529}"/>
              </a:ext>
            </a:extLst>
          </p:cNvPr>
          <p:cNvSpPr txBox="1"/>
          <p:nvPr/>
        </p:nvSpPr>
        <p:spPr>
          <a:xfrm>
            <a:off x="228600" y="1833265"/>
            <a:ext cx="94254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https://diytranscriptomics.com/Reading/files/The%20Art%20of%20R%20Programming.pdf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B251D1-E434-9E5F-9610-FBFBD00C36B4}"/>
              </a:ext>
            </a:extLst>
          </p:cNvPr>
          <p:cNvSpPr txBox="1"/>
          <p:nvPr/>
        </p:nvSpPr>
        <p:spPr>
          <a:xfrm>
            <a:off x="228600" y="1371600"/>
            <a:ext cx="3172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most of the rest of you….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66800" y="0"/>
            <a:ext cx="10945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Required</a:t>
            </a:r>
            <a:r>
              <a:rPr lang="en-US" dirty="0"/>
              <a:t>:</a:t>
            </a:r>
          </a:p>
          <a:p>
            <a:endParaRPr lang="en-US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057400"/>
            <a:ext cx="2571750" cy="3617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17850" y="4953000"/>
            <a:ext cx="5949950" cy="595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CA1CC2D-15AC-4F8B-2C9B-2A5688EEA036}"/>
              </a:ext>
            </a:extLst>
          </p:cNvPr>
          <p:cNvSpPr txBox="1"/>
          <p:nvPr/>
        </p:nvSpPr>
        <p:spPr>
          <a:xfrm>
            <a:off x="381000" y="646331"/>
            <a:ext cx="8763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Zuur et al.  Mixed Effect Models and Extensions in Ecology With R.  </a:t>
            </a:r>
          </a:p>
          <a:p>
            <a:pPr marL="0" marR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pPr marL="0" marR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Download a free PDF: Springer Links link (should be able to login via UNCC)</a:t>
            </a:r>
          </a:p>
          <a:p>
            <a:pPr marL="0" marR="0">
              <a:buNone/>
            </a:pPr>
            <a:r>
              <a:rPr lang="en-US" sz="1800" u="sng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4"/>
              </a:rPr>
              <a:t>https://link.springer.com/book/10.1007/978-0-387-87458-6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040639" y="3048000"/>
            <a:ext cx="27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Recommended textbooks…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62800" y="2060287"/>
            <a:ext cx="1295400" cy="1521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152400" y="0"/>
            <a:ext cx="27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Recommended textbooks…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31D222-3523-0027-CF6A-978638864CC9}"/>
              </a:ext>
            </a:extLst>
          </p:cNvPr>
          <p:cNvSpPr txBox="1"/>
          <p:nvPr/>
        </p:nvSpPr>
        <p:spPr>
          <a:xfrm>
            <a:off x="609600" y="6287500"/>
            <a:ext cx="92128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https://users.stat.ufl.edu/~winner/sta4211/ALSM_5Ed_Kutner.pdf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73D36D-CE4D-FCDF-E67B-615115A3EF37}"/>
              </a:ext>
            </a:extLst>
          </p:cNvPr>
          <p:cNvSpPr txBox="1"/>
          <p:nvPr/>
        </p:nvSpPr>
        <p:spPr>
          <a:xfrm>
            <a:off x="381000" y="2149118"/>
            <a:ext cx="673303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Applied Linear Statistical Models.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John Neter, William Wasserman, Michael Kunter.  Covers in great detail the “parametric” tests:  linear regression and ANOVA.    The theory behind these kinds of linear models really hasn’t changed very much in the last 50 years.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9336" y="1924050"/>
            <a:ext cx="6619875" cy="348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33536" y="1009650"/>
            <a:ext cx="86818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Either edition of this book is fine, but new or used is going to be around $40.</a:t>
            </a:r>
          </a:p>
          <a:p>
            <a:r>
              <a:rPr lang="en-US" dirty="0"/>
              <a:t>It really is an outstanding book (but dense!).  It is worth the investment of time and money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" y="0"/>
            <a:ext cx="27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Recommended textbooks…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1914525"/>
            <a:ext cx="6581775" cy="303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9361" y="533400"/>
            <a:ext cx="90484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a great book, but is insanely over-priced!</a:t>
            </a:r>
          </a:p>
          <a:p>
            <a:r>
              <a:rPr lang="en-US" dirty="0"/>
              <a:t>We will touch on some of the stuff in here, but it won’t be a central focus.</a:t>
            </a:r>
          </a:p>
          <a:p>
            <a:r>
              <a:rPr lang="en-US" dirty="0"/>
              <a:t>If you think you will be implementing Bayesian stats in your pipelines, it might be worth having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52400"/>
            <a:ext cx="3180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Optional depending on interest: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2BF7C5-3DE4-BEA6-8827-4C15D106B579}"/>
              </a:ext>
            </a:extLst>
          </p:cNvPr>
          <p:cNvSpPr txBox="1"/>
          <p:nvPr/>
        </p:nvSpPr>
        <p:spPr>
          <a:xfrm>
            <a:off x="609600" y="5334000"/>
            <a:ext cx="822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https://onlinelibrary.wiley.com/doi/book/10.1002/9780470181188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2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2667000"/>
            <a:ext cx="3733800" cy="2766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304800" y="152400"/>
            <a:ext cx="7239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 </a:t>
            </a:r>
          </a:p>
          <a:p>
            <a:r>
              <a:rPr lang="en-US" b="1" dirty="0"/>
              <a:t>Doing Bayesian Data Analysis: A Tutorial with R and BUG.  </a:t>
            </a:r>
            <a:r>
              <a:rPr lang="en-US" dirty="0"/>
              <a:t>John K. </a:t>
            </a:r>
            <a:r>
              <a:rPr lang="en-US" dirty="0" err="1"/>
              <a:t>Kruschke</a:t>
            </a:r>
            <a:r>
              <a:rPr lang="en-US" dirty="0"/>
              <a:t>.  More approachable, but also not quite as clear or concise as the </a:t>
            </a:r>
            <a:r>
              <a:rPr lang="en-US" dirty="0" err="1"/>
              <a:t>Bolstad</a:t>
            </a:r>
            <a:r>
              <a:rPr lang="en-US" dirty="0"/>
              <a:t> book.  Very nice chapters on Monte Carlo approaches to Bayesian analysis, but a bit heavy on the Bayesian proselytizing for my taste.  Also quite expensive.    Overall, though, a very engaging text.    If you get the Google electronic edition, make sure that your device(s) can show the scanned versions (which are </a:t>
            </a:r>
            <a:r>
              <a:rPr lang="en-US" dirty="0" err="1"/>
              <a:t>DRM’ed</a:t>
            </a:r>
            <a:r>
              <a:rPr lang="en-US" dirty="0"/>
              <a:t> ) as the equations in the default view are illegible.</a:t>
            </a:r>
          </a:p>
          <a:p>
            <a:endParaRPr lang="en-US" dirty="0"/>
          </a:p>
          <a:p>
            <a:r>
              <a:rPr lang="en-US" dirty="0"/>
              <a:t>Be sure to read sample</a:t>
            </a:r>
          </a:p>
          <a:p>
            <a:r>
              <a:rPr lang="en-US" dirty="0"/>
              <a:t>chapters on the device</a:t>
            </a:r>
          </a:p>
          <a:p>
            <a:r>
              <a:rPr lang="en-US" dirty="0"/>
              <a:t>of your choice to make</a:t>
            </a:r>
          </a:p>
          <a:p>
            <a:r>
              <a:rPr lang="en-US" dirty="0"/>
              <a:t>sure formatting is ok</a:t>
            </a:r>
          </a:p>
          <a:p>
            <a:r>
              <a:rPr lang="en-US" dirty="0"/>
              <a:t>before purchasing…</a:t>
            </a: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152400"/>
            <a:ext cx="3180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Optional depending on interest: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4C554C-BB55-466C-10E5-B3BA88366D6B}"/>
              </a:ext>
            </a:extLst>
          </p:cNvPr>
          <p:cNvSpPr txBox="1"/>
          <p:nvPr/>
        </p:nvSpPr>
        <p:spPr>
          <a:xfrm>
            <a:off x="426720" y="5806046"/>
            <a:ext cx="84779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https://nyu-cdsc.github.io/learningr/assets/kruschke_bayesian_in_R.pdf</a:t>
            </a:r>
          </a:p>
          <a:p>
            <a:pPr marL="0" marR="0"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143000"/>
            <a:ext cx="6334125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838200" y="533400"/>
            <a:ext cx="1666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Recommended: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4495800"/>
            <a:ext cx="72467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It’s about $30-$40 and will make your life easier, but is not strictly required.</a:t>
            </a:r>
          </a:p>
          <a:p>
            <a:r>
              <a:rPr lang="en-US" dirty="0"/>
              <a:t>More useful as a reference than as a tutorial…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2400"/>
            <a:ext cx="3180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Optional depending on interest: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52400"/>
            <a:ext cx="1875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On-line resources:</a:t>
            </a:r>
          </a:p>
        </p:txBody>
      </p:sp>
      <p:sp>
        <p:nvSpPr>
          <p:cNvPr id="3" name="Rectangle 2"/>
          <p:cNvSpPr/>
          <p:nvPr/>
        </p:nvSpPr>
        <p:spPr>
          <a:xfrm>
            <a:off x="2133600" y="609600"/>
            <a:ext cx="32164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http://vassarstats.net/textbook/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52400"/>
            <a:ext cx="259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Vassar stats book</a:t>
            </a:r>
          </a:p>
        </p:txBody>
      </p:sp>
      <p:pic>
        <p:nvPicPr>
          <p:cNvPr id="75777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990600"/>
            <a:ext cx="7210425" cy="5007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533400" y="6172200"/>
            <a:ext cx="83869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will need at least one book that covers canonical statistics.</a:t>
            </a:r>
          </a:p>
          <a:p>
            <a:r>
              <a:rPr lang="en-US" dirty="0"/>
              <a:t>Start with this one (it is free) and then if it is not working for you, consider alternatives…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760274"/>
            <a:ext cx="758419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	Legal download:</a:t>
            </a:r>
          </a:p>
          <a:p>
            <a:r>
              <a:rPr lang="en-US" dirty="0">
                <a:hlinkClick r:id="rId2"/>
              </a:rPr>
              <a:t>http://www-stat.stanford.edu/~tibs/ElemStatLearn/printings/ESLII_print10.pdf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95400" y="2057400"/>
            <a:ext cx="6838950" cy="47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0"/>
            <a:ext cx="89535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76200"/>
            <a:ext cx="52353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less mathematical treatment of the </a:t>
            </a:r>
            <a:r>
              <a:rPr lang="en-US"/>
              <a:t>same material….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181600" y="6324600"/>
            <a:ext cx="36966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http://www-bcf.usc.edu/~gareth/ISL/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5475" y="1289050"/>
            <a:ext cx="7893050" cy="427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25" y="1708150"/>
            <a:ext cx="9074150" cy="344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450" y="1130300"/>
            <a:ext cx="8547100" cy="466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3075" y="1663700"/>
            <a:ext cx="8197850" cy="353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441325" y="422275"/>
            <a:ext cx="279736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Review of the syllabus</a:t>
            </a:r>
          </a:p>
          <a:p>
            <a:r>
              <a:rPr lang="en-US" dirty="0"/>
              <a:t>Empirical Distributions</a:t>
            </a:r>
          </a:p>
          <a:p>
            <a:r>
              <a:rPr lang="en-US" dirty="0"/>
              <a:t>Mean, median and variance</a:t>
            </a:r>
          </a:p>
          <a:p>
            <a:r>
              <a:rPr lang="en-US" dirty="0"/>
              <a:t>Lab exercise</a:t>
            </a:r>
          </a:p>
        </p:txBody>
      </p:sp>
      <p:sp>
        <p:nvSpPr>
          <p:cNvPr id="11" name="Line 5"/>
          <p:cNvSpPr>
            <a:spLocks noChangeShapeType="1"/>
          </p:cNvSpPr>
          <p:nvPr/>
        </p:nvSpPr>
        <p:spPr bwMode="auto">
          <a:xfrm flipH="1">
            <a:off x="2667000" y="9144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" y="304800"/>
            <a:ext cx="906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Empirical distributions – a set of data that has been observed (or is capable of  being observed)</a:t>
            </a:r>
          </a:p>
        </p:txBody>
      </p:sp>
      <p:pic>
        <p:nvPicPr>
          <p:cNvPr id="1064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828800"/>
            <a:ext cx="7258050" cy="391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4953000" y="5943600"/>
            <a:ext cx="32164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http://vassarstats.net/textbook/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400" y="1143000"/>
            <a:ext cx="5715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example: 12 exam scores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81000" y="76200"/>
            <a:ext cx="7848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R, we can create a </a:t>
            </a:r>
            <a:r>
              <a:rPr lang="en-US" dirty="0">
                <a:solidFill>
                  <a:srgbClr val="FF0000"/>
                </a:solidFill>
              </a:rPr>
              <a:t>vector</a:t>
            </a:r>
            <a:r>
              <a:rPr lang="en-US" dirty="0"/>
              <a:t> that will hold our empirical distribution.</a:t>
            </a:r>
          </a:p>
          <a:p>
            <a:endParaRPr lang="en-US" dirty="0"/>
          </a:p>
          <a:p>
            <a:r>
              <a:rPr lang="en-US" dirty="0"/>
              <a:t>A vector in R is a one-dimensional ordered list of data.</a:t>
            </a:r>
          </a:p>
          <a:p>
            <a:r>
              <a:rPr lang="en-US" dirty="0"/>
              <a:t>All of the data in an R vector must be of the same type.</a:t>
            </a:r>
          </a:p>
          <a:p>
            <a:endParaRPr lang="en-US" dirty="0"/>
          </a:p>
          <a:p>
            <a:r>
              <a:rPr lang="en-US" dirty="0"/>
              <a:t>   </a:t>
            </a:r>
          </a:p>
        </p:txBody>
      </p:sp>
      <p:pic>
        <p:nvPicPr>
          <p:cNvPr id="1075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90800" y="1219200"/>
            <a:ext cx="5715000" cy="3253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7526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4419600"/>
            <a:ext cx="5229225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7527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1600" y="4419600"/>
            <a:ext cx="3429000" cy="2200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81000"/>
            <a:ext cx="5229225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0" y="381000"/>
            <a:ext cx="3429000" cy="2200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381000" y="2743200"/>
            <a:ext cx="8627746" cy="313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rm</a:t>
            </a:r>
            <a:r>
              <a:rPr lang="en-US" dirty="0"/>
              <a:t>(list=</a:t>
            </a:r>
            <a:r>
              <a:rPr lang="en-US" dirty="0" err="1"/>
              <a:t>ls</a:t>
            </a:r>
            <a:r>
              <a:rPr lang="en-US" dirty="0"/>
              <a:t>())   -  removes everything in the R workspace</a:t>
            </a:r>
          </a:p>
          <a:p>
            <a:endParaRPr lang="en-US" dirty="0"/>
          </a:p>
          <a:p>
            <a:r>
              <a:rPr lang="en-US" dirty="0"/>
              <a:t>exams &lt;- c( 61, 69, 72, 76, 78, 83, 85, 85, 86, 88, 93, 97 ) </a:t>
            </a:r>
          </a:p>
          <a:p>
            <a:r>
              <a:rPr lang="en-US" dirty="0"/>
              <a:t>Make  a vector with the data and point to it with the reference “exams”</a:t>
            </a:r>
          </a:p>
          <a:p>
            <a:endParaRPr lang="en-US" dirty="0"/>
          </a:p>
          <a:p>
            <a:r>
              <a:rPr lang="en-US" dirty="0"/>
              <a:t>length(exams) – returns the length of our vector</a:t>
            </a:r>
          </a:p>
          <a:p>
            <a:endParaRPr lang="en-US" dirty="0"/>
          </a:p>
          <a:p>
            <a:r>
              <a:rPr lang="en-US" dirty="0" err="1"/>
              <a:t>typeof</a:t>
            </a:r>
            <a:r>
              <a:rPr lang="en-US" dirty="0"/>
              <a:t>(exams) – returns the type of our vector (floating point numbers)</a:t>
            </a:r>
          </a:p>
          <a:p>
            <a:endParaRPr lang="en-US" dirty="0"/>
          </a:p>
          <a:p>
            <a:r>
              <a:rPr lang="en-US" dirty="0" err="1"/>
              <a:t>hist</a:t>
            </a:r>
            <a:r>
              <a:rPr lang="en-US" dirty="0"/>
              <a:t>(</a:t>
            </a:r>
            <a:r>
              <a:rPr lang="en-US" dirty="0" err="1"/>
              <a:t>exams,breaks</a:t>
            </a:r>
            <a:r>
              <a:rPr lang="en-US" dirty="0"/>
              <a:t>=97-61) – Make a histogram with a separate bin for each possible grade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19200" y="228600"/>
            <a:ext cx="58183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we just do </a:t>
            </a:r>
            <a:r>
              <a:rPr lang="en-US" dirty="0" err="1"/>
              <a:t>hist</a:t>
            </a:r>
            <a:r>
              <a:rPr lang="en-US" dirty="0"/>
              <a:t>(exams), we get the default number of bins </a:t>
            </a:r>
          </a:p>
        </p:txBody>
      </p:sp>
      <p:pic>
        <p:nvPicPr>
          <p:cNvPr id="1085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838200"/>
            <a:ext cx="4717505" cy="308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143000" y="304800"/>
            <a:ext cx="5971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There are no single pieces </a:t>
            </a:r>
            <a:r>
              <a:rPr lang="en-US"/>
              <a:t>of data </a:t>
            </a:r>
            <a:r>
              <a:rPr lang="en-US" dirty="0"/>
              <a:t>in R.  Everything is a vector</a:t>
            </a:r>
          </a:p>
        </p:txBody>
      </p:sp>
      <p:pic>
        <p:nvPicPr>
          <p:cNvPr id="5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8175" y="1066800"/>
            <a:ext cx="5229225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762000" y="2362200"/>
            <a:ext cx="7200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length returns a vector (of size=1) that holds the length of the input vector</a:t>
            </a:r>
          </a:p>
        </p:txBody>
      </p:sp>
      <p:pic>
        <p:nvPicPr>
          <p:cNvPr id="1095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4400" y="2667000"/>
            <a:ext cx="2359102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685800" y="3962400"/>
            <a:ext cx="7597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typeof</a:t>
            </a:r>
            <a:r>
              <a:rPr lang="en-US" dirty="0"/>
              <a:t> returns a vector (of size=1) that holds the string that describe the vector</a:t>
            </a:r>
          </a:p>
        </p:txBody>
      </p:sp>
      <p:pic>
        <p:nvPicPr>
          <p:cNvPr id="10957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14400" y="4343400"/>
            <a:ext cx="2057400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5105473" y="5181600"/>
            <a:ext cx="35051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“2+2” returns a vector of length 1…</a:t>
            </a:r>
          </a:p>
        </p:txBody>
      </p:sp>
      <p:pic>
        <p:nvPicPr>
          <p:cNvPr id="10957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67425" y="5486400"/>
            <a:ext cx="1552575" cy="1209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5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295400"/>
            <a:ext cx="6845109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762000" y="381000"/>
            <a:ext cx="54893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Everything in an R vector must be of the same data type.</a:t>
            </a:r>
          </a:p>
          <a:p>
            <a:r>
              <a:rPr lang="en-US" dirty="0"/>
              <a:t>R will find the common data type…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5105400"/>
            <a:ext cx="7420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the second case, the common data type is character.</a:t>
            </a:r>
          </a:p>
          <a:p>
            <a:r>
              <a:rPr lang="en-US" dirty="0"/>
              <a:t>The + operator is not defined for “character” so x + x fails in the second case…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41325" y="422275"/>
            <a:ext cx="2797369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dirty="0"/>
              <a:t>Review of the syllabus</a:t>
            </a:r>
          </a:p>
          <a:p>
            <a:r>
              <a:rPr lang="en-US" dirty="0"/>
              <a:t>Empirical Distributions</a:t>
            </a:r>
          </a:p>
          <a:p>
            <a:r>
              <a:rPr lang="en-US" dirty="0"/>
              <a:t>Mean, median and variance</a:t>
            </a: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auto">
          <a:xfrm flipH="1">
            <a:off x="3200400" y="1143000"/>
            <a:ext cx="53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2062877"/>
            <a:ext cx="708187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Let’s return to our empirical distribution:</a:t>
            </a:r>
          </a:p>
          <a:p>
            <a:endParaRPr lang="en-US" dirty="0"/>
          </a:p>
          <a:p>
            <a:r>
              <a:rPr lang="en-US" dirty="0"/>
              <a:t>For all distributions, we can define measures mean, median and variance: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228600"/>
            <a:ext cx="8610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mean = sum(measurements) / # of measurements</a:t>
            </a:r>
          </a:p>
          <a:p>
            <a:endParaRPr lang="en-US" dirty="0"/>
          </a:p>
          <a:p>
            <a:r>
              <a:rPr lang="en-US" dirty="0"/>
              <a:t>mean is sensitive to outliers…</a:t>
            </a:r>
          </a:p>
        </p:txBody>
      </p:sp>
      <p:pic>
        <p:nvPicPr>
          <p:cNvPr id="1116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524000"/>
            <a:ext cx="7019925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5181600" y="6172200"/>
            <a:ext cx="32164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http://vassarstats.net/textbook/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47625"/>
            <a:ext cx="7134225" cy="429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5181600" y="6172200"/>
            <a:ext cx="32164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http://vassarstats.net/textbook/</a:t>
            </a:r>
          </a:p>
        </p:txBody>
      </p:sp>
      <p:pic>
        <p:nvPicPr>
          <p:cNvPr id="1126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4572000"/>
            <a:ext cx="5514975" cy="127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66800" y="381000"/>
            <a:ext cx="5562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mean calculation is sensitive to outliers… </a:t>
            </a:r>
          </a:p>
        </p:txBody>
      </p:sp>
      <p:pic>
        <p:nvPicPr>
          <p:cNvPr id="1136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990600"/>
            <a:ext cx="6912429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533400" y="2743200"/>
            <a:ext cx="594239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Vectors are 1-indexed in R (unlike C/C++/Java data structures)</a:t>
            </a:r>
          </a:p>
          <a:p>
            <a:endParaRPr lang="en-US" dirty="0"/>
          </a:p>
          <a:p>
            <a:r>
              <a:rPr lang="en-US" dirty="0"/>
              <a:t>exams[length(exams)] &lt;- 30000  changes the last data point.</a:t>
            </a:r>
          </a:p>
          <a:p>
            <a:r>
              <a:rPr lang="en-US" dirty="0"/>
              <a:t>We see the mean is changed.</a:t>
            </a:r>
          </a:p>
          <a:p>
            <a:endParaRPr lang="en-US" dirty="0"/>
          </a:p>
          <a:p>
            <a:r>
              <a:rPr lang="en-US" dirty="0"/>
              <a:t>We say that </a:t>
            </a:r>
            <a:r>
              <a:rPr lang="en-US" dirty="0">
                <a:solidFill>
                  <a:srgbClr val="FF0000"/>
                </a:solidFill>
              </a:rPr>
              <a:t>arithmetic mean is not robust to outliers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79663" y="533400"/>
            <a:ext cx="777494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median is just the middle value.</a:t>
            </a:r>
          </a:p>
          <a:p>
            <a:r>
              <a:rPr lang="en-US" dirty="0"/>
              <a:t>For an even set of numbers, it is the average of data above and below the middle</a:t>
            </a:r>
          </a:p>
          <a:p>
            <a:r>
              <a:rPr lang="en-US" dirty="0"/>
              <a:t>in the sorted list of data..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146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286000"/>
            <a:ext cx="8283519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85800" y="4953000"/>
            <a:ext cx="64799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Notice the median does not change when the outlier is introduced.</a:t>
            </a:r>
          </a:p>
          <a:p>
            <a:r>
              <a:rPr lang="en-US" dirty="0"/>
              <a:t>We say that </a:t>
            </a:r>
            <a:r>
              <a:rPr lang="en-US" dirty="0">
                <a:solidFill>
                  <a:srgbClr val="FF0000"/>
                </a:solidFill>
              </a:rPr>
              <a:t>median is robust </a:t>
            </a:r>
            <a:r>
              <a:rPr lang="en-US" dirty="0"/>
              <a:t>to outliers.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flipH="1">
            <a:off x="960118" y="304800"/>
            <a:ext cx="39166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Variance (for “sample mean”)    </a:t>
            </a:r>
          </a:p>
        </p:txBody>
      </p:sp>
      <p:pic>
        <p:nvPicPr>
          <p:cNvPr id="1157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3925" y="962025"/>
            <a:ext cx="7296150" cy="493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7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371600"/>
            <a:ext cx="6908599" cy="410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457200" y="0"/>
            <a:ext cx="84643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 uses the population variance (n-1 in denominator).</a:t>
            </a:r>
          </a:p>
          <a:p>
            <a:r>
              <a:rPr lang="en-US" dirty="0"/>
              <a:t>If you know the mean ahead of time, you can use the sample variance.</a:t>
            </a:r>
          </a:p>
          <a:p>
            <a:r>
              <a:rPr lang="en-US" dirty="0"/>
              <a:t>Otherwise (as is usually the case), you estimate the mean from your data,</a:t>
            </a:r>
          </a:p>
          <a:p>
            <a:r>
              <a:rPr lang="en-US" dirty="0"/>
              <a:t>lose 1 degree of freedom and use the population variance (with n-1 in the denominator)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019800"/>
            <a:ext cx="3918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Standard deviation is the </a:t>
            </a:r>
            <a:r>
              <a:rPr lang="en-US" dirty="0" err="1"/>
              <a:t>sqrt</a:t>
            </a:r>
            <a:r>
              <a:rPr lang="en-US" dirty="0"/>
              <a:t>(variance)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76200"/>
            <a:ext cx="6908599" cy="4100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Arrow Connector 5"/>
          <p:cNvCxnSpPr/>
          <p:nvPr/>
        </p:nvCxnSpPr>
        <p:spPr>
          <a:xfrm rot="10800000">
            <a:off x="3429000" y="1143000"/>
            <a:ext cx="762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191000" y="914400"/>
            <a:ext cx="2903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Notice I have a for loop here.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2819400" y="1447800"/>
            <a:ext cx="6858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81400" y="1295400"/>
            <a:ext cx="4231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index my </a:t>
            </a:r>
            <a:r>
              <a:rPr lang="en-US" dirty="0" err="1"/>
              <a:t>vecor</a:t>
            </a:r>
            <a:r>
              <a:rPr lang="en-US" dirty="0"/>
              <a:t> with [] (like arrays in Java).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62600" y="2819400"/>
            <a:ext cx="3240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: is sequence generator operator</a:t>
            </a:r>
          </a:p>
          <a:p>
            <a:r>
              <a:rPr lang="en-US" dirty="0"/>
              <a:t>(returns a vector)</a:t>
            </a:r>
          </a:p>
        </p:txBody>
      </p:sp>
      <p:pic>
        <p:nvPicPr>
          <p:cNvPr id="1177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67325" y="3562350"/>
            <a:ext cx="3800475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6" name="Straight Connector 15"/>
          <p:cNvCxnSpPr/>
          <p:nvPr/>
        </p:nvCxnSpPr>
        <p:spPr>
          <a:xfrm>
            <a:off x="152400" y="4495800"/>
            <a:ext cx="5105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28600" y="4800600"/>
            <a:ext cx="447744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1:length(vector) returns a vector with the </a:t>
            </a:r>
          </a:p>
          <a:p>
            <a:r>
              <a:rPr lang="en-US" dirty="0"/>
              <a:t>Integers 1 through 12.</a:t>
            </a:r>
          </a:p>
          <a:p>
            <a:endParaRPr lang="en-US" dirty="0"/>
          </a:p>
          <a:p>
            <a:r>
              <a:rPr lang="en-US" dirty="0"/>
              <a:t>The for loop iterates through these 12 vectors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73E11E4-BA3E-4D36-BDAA-42B4FF59E3EB}"/>
              </a:ext>
            </a:extLst>
          </p:cNvPr>
          <p:cNvSpPr txBox="1"/>
          <p:nvPr/>
        </p:nvSpPr>
        <p:spPr>
          <a:xfrm>
            <a:off x="457200" y="-36731"/>
            <a:ext cx="83195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can use R’s built-in graphs and summary statistics on empirical distributions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quickly get a sense of a large number of observations..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4A8F8E-6028-4B6D-8E1E-8952257E4C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630" y="990600"/>
            <a:ext cx="5685370" cy="31128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90786E-7187-4583-B11E-A26DB9459BB5}"/>
              </a:ext>
            </a:extLst>
          </p:cNvPr>
          <p:cNvSpPr txBox="1"/>
          <p:nvPr/>
        </p:nvSpPr>
        <p:spPr>
          <a:xfrm>
            <a:off x="696530" y="621268"/>
            <a:ext cx="6237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Here I have a large number of sequences in a FASTQ file…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DF7F27-E42A-448C-B368-DC0ACA48B670}"/>
              </a:ext>
            </a:extLst>
          </p:cNvPr>
          <p:cNvSpPr txBox="1"/>
          <p:nvPr/>
        </p:nvSpPr>
        <p:spPr>
          <a:xfrm>
            <a:off x="838200" y="4715470"/>
            <a:ext cx="54810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Using some parser (Java, Bioconductor, whatever),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 create a file with the GC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content of each sequence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40DC2E4-69B8-40E6-9AF2-E14B61749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296" y="2547046"/>
            <a:ext cx="2124075" cy="394335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40E3CAD-3C90-4C0B-B7F8-B21D920E1B0A}"/>
              </a:ext>
            </a:extLst>
          </p:cNvPr>
          <p:cNvCxnSpPr/>
          <p:nvPr/>
        </p:nvCxnSpPr>
        <p:spPr>
          <a:xfrm flipV="1">
            <a:off x="6172200" y="4876800"/>
            <a:ext cx="788096" cy="304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1071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FB7238-3FEA-41CD-A41E-5593B79A824F}"/>
              </a:ext>
            </a:extLst>
          </p:cNvPr>
          <p:cNvSpPr txBox="1"/>
          <p:nvPr/>
        </p:nvSpPr>
        <p:spPr>
          <a:xfrm>
            <a:off x="457200" y="381000"/>
            <a:ext cx="73277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very small number of lines of r-code allows me to inspect these data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166723-E272-4C86-AA0C-3CE879418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219200"/>
            <a:ext cx="8382000" cy="13625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5A3D84E-9720-426A-9B88-67C534317B8F}"/>
              </a:ext>
            </a:extLst>
          </p:cNvPr>
          <p:cNvSpPr txBox="1"/>
          <p:nvPr/>
        </p:nvSpPr>
        <p:spPr>
          <a:xfrm>
            <a:off x="121213" y="2667000"/>
            <a:ext cx="53651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read.table</a:t>
            </a:r>
            <a:r>
              <a:rPr lang="en-US" dirty="0"/>
              <a:t> – reads a text file and produces a data frame</a:t>
            </a:r>
          </a:p>
          <a:p>
            <a:r>
              <a:rPr lang="en-US" dirty="0"/>
              <a:t>str – inspects (shows the structure of) an R object</a:t>
            </a:r>
          </a:p>
          <a:p>
            <a:r>
              <a:rPr lang="en-US" dirty="0"/>
              <a:t>hist – makes a histogram of the data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DF1964-D0DE-4F35-B80A-6BC85DDE5A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697" y="3041602"/>
            <a:ext cx="3663303" cy="374019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BCE224D-56BA-46E9-99C4-26A61A1309B5}"/>
              </a:ext>
            </a:extLst>
          </p:cNvPr>
          <p:cNvCxnSpPr>
            <a:cxnSpLocks/>
          </p:cNvCxnSpPr>
          <p:nvPr/>
        </p:nvCxnSpPr>
        <p:spPr>
          <a:xfrm>
            <a:off x="4648200" y="5257800"/>
            <a:ext cx="1219200" cy="609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2DAA90A-EF34-42DC-AC12-5AFAA728EA43}"/>
              </a:ext>
            </a:extLst>
          </p:cNvPr>
          <p:cNvSpPr txBox="1"/>
          <p:nvPr/>
        </p:nvSpPr>
        <p:spPr>
          <a:xfrm>
            <a:off x="762000" y="5029200"/>
            <a:ext cx="3801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are probably bad sequences</a:t>
            </a:r>
          </a:p>
        </p:txBody>
      </p:sp>
    </p:spTree>
    <p:extLst>
      <p:ext uri="{BB962C8B-B14F-4D97-AF65-F5344CB8AC3E}">
        <p14:creationId xmlns:p14="http://schemas.microsoft.com/office/powerpoint/2010/main" val="3901884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AFD5BE-F2F6-4FFE-8015-E171D001B3EA}"/>
              </a:ext>
            </a:extLst>
          </p:cNvPr>
          <p:cNvSpPr txBox="1"/>
          <p:nvPr/>
        </p:nvSpPr>
        <p:spPr>
          <a:xfrm>
            <a:off x="1447800" y="609600"/>
            <a:ext cx="5698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of course we have our suite of summary statistics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757F82-3EF6-47E5-A61A-62EBD9EA7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33193"/>
            <a:ext cx="9144000" cy="3791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0037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66800" y="838200"/>
            <a:ext cx="64814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 commands you should understand and practice from this lecture: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133600" y="1716881"/>
            <a:ext cx="4572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err="1"/>
              <a:t>rm</a:t>
            </a:r>
            <a:r>
              <a:rPr lang="en-US" dirty="0"/>
              <a:t>(list=</a:t>
            </a:r>
            <a:r>
              <a:rPr lang="en-US" dirty="0" err="1"/>
              <a:t>ls</a:t>
            </a:r>
            <a:r>
              <a:rPr lang="en-US" dirty="0"/>
              <a:t>())</a:t>
            </a:r>
          </a:p>
          <a:p>
            <a:r>
              <a:rPr lang="en-US" dirty="0" err="1"/>
              <a:t>ls</a:t>
            </a:r>
            <a:r>
              <a:rPr lang="en-US" dirty="0"/>
              <a:t>()</a:t>
            </a:r>
          </a:p>
          <a:p>
            <a:r>
              <a:rPr lang="en-US" dirty="0"/>
              <a:t>length()</a:t>
            </a:r>
          </a:p>
          <a:p>
            <a:r>
              <a:rPr lang="en-US" dirty="0" err="1"/>
              <a:t>typeof</a:t>
            </a:r>
            <a:r>
              <a:rPr lang="en-US" dirty="0"/>
              <a:t>()</a:t>
            </a:r>
          </a:p>
          <a:p>
            <a:r>
              <a:rPr lang="en-US" dirty="0" err="1"/>
              <a:t>hist</a:t>
            </a:r>
            <a:r>
              <a:rPr lang="en-US" dirty="0"/>
              <a:t>()</a:t>
            </a:r>
          </a:p>
          <a:p>
            <a:r>
              <a:rPr lang="en-US" dirty="0"/>
              <a:t>mean()</a:t>
            </a:r>
          </a:p>
          <a:p>
            <a:r>
              <a:rPr lang="en-US" dirty="0"/>
              <a:t>median()</a:t>
            </a:r>
          </a:p>
          <a:p>
            <a:r>
              <a:rPr lang="en-US" dirty="0" err="1"/>
              <a:t>sd</a:t>
            </a:r>
            <a:r>
              <a:rPr lang="en-US" dirty="0"/>
              <a:t>()</a:t>
            </a:r>
          </a:p>
          <a:p>
            <a:r>
              <a:rPr lang="en-US" dirty="0" err="1"/>
              <a:t>var</a:t>
            </a:r>
            <a:r>
              <a:rPr lang="en-US" dirty="0"/>
              <a:t>()</a:t>
            </a:r>
          </a:p>
          <a:p>
            <a:r>
              <a:rPr lang="en-US" dirty="0" err="1"/>
              <a:t>str</a:t>
            </a:r>
            <a:r>
              <a:rPr lang="en-US" dirty="0"/>
              <a:t>()</a:t>
            </a:r>
          </a:p>
          <a:p>
            <a:r>
              <a:rPr lang="en-US" dirty="0"/>
              <a:t>c()</a:t>
            </a:r>
          </a:p>
          <a:p>
            <a:r>
              <a:rPr lang="en-US" dirty="0"/>
              <a:t>The : operator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66800" y="5562600"/>
            <a:ext cx="6852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 concept you should understand at this point: </a:t>
            </a:r>
          </a:p>
          <a:p>
            <a:r>
              <a:rPr lang="en-US" dirty="0"/>
              <a:t>	vector – one dimensional array with data all of the same type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33400" y="76200"/>
            <a:ext cx="723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“Hello World” Lab exercises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974" y="533400"/>
            <a:ext cx="802585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Both"/>
            </a:pPr>
            <a:r>
              <a:rPr lang="en-US" dirty="0"/>
              <a:t>Use the mean and </a:t>
            </a:r>
            <a:r>
              <a:rPr lang="en-US" dirty="0" err="1"/>
              <a:t>sd</a:t>
            </a:r>
            <a:r>
              <a:rPr lang="en-US" dirty="0"/>
              <a:t> functions to calculate the mean and standard deviation</a:t>
            </a:r>
          </a:p>
          <a:p>
            <a:pPr marL="342900" indent="-342900"/>
            <a:r>
              <a:rPr lang="en-US" dirty="0"/>
              <a:t>of the following numbers  { 2.3,  4.3 ,1.2 , 3.4, 8.3, 12.2 } </a:t>
            </a:r>
          </a:p>
          <a:p>
            <a:pPr marL="342900" indent="-342900"/>
            <a:endParaRPr lang="en-US" dirty="0"/>
          </a:p>
          <a:p>
            <a:pPr marL="342900" indent="-342900"/>
            <a:r>
              <a:rPr lang="en-US" dirty="0"/>
              <a:t>(2) Use mean and </a:t>
            </a:r>
            <a:r>
              <a:rPr lang="en-US" dirty="0" err="1"/>
              <a:t>sd</a:t>
            </a:r>
            <a:r>
              <a:rPr lang="en-US" dirty="0"/>
              <a:t> in R to calculate the average and </a:t>
            </a:r>
            <a:r>
              <a:rPr lang="en-US" dirty="0" err="1"/>
              <a:t>sd</a:t>
            </a:r>
            <a:r>
              <a:rPr lang="en-US" dirty="0"/>
              <a:t> of { 4,5,6 …. 678,679,680 } </a:t>
            </a:r>
          </a:p>
          <a:p>
            <a:pPr marL="342900" indent="-342900"/>
            <a:r>
              <a:rPr lang="en-US" dirty="0"/>
              <a:t>(the set of every positive integer between 4 and 680)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6400800"/>
            <a:ext cx="24915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nothing to hand in yet…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6200" y="838200"/>
            <a:ext cx="9144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Reading for next week:  </a:t>
            </a:r>
          </a:p>
          <a:p>
            <a:endParaRPr lang="en-US" dirty="0"/>
          </a:p>
          <a:p>
            <a:r>
              <a:rPr lang="en-US" dirty="0"/>
              <a:t>	“Vassar stats book”:  http://vassarstats.net/textbook/</a:t>
            </a:r>
          </a:p>
          <a:p>
            <a:r>
              <a:rPr lang="en-US" dirty="0"/>
              <a:t>		Chapter 1 “Principles of Measurement”</a:t>
            </a:r>
          </a:p>
          <a:p>
            <a:r>
              <a:rPr lang="en-US" dirty="0"/>
              <a:t>		Chapter 2: “Distributions”</a:t>
            </a:r>
          </a:p>
          <a:p>
            <a:endParaRPr lang="en-US" dirty="0"/>
          </a:p>
          <a:p>
            <a:r>
              <a:rPr lang="en-US" dirty="0"/>
              <a:t>	(or equivalent in your favorite canonical statistics text book).</a:t>
            </a:r>
          </a:p>
          <a:p>
            <a:r>
              <a:rPr lang="en-US" dirty="0"/>
              <a:t>	</a:t>
            </a:r>
          </a:p>
          <a:p>
            <a:r>
              <a:rPr lang="en-US" dirty="0"/>
              <a:t>	(The above is presumably review).</a:t>
            </a:r>
          </a:p>
          <a:p>
            <a:endParaRPr lang="en-US" dirty="0"/>
          </a:p>
          <a:p>
            <a:r>
              <a:rPr lang="en-US" dirty="0"/>
              <a:t>	In “The Art of R Programming” –</a:t>
            </a:r>
          </a:p>
          <a:p>
            <a:r>
              <a:rPr lang="en-US" dirty="0"/>
              <a:t>		Chapter 1 – “Getting started” –</a:t>
            </a:r>
          </a:p>
          <a:p>
            <a:r>
              <a:rPr lang="en-US" dirty="0"/>
              <a:t>		Chapter 2-  “Vectors”</a:t>
            </a:r>
          </a:p>
          <a:p>
            <a:r>
              <a:rPr lang="en-US" dirty="0"/>
              <a:t>		</a:t>
            </a:r>
          </a:p>
          <a:p>
            <a:endParaRPr lang="en-US" dirty="0"/>
          </a:p>
          <a:p>
            <a:r>
              <a:rPr lang="en-US" dirty="0"/>
              <a:t>	or equivalent chapters here: </a:t>
            </a:r>
            <a:r>
              <a:rPr lang="en-US" u="sng" dirty="0">
                <a:hlinkClick r:id="rId2"/>
              </a:rPr>
              <a:t>http://heather.cs.ucdavis.edu/~matloff/132/NSPpart.pdf</a:t>
            </a:r>
            <a:endParaRPr lang="en-US" dirty="0"/>
          </a:p>
          <a:p>
            <a:endParaRPr lang="en-US" dirty="0"/>
          </a:p>
          <a:p>
            <a:r>
              <a:rPr lang="en-US" dirty="0"/>
              <a:t>		If you are getting a non-electronic copy, get this book ordered!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1777</Words>
  <Application>Microsoft Office PowerPoint</Application>
  <PresentationFormat>On-screen Show (4:3)</PresentationFormat>
  <Paragraphs>216</Paragraphs>
  <Slides>40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Anthony</dc:creator>
  <cp:lastModifiedBy>Anthony Fodor</cp:lastModifiedBy>
  <cp:revision>227</cp:revision>
  <dcterms:created xsi:type="dcterms:W3CDTF">2006-08-16T00:00:00Z</dcterms:created>
  <dcterms:modified xsi:type="dcterms:W3CDTF">2026-01-13T04:01:27Z</dcterms:modified>
</cp:coreProperties>
</file>