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0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4" r:id="rId28"/>
    <p:sldId id="282" r:id="rId29"/>
    <p:sldId id="292" r:id="rId30"/>
    <p:sldId id="293" r:id="rId31"/>
    <p:sldId id="284" r:id="rId32"/>
    <p:sldId id="286" r:id="rId33"/>
    <p:sldId id="291" r:id="rId34"/>
    <p:sldId id="285" r:id="rId35"/>
    <p:sldId id="287" r:id="rId36"/>
    <p:sldId id="289" r:id="rId37"/>
    <p:sldId id="288" r:id="rId38"/>
    <p:sldId id="295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3A705-9865-40FC-B0DE-650F7351F882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C5BCA-E347-4534-93AB-F3725C3BC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E5D13-7570-4DF3-9947-E3BA6D9B09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7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4A21D4-C160-4B8F-B296-0957A2FCDC14}"/>
              </a:ext>
            </a:extLst>
          </p:cNvPr>
          <p:cNvSpPr txBox="1"/>
          <p:nvPr/>
        </p:nvSpPr>
        <p:spPr>
          <a:xfrm>
            <a:off x="533400" y="762000"/>
            <a:ext cx="8032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Fitting linear models by Maximum Likelihood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independence assumption expressed via the variance-covariance matrix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Relaxing the independence assumption for hierarchical, grouped data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Mixed linear models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E537EB0-BCD5-E8A2-5666-558BEDACEFD4}"/>
              </a:ext>
            </a:extLst>
          </p:cNvPr>
          <p:cNvCxnSpPr/>
          <p:nvPr/>
        </p:nvCxnSpPr>
        <p:spPr>
          <a:xfrm flipH="1">
            <a:off x="5181600" y="9144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304800"/>
            <a:ext cx="7528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Previously, we defined the log-likelihood for a standard </a:t>
            </a:r>
            <a:r>
              <a:rPr lang="en-US">
                <a:latin typeface="Arial" pitchFamily="34" charset="0"/>
                <a:cs typeface="Arial" pitchFamily="34" charset="0"/>
              </a:rPr>
              <a:t>linear regression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838200"/>
            <a:ext cx="65024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52400" y="3962400"/>
            <a:ext cx="899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We can, as an alternative to least squares fit, find parameters that maximize this value</a:t>
            </a:r>
          </a:p>
        </p:txBody>
      </p:sp>
    </p:spTree>
    <p:extLst>
      <p:ext uri="{BB962C8B-B14F-4D97-AF65-F5344CB8AC3E}">
        <p14:creationId xmlns:p14="http://schemas.microsoft.com/office/powerpoint/2010/main" val="202363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-76200"/>
            <a:ext cx="8120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follow two books (both can be downloaded from campus via </a:t>
            </a:r>
            <a:r>
              <a:rPr lang="en-US" dirty="0" err="1"/>
              <a:t>springer</a:t>
            </a:r>
            <a:r>
              <a:rPr lang="en-US" dirty="0"/>
              <a:t> links):</a:t>
            </a:r>
          </a:p>
          <a:p>
            <a:r>
              <a:rPr lang="en-US" dirty="0"/>
              <a:t>http://link.springer.com/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1" y="685800"/>
            <a:ext cx="3352800" cy="319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62400" y="1371600"/>
            <a:ext cx="5022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book is more mathematical and very thorough;</a:t>
            </a:r>
          </a:p>
          <a:p>
            <a:r>
              <a:rPr lang="en-US" dirty="0"/>
              <a:t>a good reference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04800" y="4038600"/>
            <a:ext cx="868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4191000"/>
            <a:ext cx="57435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4114800"/>
            <a:ext cx="17907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33400" y="5486400"/>
            <a:ext cx="5391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This book is more accessible and covers a broader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range of topics (beyond mixed-models)</a:t>
            </a:r>
          </a:p>
        </p:txBody>
      </p:sp>
    </p:spTree>
    <p:extLst>
      <p:ext uri="{BB962C8B-B14F-4D97-AF65-F5344CB8AC3E}">
        <p14:creationId xmlns:p14="http://schemas.microsoft.com/office/powerpoint/2010/main" val="699178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81000"/>
            <a:ext cx="6572250" cy="627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0"/>
            <a:ext cx="544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Galecki</a:t>
            </a:r>
            <a:r>
              <a:rPr lang="en-US" dirty="0"/>
              <a:t> a summary of our linear regression model:</a:t>
            </a:r>
          </a:p>
        </p:txBody>
      </p:sp>
    </p:spTree>
    <p:extLst>
      <p:ext uri="{BB962C8B-B14F-4D97-AF65-F5344CB8AC3E}">
        <p14:creationId xmlns:p14="http://schemas.microsoft.com/office/powerpoint/2010/main" val="204632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066800"/>
            <a:ext cx="667702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914400" y="381000"/>
            <a:ext cx="7316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 likelihood is an alternative to least squares for finding parameters</a:t>
            </a:r>
          </a:p>
        </p:txBody>
      </p:sp>
    </p:spTree>
    <p:extLst>
      <p:ext uri="{BB962C8B-B14F-4D97-AF65-F5344CB8AC3E}">
        <p14:creationId xmlns:p14="http://schemas.microsoft.com/office/powerpoint/2010/main" val="372429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762000"/>
            <a:ext cx="6829425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381000"/>
            <a:ext cx="2705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371600" y="4800600"/>
            <a:ext cx="70133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variance estimate is the same except the </a:t>
            </a:r>
            <a:r>
              <a:rPr lang="en-US" dirty="0" err="1"/>
              <a:t>d.f</a:t>
            </a:r>
            <a:r>
              <a:rPr lang="en-US" dirty="0"/>
              <a:t>. is n not (n-2)</a:t>
            </a:r>
          </a:p>
          <a:p>
            <a:endParaRPr lang="en-US" dirty="0"/>
          </a:p>
          <a:p>
            <a:r>
              <a:rPr lang="en-US" dirty="0"/>
              <a:t>The REML corrects the </a:t>
            </a:r>
            <a:r>
              <a:rPr lang="en-US" dirty="0" err="1"/>
              <a:t>d.f</a:t>
            </a:r>
            <a:r>
              <a:rPr lang="en-US" dirty="0"/>
              <a:t>. (we will skip the mathematical details but see </a:t>
            </a:r>
          </a:p>
          <a:p>
            <a:r>
              <a:rPr lang="en-US" dirty="0"/>
              <a:t>Chapter 4 in </a:t>
            </a:r>
            <a:r>
              <a:rPr lang="en-US" dirty="0" err="1"/>
              <a:t>Galecki</a:t>
            </a:r>
            <a:r>
              <a:rPr lang="en-US" dirty="0"/>
              <a:t> or Chapter 5 in </a:t>
            </a:r>
            <a:r>
              <a:rPr lang="en-US" dirty="0" err="1"/>
              <a:t>Zuur</a:t>
            </a:r>
            <a:r>
              <a:rPr lang="en-US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216" y="76200"/>
            <a:ext cx="5786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simple linear models, the two methods largely converge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7467600" y="838200"/>
            <a:ext cx="381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91400" y="1371600"/>
            <a:ext cx="1522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Least-squares </a:t>
            </a:r>
          </a:p>
          <a:p>
            <a:r>
              <a:rPr lang="en-US" dirty="0"/>
              <a:t>matrix form</a:t>
            </a:r>
          </a:p>
        </p:txBody>
      </p:sp>
    </p:spTree>
    <p:extLst>
      <p:ext uri="{BB962C8B-B14F-4D97-AF65-F5344CB8AC3E}">
        <p14:creationId xmlns:p14="http://schemas.microsoft.com/office/powerpoint/2010/main" val="177179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CA80F-9BBE-44B5-5107-35BE2A412DE3}"/>
              </a:ext>
            </a:extLst>
          </p:cNvPr>
          <p:cNvSpPr txBox="1"/>
          <p:nvPr/>
        </p:nvSpPr>
        <p:spPr>
          <a:xfrm>
            <a:off x="533400" y="762000"/>
            <a:ext cx="8032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Fitting linear models by Maximum Likelihood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independence assumption expressed via the variance-covariance matrix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Relaxing the independence assumption for hierarchical, grouped data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Mixed linear models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496CAA-9D1B-9531-28B0-C459D179D8F2}"/>
              </a:ext>
            </a:extLst>
          </p:cNvPr>
          <p:cNvCxnSpPr/>
          <p:nvPr/>
        </p:nvCxnSpPr>
        <p:spPr>
          <a:xfrm flipH="1">
            <a:off x="8458200" y="12192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1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533400"/>
            <a:ext cx="68484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3429000" y="2819400"/>
            <a:ext cx="6096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1800" y="4191000"/>
            <a:ext cx="5835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We can express this assumption of independence as a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variance-covariance matrix…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0" y="164068"/>
            <a:ext cx="772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standard linear model has assumptions of independence and equal variance</a:t>
            </a:r>
          </a:p>
        </p:txBody>
      </p:sp>
    </p:spTree>
    <p:extLst>
      <p:ext uri="{BB962C8B-B14F-4D97-AF65-F5344CB8AC3E}">
        <p14:creationId xmlns:p14="http://schemas.microsoft.com/office/powerpoint/2010/main" val="386551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0"/>
            <a:ext cx="25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a simple matrix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386477"/>
            <a:ext cx="162095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&lt;- c(3,2,4,1)</a:t>
            </a:r>
          </a:p>
          <a:p>
            <a:r>
              <a:rPr lang="en-US" dirty="0"/>
              <a:t>b &lt;- c(4,2,7,4)</a:t>
            </a:r>
          </a:p>
          <a:p>
            <a:r>
              <a:rPr lang="en-US" dirty="0"/>
              <a:t>M &lt;- </a:t>
            </a:r>
            <a:r>
              <a:rPr lang="en-US" dirty="0" err="1"/>
              <a:t>cbind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(a)</a:t>
            </a:r>
          </a:p>
          <a:p>
            <a:r>
              <a:rPr lang="en-US" dirty="0" err="1"/>
              <a:t>var</a:t>
            </a:r>
            <a:r>
              <a:rPr lang="en-US" dirty="0"/>
              <a:t>(b)</a:t>
            </a:r>
          </a:p>
          <a:p>
            <a:r>
              <a:rPr lang="en-US" dirty="0" err="1"/>
              <a:t>var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cov</a:t>
            </a:r>
            <a:r>
              <a:rPr lang="en-US" dirty="0"/>
              <a:t>(M)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04800"/>
            <a:ext cx="2447925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447800" y="3163669"/>
            <a:ext cx="4666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diagonals has the variance for each sample.</a:t>
            </a:r>
          </a:p>
          <a:p>
            <a:r>
              <a:rPr lang="en-US" dirty="0"/>
              <a:t>The off diagonals has the covariance</a:t>
            </a:r>
          </a:p>
        </p:txBody>
      </p:sp>
    </p:spTree>
    <p:extLst>
      <p:ext uri="{BB962C8B-B14F-4D97-AF65-F5344CB8AC3E}">
        <p14:creationId xmlns:p14="http://schemas.microsoft.com/office/powerpoint/2010/main" val="222240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81000"/>
            <a:ext cx="84105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276600"/>
            <a:ext cx="561022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28600" y="6260068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http://www.r-tutor.com/elementary-statistics/numerical-measures/covariance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2819400"/>
            <a:ext cx="3962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http://en.wikipedia.org/wiki/Covariance</a:t>
            </a:r>
          </a:p>
        </p:txBody>
      </p:sp>
    </p:spTree>
    <p:extLst>
      <p:ext uri="{BB962C8B-B14F-4D97-AF65-F5344CB8AC3E}">
        <p14:creationId xmlns:p14="http://schemas.microsoft.com/office/powerpoint/2010/main" val="1817532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228600"/>
            <a:ext cx="6310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two variables are independent the covariance approaches zero..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914400"/>
            <a:ext cx="255395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8101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7625"/>
            <a:ext cx="68484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09600" y="3352800"/>
            <a:ext cx="85685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express the assumption of independence of the residuals as an N * N </a:t>
            </a:r>
          </a:p>
          <a:p>
            <a:r>
              <a:rPr lang="en-US" dirty="0"/>
              <a:t>variance-covariance matrix with diagonal values of </a:t>
            </a:r>
            <a:r>
              <a:rPr lang="en-US" dirty="0">
                <a:sym typeface="Symbol"/>
              </a:rPr>
              <a:t></a:t>
            </a:r>
            <a:r>
              <a:rPr lang="en-US" dirty="0"/>
              <a:t> and off- diagonal  values of 0 where</a:t>
            </a:r>
          </a:p>
          <a:p>
            <a:r>
              <a:rPr lang="en-US" dirty="0"/>
              <a:t>N is the sample size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19600" y="4038600"/>
          <a:ext cx="3276600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sym typeface="Symbol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200" y="4272677"/>
            <a:ext cx="440146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we were to sample at each x location</a:t>
            </a:r>
          </a:p>
          <a:p>
            <a:r>
              <a:rPr lang="en-US" dirty="0">
                <a:solidFill>
                  <a:srgbClr val="FF0000"/>
                </a:solidFill>
              </a:rPr>
              <a:t>an infinite # of times, we would see a</a:t>
            </a:r>
          </a:p>
          <a:p>
            <a:r>
              <a:rPr lang="en-US" dirty="0">
                <a:solidFill>
                  <a:srgbClr val="FF0000"/>
                </a:solidFill>
              </a:rPr>
              <a:t>SD of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.  (from the assumption of constant</a:t>
            </a:r>
          </a:p>
          <a:p>
            <a:r>
              <a:rPr lang="en-US" dirty="0">
                <a:solidFill>
                  <a:srgbClr val="FF0000"/>
                </a:solidFill>
                <a:sym typeface="Symbol"/>
              </a:rPr>
              <a:t>variance across all x positions)</a:t>
            </a:r>
          </a:p>
          <a:p>
            <a:endParaRPr lang="en-US" dirty="0">
              <a:solidFill>
                <a:srgbClr val="FF0000"/>
              </a:solidFill>
              <a:sym typeface="Symbol"/>
            </a:endParaRPr>
          </a:p>
          <a:p>
            <a:r>
              <a:rPr lang="en-US" dirty="0">
                <a:solidFill>
                  <a:srgbClr val="FF0000"/>
                </a:solidFill>
                <a:sym typeface="Symbol"/>
              </a:rPr>
              <a:t>If we were to sample at 2 different x</a:t>
            </a:r>
          </a:p>
          <a:p>
            <a:r>
              <a:rPr lang="en-US" dirty="0">
                <a:solidFill>
                  <a:srgbClr val="FF0000"/>
                </a:solidFill>
                <a:sym typeface="Symbol"/>
              </a:rPr>
              <a:t>locations an infinite number of times, </a:t>
            </a:r>
          </a:p>
          <a:p>
            <a:r>
              <a:rPr lang="en-US" dirty="0">
                <a:solidFill>
                  <a:srgbClr val="FF0000"/>
                </a:solidFill>
                <a:sym typeface="Symbol"/>
              </a:rPr>
              <a:t>we would see a co-variance of </a:t>
            </a:r>
          </a:p>
          <a:p>
            <a:r>
              <a:rPr lang="en-US" dirty="0">
                <a:solidFill>
                  <a:srgbClr val="FF0000"/>
                </a:solidFill>
                <a:sym typeface="Symbol"/>
              </a:rPr>
              <a:t>Zero (from the assumption of independence)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590800" y="2286000"/>
            <a:ext cx="8382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52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8B4F97-9E4B-4BC3-B25C-ED0394DEA5FB}"/>
              </a:ext>
            </a:extLst>
          </p:cNvPr>
          <p:cNvSpPr txBox="1"/>
          <p:nvPr/>
        </p:nvSpPr>
        <p:spPr>
          <a:xfrm>
            <a:off x="152400" y="457200"/>
            <a:ext cx="3434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One more PCA Example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69E07C-A646-462C-8D3F-233459EA4287}"/>
              </a:ext>
            </a:extLst>
          </p:cNvPr>
          <p:cNvCxnSpPr>
            <a:cxnSpLocks/>
          </p:cNvCxnSpPr>
          <p:nvPr/>
        </p:nvCxnSpPr>
        <p:spPr>
          <a:xfrm flipH="1">
            <a:off x="7391400" y="15240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6C5EC5-9B8A-47DC-A3D2-3671392C0DDC}"/>
              </a:ext>
            </a:extLst>
          </p:cNvPr>
          <p:cNvSpPr txBox="1"/>
          <p:nvPr/>
        </p:nvSpPr>
        <p:spPr>
          <a:xfrm>
            <a:off x="152400" y="780871"/>
            <a:ext cx="8032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Fitting linear models by Maximum Likelihood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independence assumption expressed via the variance-covariance matrix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Relaxing the independence assumption for hierarchical, grouped data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Mixed linear models</a:t>
            </a:r>
          </a:p>
        </p:txBody>
      </p:sp>
    </p:spTree>
    <p:extLst>
      <p:ext uri="{BB962C8B-B14F-4D97-AF65-F5344CB8AC3E}">
        <p14:creationId xmlns:p14="http://schemas.microsoft.com/office/powerpoint/2010/main" val="794099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76200"/>
            <a:ext cx="7225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Our first example of thing that can go horribly wrong in linear models,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we here examine nested confounders…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68580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Consider hospitals in a clinical trial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Each hospital is assigned a drug 1 or a drug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We make a simulation where the null hypothesis with regards to drug is always true…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902135"/>
            <a:ext cx="4876800" cy="4803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3581400" y="3962400"/>
            <a:ext cx="838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0" y="3505200"/>
            <a:ext cx="3412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Each hospital has its own effect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419600" y="4419600"/>
            <a:ext cx="685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76800" y="4114800"/>
            <a:ext cx="4262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data are not dependent on the drug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6581001"/>
            <a:ext cx="9601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https://github.com/afodor/metagenomicsTools/blob/master/src/mixedModelSims/mixedSims.txt</a:t>
            </a:r>
          </a:p>
        </p:txBody>
      </p:sp>
    </p:spTree>
    <p:extLst>
      <p:ext uri="{BB962C8B-B14F-4D97-AF65-F5344CB8AC3E}">
        <p14:creationId xmlns:p14="http://schemas.microsoft.com/office/powerpoint/2010/main" val="423435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76200" y="152400"/>
            <a:ext cx="4994910" cy="5257800"/>
            <a:chOff x="76200" y="152400"/>
            <a:chExt cx="5791200" cy="6096000"/>
          </a:xfrm>
        </p:grpSpPr>
        <p:sp>
          <p:nvSpPr>
            <p:cNvPr id="4" name="Rectangle 3"/>
            <p:cNvSpPr/>
            <p:nvPr/>
          </p:nvSpPr>
          <p:spPr>
            <a:xfrm>
              <a:off x="1224722" y="152400"/>
              <a:ext cx="3161122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 err="1"/>
                <a:t>myT</a:t>
              </a:r>
              <a:r>
                <a:rPr lang="en-US" dirty="0"/>
                <a:t> &lt;- </a:t>
              </a:r>
              <a:r>
                <a:rPr lang="en-US" dirty="0" err="1"/>
                <a:t>getSimData</a:t>
              </a:r>
              <a:r>
                <a:rPr lang="en-US" dirty="0"/>
                <a:t>()</a:t>
              </a:r>
            </a:p>
            <a:p>
              <a:r>
                <a:rPr lang="en-US" dirty="0"/>
                <a:t>plot( </a:t>
              </a:r>
              <a:r>
                <a:rPr lang="en-US" dirty="0" err="1"/>
                <a:t>myT$data</a:t>
              </a:r>
              <a:r>
                <a:rPr lang="en-US" dirty="0"/>
                <a:t> ~ </a:t>
              </a:r>
              <a:r>
                <a:rPr lang="en-US" dirty="0" err="1"/>
                <a:t>myT$hospital</a:t>
              </a:r>
              <a:r>
                <a:rPr lang="en-US" dirty="0"/>
                <a:t>)</a:t>
              </a:r>
            </a:p>
            <a:p>
              <a:endParaRPr lang="en-US" dirty="0"/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200" y="304800"/>
              <a:ext cx="5791200" cy="5782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TextBox 5"/>
            <p:cNvSpPr txBox="1"/>
            <p:nvPr/>
          </p:nvSpPr>
          <p:spPr>
            <a:xfrm>
              <a:off x="838200" y="5638800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Drug 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30165" y="5638800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Drug 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96548" y="5879068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Drug 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01765" y="5802868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Drug 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39965" y="5791200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Drug 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01965" y="5791200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Drug 2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562600" y="228600"/>
            <a:ext cx="2848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plot( </a:t>
            </a:r>
            <a:r>
              <a:rPr lang="en-US" dirty="0" err="1"/>
              <a:t>myT$data</a:t>
            </a:r>
            <a:r>
              <a:rPr lang="en-US" dirty="0"/>
              <a:t> ~ </a:t>
            </a:r>
            <a:r>
              <a:rPr lang="en-US" dirty="0" err="1"/>
              <a:t>myT$drug</a:t>
            </a:r>
            <a:r>
              <a:rPr lang="en-US" dirty="0"/>
              <a:t>)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0138" y="228600"/>
            <a:ext cx="4005262" cy="3518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Straight Connector 17"/>
          <p:cNvCxnSpPr/>
          <p:nvPr/>
        </p:nvCxnSpPr>
        <p:spPr>
          <a:xfrm>
            <a:off x="4876800" y="152400"/>
            <a:ext cx="0" cy="563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5867400"/>
            <a:ext cx="8365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looks like there is a difference between Drug 1 and Drug 2, but this is</a:t>
            </a:r>
          </a:p>
          <a:p>
            <a:r>
              <a:rPr lang="en-US" dirty="0"/>
              <a:t>because there are differences between hospitals (and only 6 hospitals in our simulation)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05200"/>
            <a:ext cx="697103" cy="318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0097" y="3581400"/>
            <a:ext cx="697103" cy="318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2</a:t>
            </a:r>
          </a:p>
        </p:txBody>
      </p:sp>
    </p:spTree>
    <p:extLst>
      <p:ext uri="{BB962C8B-B14F-4D97-AF65-F5344CB8AC3E}">
        <p14:creationId xmlns:p14="http://schemas.microsoft.com/office/powerpoint/2010/main" val="1265438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76200"/>
            <a:ext cx="7976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Because drug and hospital co-vary (there is a combination of hospitals that has the </a:t>
            </a:r>
          </a:p>
          <a:p>
            <a:r>
              <a:rPr lang="en-US" dirty="0"/>
              <a:t>same information as drug) a standard linear model is numerically unstable and the </a:t>
            </a:r>
          </a:p>
          <a:p>
            <a:r>
              <a:rPr lang="en-US" dirty="0"/>
              <a:t>results are unreliable…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43000"/>
            <a:ext cx="76295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3352800" y="22098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000" y="1752600"/>
            <a:ext cx="4962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“standard” linear model, but drug and hospital</a:t>
            </a:r>
          </a:p>
          <a:p>
            <a:r>
              <a:rPr lang="en-US" dirty="0"/>
              <a:t>are not linearly independent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6400" y="6248400"/>
            <a:ext cx="9601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https://github.com/afodor/metagenomicsTools/blob/master/src/mixedModelSims/mixedSims.txt</a:t>
            </a:r>
          </a:p>
        </p:txBody>
      </p:sp>
    </p:spTree>
    <p:extLst>
      <p:ext uri="{BB962C8B-B14F-4D97-AF65-F5344CB8AC3E}">
        <p14:creationId xmlns:p14="http://schemas.microsoft.com/office/powerpoint/2010/main" val="2829383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3450" y="228600"/>
            <a:ext cx="2114550" cy="627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6200" y="533400"/>
            <a:ext cx="470987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linear model reports significant results</a:t>
            </a:r>
          </a:p>
          <a:p>
            <a:r>
              <a:rPr lang="en-US" dirty="0"/>
              <a:t>for drug!!  </a:t>
            </a:r>
          </a:p>
          <a:p>
            <a:endParaRPr lang="en-US" dirty="0"/>
          </a:p>
          <a:p>
            <a:r>
              <a:rPr lang="en-US" dirty="0"/>
              <a:t>Even thought the null hypothesis is always</a:t>
            </a:r>
          </a:p>
          <a:p>
            <a:r>
              <a:rPr lang="en-US" dirty="0"/>
              <a:t>true!</a:t>
            </a:r>
          </a:p>
          <a:p>
            <a:endParaRPr lang="en-US" dirty="0"/>
          </a:p>
          <a:p>
            <a:r>
              <a:rPr lang="en-US" dirty="0"/>
              <a:t>Complete disaster!</a:t>
            </a:r>
          </a:p>
          <a:p>
            <a:endParaRPr lang="en-US" dirty="0"/>
          </a:p>
          <a:p>
            <a:r>
              <a:rPr lang="en-US" dirty="0"/>
              <a:t>We need a better way to tell our linear model</a:t>
            </a:r>
          </a:p>
          <a:p>
            <a:r>
              <a:rPr lang="en-US" dirty="0"/>
              <a:t>the lack of independence between our samples!</a:t>
            </a:r>
          </a:p>
        </p:txBody>
      </p:sp>
    </p:spTree>
    <p:extLst>
      <p:ext uri="{BB962C8B-B14F-4D97-AF65-F5344CB8AC3E}">
        <p14:creationId xmlns:p14="http://schemas.microsoft.com/office/powerpoint/2010/main" val="269410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228600"/>
            <a:ext cx="7681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follow Chapter 5 (section 5.5) in </a:t>
            </a:r>
            <a:r>
              <a:rPr lang="en-US" dirty="0" err="1"/>
              <a:t>Zuur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We want our variance-covariance matrix (within each hospital) to look like this…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143000"/>
            <a:ext cx="56102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66800" y="3581400"/>
            <a:ext cx="4143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data within two hospitals X and 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86000" y="4191000"/>
            <a:ext cx="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286000" y="55626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31611" y="411480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19200" y="443126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286000" y="5029200"/>
            <a:ext cx="320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50382" y="4812268"/>
            <a:ext cx="2631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estimate for a drug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276600" y="44196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76600" y="4507468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38800"/>
            <a:ext cx="79095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covariance between different </a:t>
            </a:r>
            <a:r>
              <a:rPr lang="en-US" dirty="0" err="1"/>
              <a:t>datapoints</a:t>
            </a:r>
            <a:r>
              <a:rPr lang="en-US" dirty="0"/>
              <a:t> within a hospital is not 0; </a:t>
            </a:r>
          </a:p>
          <a:p>
            <a:r>
              <a:rPr lang="en-US" dirty="0"/>
              <a:t>If you know the error for one </a:t>
            </a:r>
            <a:r>
              <a:rPr lang="en-US" dirty="0" err="1"/>
              <a:t>datapoint</a:t>
            </a:r>
            <a:r>
              <a:rPr lang="en-US" dirty="0"/>
              <a:t> within a hospital, depending on the </a:t>
            </a:r>
          </a:p>
          <a:p>
            <a:r>
              <a:rPr lang="en-US" dirty="0"/>
              <a:t>size of parameter </a:t>
            </a:r>
            <a:r>
              <a:rPr lang="en-US" dirty="0">
                <a:sym typeface="Symbol"/>
              </a:rPr>
              <a:t>, you know something about the other measurements as well..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399987" y="4431268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4953000" y="47244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53000" y="4736068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2037859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76200"/>
            <a:ext cx="7269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we add a parameter to our model to allow the error within each hospital</a:t>
            </a:r>
          </a:p>
          <a:p>
            <a:r>
              <a:rPr lang="en-US" dirty="0"/>
              <a:t>to be correlated (errors across hospitals is still zero…)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152" y="914400"/>
            <a:ext cx="8981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our variance-covariance matrix for each hospital goes from something that looks like this….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7848" y="3440668"/>
            <a:ext cx="3403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something that looks </a:t>
            </a:r>
            <a:r>
              <a:rPr lang="en-US"/>
              <a:t>like this….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962400"/>
            <a:ext cx="56102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0" y="1377657"/>
          <a:ext cx="2321500" cy="2127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39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3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03"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3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03"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3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503"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</a:t>
                      </a: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3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sz="1300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 marL="64786" marR="64786" marT="32393" marB="3239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5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</a:t>
                      </a:r>
                    </a:p>
                    <a:p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</a:t>
                      </a:r>
                    </a:p>
                    <a:p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</a:t>
                      </a:r>
                    </a:p>
                    <a:p>
                      <a:endParaRPr lang="en-US" sz="1300" dirty="0"/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 marL="64786" marR="64786" marT="32393" marB="32393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sym typeface="Symbol"/>
                        </a:rPr>
                        <a:t></a:t>
                      </a:r>
                      <a:r>
                        <a:rPr lang="en-US" sz="1300" baseline="30000" dirty="0">
                          <a:solidFill>
                            <a:schemeClr val="tx1"/>
                          </a:solidFill>
                          <a:sym typeface="Symbol"/>
                        </a:rPr>
                        <a:t>2</a:t>
                      </a:r>
                      <a:endParaRPr lang="en-US" sz="1300" dirty="0">
                        <a:solidFill>
                          <a:schemeClr val="tx1"/>
                        </a:solidFill>
                        <a:sym typeface="Symbol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 marL="64786" marR="64786" marT="32393" marB="3239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248400"/>
            <a:ext cx="8409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(the full covariance-variance matrix across all hospitals will have 0’s for any two samples</a:t>
            </a:r>
          </a:p>
          <a:p>
            <a:r>
              <a:rPr lang="en-US" dirty="0"/>
              <a:t>from different hospitals)</a:t>
            </a:r>
          </a:p>
        </p:txBody>
      </p:sp>
    </p:spTree>
    <p:extLst>
      <p:ext uri="{BB962C8B-B14F-4D97-AF65-F5344CB8AC3E}">
        <p14:creationId xmlns:p14="http://schemas.microsoft.com/office/powerpoint/2010/main" val="38741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914400"/>
            <a:ext cx="76972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we switch to this new variance-covariance matrix, </a:t>
            </a:r>
          </a:p>
          <a:p>
            <a:r>
              <a:rPr lang="en-US" dirty="0"/>
              <a:t>the least likelihood equation we want to maximize goes from something like this</a:t>
            </a:r>
          </a:p>
          <a:p>
            <a:r>
              <a:rPr lang="en-US" dirty="0"/>
              <a:t>(for a standard linear model):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828800"/>
            <a:ext cx="55340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295400" y="2831068"/>
            <a:ext cx="4690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something like this (for a mixed linear model)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276600"/>
            <a:ext cx="53911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5105400" y="3886200"/>
            <a:ext cx="20574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" y="4992469"/>
            <a:ext cx="8243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allows us to express the possibility of correlated measures within hospitals</a:t>
            </a:r>
          </a:p>
          <a:p>
            <a:r>
              <a:rPr lang="en-US" dirty="0"/>
              <a:t>(without actually having to explicitly estimate the mean response from each hospital!)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5800"/>
            <a:ext cx="747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V is the full variance-covariance matrix of the residuals for all the data..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0" y="228600"/>
            <a:ext cx="258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state </a:t>
            </a:r>
            <a:r>
              <a:rPr lang="en-US"/>
              <a:t>without proof….</a:t>
            </a:r>
          </a:p>
        </p:txBody>
      </p:sp>
    </p:spTree>
    <p:extLst>
      <p:ext uri="{BB962C8B-B14F-4D97-AF65-F5344CB8AC3E}">
        <p14:creationId xmlns:p14="http://schemas.microsoft.com/office/powerpoint/2010/main" val="2842789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76200"/>
            <a:ext cx="78285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is a simple syntax that allows us to tell R that we want a different</a:t>
            </a:r>
          </a:p>
          <a:p>
            <a:r>
              <a:rPr lang="en-US" dirty="0"/>
              <a:t>Covariance-variance matrix (see chapter 10 of </a:t>
            </a:r>
            <a:r>
              <a:rPr lang="en-US" dirty="0" err="1"/>
              <a:t>Galecki</a:t>
            </a:r>
            <a:r>
              <a:rPr lang="en-US" dirty="0"/>
              <a:t> for much more information</a:t>
            </a:r>
          </a:p>
          <a:p>
            <a:r>
              <a:rPr lang="en-US" dirty="0"/>
              <a:t>on different covariance-matrices that you can specify!) 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143000"/>
            <a:ext cx="76295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362200" y="6248400"/>
            <a:ext cx="9601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https://github.com/afodor/metagenomicsTools/blob/master/src/mixedModelSims/mixedSims.txt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7391400" y="3124200"/>
            <a:ext cx="457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24600" y="3886200"/>
            <a:ext cx="28376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express this in R </a:t>
            </a:r>
          </a:p>
          <a:p>
            <a:r>
              <a:rPr lang="en-US" dirty="0"/>
              <a:t>using the </a:t>
            </a:r>
            <a:r>
              <a:rPr lang="en-US" dirty="0" err="1"/>
              <a:t>gls</a:t>
            </a:r>
            <a:r>
              <a:rPr lang="en-US" dirty="0"/>
              <a:t> function in the </a:t>
            </a:r>
          </a:p>
          <a:p>
            <a:r>
              <a:rPr lang="en-US" dirty="0" err="1"/>
              <a:t>nlme</a:t>
            </a:r>
            <a:r>
              <a:rPr lang="en-US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68513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04800"/>
            <a:ext cx="6381750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4495800" y="381000"/>
            <a:ext cx="7620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90800" y="39469"/>
            <a:ext cx="610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model gets us a lot closer to the correct null P-values!</a:t>
            </a:r>
          </a:p>
        </p:txBody>
      </p:sp>
    </p:spTree>
    <p:extLst>
      <p:ext uri="{BB962C8B-B14F-4D97-AF65-F5344CB8AC3E}">
        <p14:creationId xmlns:p14="http://schemas.microsoft.com/office/powerpoint/2010/main" val="530476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4969B-1053-EAFD-1AC4-8276AF31ED8A}"/>
              </a:ext>
            </a:extLst>
          </p:cNvPr>
          <p:cNvSpPr txBox="1"/>
          <p:nvPr/>
        </p:nvSpPr>
        <p:spPr>
          <a:xfrm>
            <a:off x="533400" y="762000"/>
            <a:ext cx="8032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Fitting linear models by Maximum Likelihood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independence assumption expressed via the variance-covariance matrix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Relaxing the independence assumption for hierarchical, grouped data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Mixed linear models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D8F5239-31DA-3E7A-F809-09E42948A1F9}"/>
              </a:ext>
            </a:extLst>
          </p:cNvPr>
          <p:cNvCxnSpPr/>
          <p:nvPr/>
        </p:nvCxnSpPr>
        <p:spPr>
          <a:xfrm flipH="1">
            <a:off x="2743200" y="17526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936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76200"/>
            <a:ext cx="8418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alternative (surprisingly, equivalent!) formulation of our nested experimental design.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85100" y="1457325"/>
            <a:ext cx="34698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/>
                <a:cs typeface="Arial"/>
              </a:rPr>
              <a:t>Y =    drug   +  (hospital) + error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416425" y="1828800"/>
            <a:ext cx="0" cy="900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3505200" y="2854325"/>
            <a:ext cx="1822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latin typeface="Arial"/>
                <a:cs typeface="Arial"/>
              </a:rPr>
              <a:t>Random Effects</a:t>
            </a:r>
          </a:p>
        </p:txBody>
      </p:sp>
      <p:sp>
        <p:nvSpPr>
          <p:cNvPr id="6" name="Left Brace 5"/>
          <p:cNvSpPr/>
          <p:nvPr/>
        </p:nvSpPr>
        <p:spPr>
          <a:xfrm rot="16200000">
            <a:off x="3020370" y="1700855"/>
            <a:ext cx="384174" cy="6337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2514600" y="2286000"/>
            <a:ext cx="1514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latin typeface="Arial"/>
                <a:cs typeface="Arial"/>
              </a:rPr>
              <a:t>Fixed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05200"/>
            <a:ext cx="626549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rial"/>
                <a:ea typeface="+mn-ea"/>
                <a:cs typeface="Arial"/>
              </a:rPr>
              <a:t>Assumptions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latin typeface="Arial"/>
                <a:ea typeface="+mn-ea"/>
                <a:cs typeface="Arial"/>
              </a:rPr>
              <a:t>Random effects are </a:t>
            </a:r>
            <a:r>
              <a:rPr lang="en-US" dirty="0" err="1">
                <a:latin typeface="Arial"/>
                <a:ea typeface="+mn-ea"/>
                <a:cs typeface="Arial"/>
              </a:rPr>
              <a:t>i.i.d</a:t>
            </a:r>
            <a:r>
              <a:rPr lang="en-US" dirty="0">
                <a:latin typeface="Arial"/>
                <a:ea typeface="+mn-ea"/>
                <a:cs typeface="Arial"/>
              </a:rPr>
              <a:t>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latin typeface="Arial"/>
                <a:ea typeface="+mn-ea"/>
                <a:cs typeface="Arial"/>
              </a:rPr>
              <a:t>Variance in groups are equal (homoscedasticity)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latin typeface="Arial"/>
                <a:ea typeface="+mn-ea"/>
                <a:cs typeface="Arial"/>
              </a:rPr>
              <a:t>Hospital effects are normally distributed with a mean of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029200"/>
            <a:ext cx="82626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effect, each hospital adds some value to the fixed effects and this </a:t>
            </a:r>
          </a:p>
          <a:p>
            <a:r>
              <a:rPr lang="en-US" dirty="0"/>
              <a:t>value is normally distributed with a mean of 0…</a:t>
            </a:r>
          </a:p>
          <a:p>
            <a:endParaRPr lang="en-US" dirty="0"/>
          </a:p>
          <a:p>
            <a:r>
              <a:rPr lang="en-US" dirty="0"/>
              <a:t>The fixed effect part is just a standard linear model (like we’ve seen the last few weeks)</a:t>
            </a:r>
          </a:p>
        </p:txBody>
      </p:sp>
    </p:spTree>
    <p:extLst>
      <p:ext uri="{BB962C8B-B14F-4D97-AF65-F5344CB8AC3E}">
        <p14:creationId xmlns:p14="http://schemas.microsoft.com/office/powerpoint/2010/main" val="1567547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143000"/>
            <a:ext cx="76295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362200" y="6248400"/>
            <a:ext cx="9601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https://github.com/afodor/metagenomicsTools/blob/master/src/mixedModelSims/mixedSims.txt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5334000" y="3505200"/>
            <a:ext cx="457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62600" y="4038600"/>
            <a:ext cx="29386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express this in R </a:t>
            </a:r>
          </a:p>
          <a:p>
            <a:r>
              <a:rPr lang="en-US" dirty="0"/>
              <a:t>using the </a:t>
            </a:r>
            <a:r>
              <a:rPr lang="en-US" dirty="0" err="1"/>
              <a:t>lme</a:t>
            </a:r>
            <a:r>
              <a:rPr lang="en-US" dirty="0"/>
              <a:t> function in the </a:t>
            </a:r>
          </a:p>
          <a:p>
            <a:r>
              <a:rPr lang="en-US" dirty="0" err="1"/>
              <a:t>nlme</a:t>
            </a:r>
            <a:r>
              <a:rPr lang="en-US" dirty="0"/>
              <a:t> package</a:t>
            </a:r>
          </a:p>
          <a:p>
            <a:r>
              <a:rPr lang="en-US" dirty="0"/>
              <a:t>(see chapter 5 in </a:t>
            </a:r>
            <a:r>
              <a:rPr lang="en-US" dirty="0" err="1"/>
              <a:t>Zuur</a:t>
            </a:r>
            <a:r>
              <a:rPr lang="en-US" dirty="0"/>
              <a:t> and </a:t>
            </a:r>
          </a:p>
          <a:p>
            <a:r>
              <a:rPr lang="en-US" dirty="0"/>
              <a:t>Chapter 13 in </a:t>
            </a:r>
            <a:r>
              <a:rPr lang="en-US" dirty="0" err="1"/>
              <a:t>Galecki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0966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152400"/>
            <a:ext cx="63460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gls</a:t>
            </a:r>
            <a:r>
              <a:rPr lang="en-US" dirty="0"/>
              <a:t> and mixed models are mathematically essentially identical</a:t>
            </a:r>
          </a:p>
          <a:p>
            <a:r>
              <a:rPr lang="en-US" dirty="0"/>
              <a:t>(see Chapter 5 (section 5.5) in </a:t>
            </a:r>
            <a:r>
              <a:rPr lang="en-US" dirty="0" err="1"/>
              <a:t>Zuur</a:t>
            </a:r>
            <a:r>
              <a:rPr lang="en-US" dirty="0"/>
              <a:t> for more details)</a:t>
            </a:r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48200" y="914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" y="5715000"/>
            <a:ext cx="9121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models have the same likelihoods, F and T values but disagree on the degrees of freedom…</a:t>
            </a:r>
          </a:p>
          <a:p>
            <a:r>
              <a:rPr lang="en-US" dirty="0"/>
              <a:t>(and hence disagree on the p-values)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815" y="990601"/>
            <a:ext cx="451338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066800"/>
            <a:ext cx="4619756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3830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04800"/>
            <a:ext cx="6381750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7239000" y="1905000"/>
            <a:ext cx="8382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The degrees of freedom from the mixed linear model seem to get us closer to a uniform distribution…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7814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057400" y="990600"/>
            <a:ext cx="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057400" y="23622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3011" y="91440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0600" y="123086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057400" y="1828800"/>
            <a:ext cx="320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21782" y="1611868"/>
            <a:ext cx="2631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estimate for a drug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048000" y="12192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48000" y="1307068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1387" y="1230868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724400" y="15240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24400" y="1535668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2667000"/>
            <a:ext cx="4658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Degrees of freedom is tricky;</a:t>
            </a:r>
          </a:p>
          <a:p>
            <a:r>
              <a:rPr lang="en-US" dirty="0"/>
              <a:t>are there 10 independent </a:t>
            </a:r>
            <a:r>
              <a:rPr lang="en-US" dirty="0" err="1"/>
              <a:t>datapoints</a:t>
            </a:r>
            <a:r>
              <a:rPr lang="en-US" dirty="0"/>
              <a:t> here or 2?</a:t>
            </a:r>
          </a:p>
        </p:txBody>
      </p:sp>
    </p:spTree>
    <p:extLst>
      <p:ext uri="{BB962C8B-B14F-4D97-AF65-F5344CB8AC3E}">
        <p14:creationId xmlns:p14="http://schemas.microsoft.com/office/powerpoint/2010/main" val="1509958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815" y="990601"/>
            <a:ext cx="451338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066800"/>
            <a:ext cx="4619756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>
            <a:off x="4648200" y="914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914400" y="2590800"/>
            <a:ext cx="4572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629400" y="19050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52800" y="533400"/>
            <a:ext cx="2738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/>
              </a:rPr>
              <a:t> In our co-variance matrix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43400" y="838200"/>
            <a:ext cx="11430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24600" y="1600200"/>
            <a:ext cx="2719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 In our co-variance matrix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378724" y="2438400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/>
              </a:rPr>
              <a:t></a:t>
            </a:r>
            <a:r>
              <a:rPr lang="en-US" baseline="30000" dirty="0">
                <a:sym typeface="Symbol"/>
              </a:rPr>
              <a:t>2</a:t>
            </a:r>
            <a:r>
              <a:rPr lang="en-US" dirty="0">
                <a:sym typeface="Symbol"/>
              </a:rPr>
              <a:t>/(</a:t>
            </a:r>
            <a:r>
              <a:rPr lang="en-US" baseline="30000" dirty="0">
                <a:sym typeface="Symbol"/>
              </a:rPr>
              <a:t>2</a:t>
            </a:r>
            <a:r>
              <a:rPr lang="en-US" dirty="0">
                <a:sym typeface="Symbol"/>
              </a:rPr>
              <a:t> + </a:t>
            </a:r>
            <a:r>
              <a:rPr lang="en-US" baseline="30000" dirty="0">
                <a:sym typeface="Symbol"/>
              </a:rPr>
              <a:t> 2</a:t>
            </a:r>
            <a:r>
              <a:rPr lang="en-US" dirty="0">
                <a:sym typeface="Symbol"/>
              </a:rPr>
              <a:t>)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990600" y="5715000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Rho can be thought of as a Pearson co-efficient describing the strength of</a:t>
            </a:r>
          </a:p>
          <a:p>
            <a:r>
              <a:rPr lang="en-US" dirty="0"/>
              <a:t>correlations within each group.  As it approaches 0, the hospital effect disappears.  As it approaches 1, all data within each hospital is more perfectly correlated.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0"/>
            <a:ext cx="7622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 useful metric (related to the degrees of freedom) is what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Zuur</a:t>
            </a:r>
            <a:r>
              <a:rPr lang="en-US" dirty="0">
                <a:latin typeface="Arial" pitchFamily="34" charset="0"/>
                <a:cs typeface="Arial" pitchFamily="34" charset="0"/>
              </a:rPr>
              <a:t> calls the </a:t>
            </a:r>
          </a:p>
          <a:p>
            <a:r>
              <a:rPr lang="en-US" dirty="0" err="1">
                <a:latin typeface="Arial" pitchFamily="34" charset="0"/>
                <a:cs typeface="Arial" pitchFamily="34" charset="0"/>
              </a:rPr>
              <a:t>intraclass</a:t>
            </a:r>
            <a:r>
              <a:rPr lang="en-US" dirty="0">
                <a:latin typeface="Arial" pitchFamily="34" charset="0"/>
                <a:cs typeface="Arial" pitchFamily="34" charset="0"/>
              </a:rPr>
              <a:t> correlation coefficient (what R is calling rho in the M.gls model)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32621-067D-40F7-A354-78FB73A7F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934112"/>
            <a:ext cx="3831652" cy="64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11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152400"/>
            <a:ext cx="8133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Zuur</a:t>
            </a:r>
            <a:r>
              <a:rPr lang="en-US" dirty="0"/>
              <a:t> text argues that at this values goes towards 1, the effective sample size goes</a:t>
            </a:r>
          </a:p>
          <a:p>
            <a:r>
              <a:rPr lang="en-US" dirty="0"/>
              <a:t>towards the number of hospitals (not the number of patients…)</a:t>
            </a:r>
          </a:p>
          <a:p>
            <a:r>
              <a:rPr lang="en-US" dirty="0"/>
              <a:t>(</a:t>
            </a:r>
            <a:r>
              <a:rPr lang="en-US" dirty="0" err="1"/>
              <a:t>Zuur</a:t>
            </a:r>
            <a:r>
              <a:rPr lang="en-US" dirty="0"/>
              <a:t> section 5.4.1)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3525" y="1185863"/>
            <a:ext cx="607695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19890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76200"/>
            <a:ext cx="5516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Changing our model </a:t>
            </a:r>
            <a:r>
              <a:rPr lang="en-US"/>
              <a:t>parameters obviously changes rho…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533400"/>
            <a:ext cx="4591050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4114800" y="27432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19600" y="2362200"/>
            <a:ext cx="4570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make the hospital effect much bigger than </a:t>
            </a:r>
          </a:p>
          <a:p>
            <a:r>
              <a:rPr lang="en-US" dirty="0"/>
              <a:t>the variance associated with the drug effect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181600" y="3124200"/>
            <a:ext cx="304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655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542925"/>
            <a:ext cx="6400800" cy="639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743200" y="688975"/>
            <a:ext cx="3161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plot( </a:t>
            </a:r>
            <a:r>
              <a:rPr lang="en-US" dirty="0" err="1"/>
              <a:t>myT$data</a:t>
            </a:r>
            <a:r>
              <a:rPr lang="en-US" dirty="0"/>
              <a:t> ~ </a:t>
            </a:r>
            <a:r>
              <a:rPr lang="en-US" dirty="0" err="1"/>
              <a:t>myT$hospital</a:t>
            </a:r>
            <a:r>
              <a:rPr lang="en-US" dirty="0"/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76200"/>
            <a:ext cx="363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the hospital </a:t>
            </a:r>
            <a:r>
              <a:rPr lang="en-US"/>
              <a:t>effect dominates….</a:t>
            </a:r>
          </a:p>
        </p:txBody>
      </p:sp>
    </p:spTree>
    <p:extLst>
      <p:ext uri="{BB962C8B-B14F-4D97-AF65-F5344CB8AC3E}">
        <p14:creationId xmlns:p14="http://schemas.microsoft.com/office/powerpoint/2010/main" val="2302217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0"/>
            <a:ext cx="5556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rho = 0.996 because the hospital </a:t>
            </a:r>
            <a:r>
              <a:rPr lang="en-US"/>
              <a:t>effect dominates…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609600"/>
            <a:ext cx="5238750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>
            <a:off x="4648200" y="3810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990600" y="2362200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9993" y="685800"/>
            <a:ext cx="4454007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6558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90525"/>
            <a:ext cx="6400800" cy="639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76200"/>
            <a:ext cx="910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see pretty similar inference results… (although our fixed model starts to behave very badly!)</a:t>
            </a:r>
          </a:p>
        </p:txBody>
      </p:sp>
    </p:spTree>
    <p:extLst>
      <p:ext uri="{BB962C8B-B14F-4D97-AF65-F5344CB8AC3E}">
        <p14:creationId xmlns:p14="http://schemas.microsoft.com/office/powerpoint/2010/main" val="3009030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04800"/>
            <a:ext cx="5421047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4495800" y="2895600"/>
            <a:ext cx="6858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57800" y="2667000"/>
            <a:ext cx="3355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make the hospital effect small</a:t>
            </a:r>
          </a:p>
          <a:p>
            <a:r>
              <a:rPr lang="en-US" dirty="0"/>
              <a:t>compared to the drug effect…</a:t>
            </a:r>
          </a:p>
        </p:txBody>
      </p:sp>
    </p:spTree>
    <p:extLst>
      <p:ext uri="{BB962C8B-B14F-4D97-AF65-F5344CB8AC3E}">
        <p14:creationId xmlns:p14="http://schemas.microsoft.com/office/powerpoint/2010/main" val="3402279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76200"/>
            <a:ext cx="6400800" cy="639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48000" y="76200"/>
            <a:ext cx="3161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plot(</a:t>
            </a:r>
            <a:r>
              <a:rPr lang="en-US" dirty="0" err="1"/>
              <a:t>myT$data</a:t>
            </a:r>
            <a:r>
              <a:rPr lang="en-US" dirty="0"/>
              <a:t> ~ </a:t>
            </a:r>
            <a:r>
              <a:rPr lang="en-US" dirty="0" err="1"/>
              <a:t>myT$hospital</a:t>
            </a:r>
            <a:r>
              <a:rPr lang="en-US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6324600"/>
            <a:ext cx="3392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rho will trend </a:t>
            </a:r>
            <a:r>
              <a:rPr lang="en-US"/>
              <a:t>towards zero…</a:t>
            </a:r>
          </a:p>
        </p:txBody>
      </p:sp>
    </p:spTree>
    <p:extLst>
      <p:ext uri="{BB962C8B-B14F-4D97-AF65-F5344CB8AC3E}">
        <p14:creationId xmlns:p14="http://schemas.microsoft.com/office/powerpoint/2010/main" val="2384718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7677150" cy="628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152400"/>
            <a:ext cx="9070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our mixed model gets conservative (not necessarily a bad thing, but not uniform anymore)</a:t>
            </a:r>
          </a:p>
        </p:txBody>
      </p:sp>
    </p:spTree>
    <p:extLst>
      <p:ext uri="{BB962C8B-B14F-4D97-AF65-F5344CB8AC3E}">
        <p14:creationId xmlns:p14="http://schemas.microsoft.com/office/powerpoint/2010/main" val="3054586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533400"/>
            <a:ext cx="62794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conclude:</a:t>
            </a:r>
          </a:p>
          <a:p>
            <a:endParaRPr lang="en-US" dirty="0"/>
          </a:p>
          <a:p>
            <a:r>
              <a:rPr lang="en-US" dirty="0"/>
              <a:t>	Mixed models are useful, but a bit fragile.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We should approach their p-values with some caution…</a:t>
            </a:r>
          </a:p>
        </p:txBody>
      </p:sp>
    </p:spTree>
    <p:extLst>
      <p:ext uri="{BB962C8B-B14F-4D97-AF65-F5344CB8AC3E}">
        <p14:creationId xmlns:p14="http://schemas.microsoft.com/office/powerpoint/2010/main" val="251131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1655</Words>
  <Application>Microsoft Office PowerPoint</Application>
  <PresentationFormat>On-screen Show (4:3)</PresentationFormat>
  <Paragraphs>245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Anthony Fodor</cp:lastModifiedBy>
  <cp:revision>116</cp:revision>
  <dcterms:created xsi:type="dcterms:W3CDTF">2006-08-16T00:00:00Z</dcterms:created>
  <dcterms:modified xsi:type="dcterms:W3CDTF">2026-04-20T21:58:57Z</dcterms:modified>
</cp:coreProperties>
</file>